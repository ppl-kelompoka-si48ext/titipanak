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28f000e-f088-270b-faaf-049e4967414f}">
          <p14:sldIdLst>
            <p14:sldId id="256"/>
          </p14:sldIdLst>
        </p14:section>
        <p14:section name="Latar Belakang" id="{d587291b-e9d6-97e0-c606-bfb7d4a942a7}">
          <p14:sldIdLst>
            <p14:sldId id="257"/>
            <p14:sldId id="258"/>
          </p14:sldIdLst>
        </p14:section>
        <p14:section name="Produk" id="{71fec861-aa8c-82f6-3df9-927473f3a325}">
          <p14:sldIdLst>
            <p14:sldId id="259"/>
            <p14:sldId id="260"/>
          </p14:sldIdLst>
        </p14:section>
        <p14:section name="Daftar PBI" id="{f128acdb-27db-1df4-a4c8-a6d8bf86a3f7}">
          <p14:sldIdLst>
            <p14:sldId id="261"/>
          </p14:sldIdLst>
        </p14:section>
        <p14:section name="PBI per PIC" id="{c204d021-771c-4e40-1d44-3738b7c5d6c2}">
          <p14:sldIdLst>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Lst>
        </p14:section>
        <p14:section name="Penutup" id="{c464a124-c2de-7685-68e4-9ebdebc8b994}">
          <p14:sldIdLst>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1B1B"/>
                </a:solidFill>
                <a:latin typeface="+mn-lt"/>
              </a:defRPr>
            </a:pPr>
            <a:r>
              <a:rPr sz="1600" b="0" i="0" u="none" strike="noStrike">
                <a:solidFill>
                  <a:srgbClr val="1B1B1B"/>
                </a:solidFill>
                <a:latin typeface="+mn-lt"/>
              </a:rPr>
              <a:t>Tingkat Partisipasi Angkatan Kerja (%)</a:t>
            </a:r>
          </a:p>
        </c:rich>
      </c:tx>
      <c:layout/>
      <c:overlay val="0"/>
    </c:title>
    <c:autoTitleDeleted val="0"/>
    <c:plotArea>
      <c:layout/>
      <c:barChart>
        <c:barDir val="col"/>
        <c:grouping val="clustered"/>
        <c:varyColors val="0"/>
        <c:ser>
          <c:idx val="0"/>
          <c:order val="0"/>
          <c:tx>
            <c:strRef>
              <c:f>Sheet1!$B$1</c:f>
              <c:strCache>
                <c:ptCount val="1"/>
                <c:pt idx="0">
                  <c:v>TPAK (%)</c:v>
                </c:pt>
              </c:strCache>
            </c:strRef>
          </c:tx>
          <c:spPr>
            <a:solidFill>
              <a:srgbClr val="FFD43B">
                <a:alpha val="100000"/>
              </a:srgbClr>
            </a:solidFill>
            <a:effectLst/>
          </c:spPr>
          <c:invertIfNegative val="0"/>
          <c:dLbls>
            <c:numFmt formatCode="0.00&quot;%&quot;" sourceLinked="0"/>
            <c:txPr>
              <a:bodyPr/>
              <a:lstStyle/>
              <a:p>
                <a:pPr>
                  <a:defRPr b="1" i="0" strike="noStrike" sz="1800" u="none">
                    <a:solidFill>
                      <a:srgbClr val="1B1B1B"/>
                    </a:solidFill>
                    <a:latin typeface="+mn-lt"/>
                  </a:defRPr>
                </a:pPr>
              </a:p>
            </c:txPr>
            <c:showLegendKey val="0"/>
            <c:showVal val="1"/>
            <c:showCatName val="0"/>
            <c:showSerName val="0"/>
            <c:showPercent val="0"/>
            <c:showBubbleSize val="0"/>
            <c:showLeaderLines val="0"/>
          </c:dLbls>
          <c:dPt>
            <c:idx val="0"/>
            <c:invertIfNegative val="0"/>
            <c:bubble3D val="0"/>
            <c:spPr>
              <a:solidFill>
                <a:srgbClr val="FFD43B"/>
              </a:solidFill>
              <a:effectLst/>
            </c:spPr>
          </c:dPt>
          <c:dPt>
            <c:idx val="1"/>
            <c:invertIfNegative val="0"/>
            <c:bubble3D val="0"/>
            <c:spPr>
              <a:solidFill>
                <a:srgbClr val="A8D4FF"/>
              </a:solidFill>
              <a:effectLst/>
            </c:spPr>
          </c:dPt>
          <c:cat>
            <c:multiLvlStrRef>
              <c:f>Sheet1!$A$2:$A$3</c:f>
              <c:multiLvlStrCache>
                <c:ptCount val="2"/>
                <c:lvl>
                  <c:pt idx="0">
                    <c:v>Perempuan</c:v>
                  </c:pt>
                  <c:pt idx="1">
                    <c:v>Laki-laki</c:v>
                  </c:pt>
                </c:lvl>
              </c:multiLvlStrCache>
            </c:multiLvlStrRef>
          </c:cat>
          <c:val>
            <c:numRef>
              <c:f>Sheet1!$B$2:$B$3</c:f>
              <c:numCache>
                <c:formatCode>General</c:formatCode>
                <c:ptCount val="2"/>
                <c:pt idx="0">
                  <c:v>56.42</c:v>
                </c:pt>
                <c:pt idx="1">
                  <c:v>84.66</c:v>
                </c:pt>
              </c:numCache>
            </c:numRef>
          </c:val>
        </c:ser>
        <c:dLbls>
          <c:numFmt formatCode="0.00&quot;%&quot;" sourceLinked="0"/>
          <c:txPr>
            <a:bodyPr/>
            <a:lstStyle/>
            <a:p>
              <a:pPr>
                <a:defRPr b="1" i="0" strike="noStrike" sz="1800" u="none">
                  <a:solidFill>
                    <a:srgbClr val="1B1B1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1B1B1B"/>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Halo, kami Kelompok A SI48EXT. Produk kami TitipAnak, sistem informasi manajemen daycare yang mendukung SDG 5 target 5.4. Di presentasi ini kami jelaskan gambaran produk dan daftar PBI, lalu setiap anggota menjelaskan PBI bagiannya masing-masing.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Daycare itu jawaban buat ibu bekerja. Tapi kalau pengelolaannya berantakan, orang tua jadi ragu. Data BPS Agustus 2024 menunjukkan TPAK perempuan 56,42% dan laki-laki 84,66%. Perlu dicatat, data ini tidak langsung berarti pengasuhan anak penyebab selisihnya. Penelitian Andrina (2022) menemukan banyak keluarga masih mengandalkan kakek-nenek untuk mengasuh anak, jadi layanan pengasuhan yang aman dan terjangkau memang dibutuhkan.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Ibaratnya buku penghubung kertas. Bisa hilang, bisa tertukar, dan orang tua tidak bisa buka kapan saja. Ada empat masalah inti: orang tua tidak bisa memantau anak, pencatatan masih manual lewat kertas dan chat, penjemputan hanya mengandalkan ingatan pengasuh, dan sistem dari penelitian sebelumnya masih terpisah-pisah.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tiga aktor. Admin mengelola akun, master data, verifikasi pendaftaran dan pembayaran, serta jadwal. Pengasuh mencatat check-in dan check-out, laporan harian, foto, insiden, dan penilaian bulanan. Orang tua mendaftar, mengisi data anak, membayar, dan memantau laporan. Semuanya masuk lewat satu halaman login, lalu sistem membaca role dan mengarahkan ke halaman yang sesuai. Halaman milik role lain tertutup, itu yang disebut RBAC.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Fungsi utama TitipAnak dikelompokkan jadi enam modul yang mengikuti alur kerja daycare dari awal sampai akhir: akun dan akses, master data, pendaftaran dan keuangan, pengaturan jadwal, operasional harian, lalu laporan berkala dan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PBI induk dipecah jadi beberapa PBI kecil, satu aksi satu PBI. Pengerjaan dibagi dua sprint. Sprint 1 berisi PBI-01 sampai PBI-13, total 70 sub-PBI: fondasi login dan akun, master data, pendaftaran, data anak, kesehatan, penjemput, serta tagihan dan pembayaran. Sprint 2 berisi PBI-14 sampai PBI-20, total 41 sub-PBI: jadwal, presensi, izin penjemputan, laporan harian, foto, insiden, penilaian bulanan, dan dashboard. Keseluruhan ada 20 PBI induk dan 111 sub-PBI. Contohnya PBI-10 Tagihan dan Pembayaran ada sembilan item, dari terbit tagihan sampai verifikasi lunas. Kolom PIC adalah penanggung jawab tiap PBI induk. Dashboard belum punya penanggung jawab di proposal, jadi ditulis 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PBI-01 Autentikasi dan RBAC: Fondasi sistem: satu halaman login, lalu sistem membaca role dan mengarahkan ke halaman yang sesuai. Halaman role lain tertutup, dan sesi berakhir otomatis jika lama tidak aktif.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PBI-02 Akun Pengguna: Akun login (email, password, role). Admin membuat akun pengasuh dan orang tua, orang tua juga bisa registrasi sendiri. Semua tabel lain menempel ke akun ini, jadi harus paling awal.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PBI-03 Profil Pengasuh: Biodata pengasuh (nama, nomor HP, alamat, tanggal bergabung) yang menempel ke akun pengasuh dan dikelola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PBI-04 Profil Orang Tua: Biodata orang tua termasuk kontak darurat. Bisa diisi sendiri saat registrasi atau dibuatkan Admin untuk orang tua yang datang langsung ke daycare.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PBI-05 Kelompok Usia: Master data kelompok usia (misalnya Batita, Balita, Prasekolah) yang menjadi acuan untuk data anak, jadwal shift, dan jadwal kegiatan.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PBI-06 Menu Makan: Daftar menu makan per tanggal. Admin mengelolanya, pengasuh membacanya sebagai acuan pemberian makan harian.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PBI-07 Pengumuman: Informasi resmi dari Admin, misalnya pembukaan pendaftaran atau libur operasional, yang dibaca langsung oleh pengasuh dan orang tua.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PBI-08 Paket Layanan: Pilihan paket penitipan beserta deskripsi dan tarifnya. Admin mengelola, orang tua hanya melihat saat mendaftar. Paket ini dirujuk oleh pendaftaran dan tagihan.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PBI-09 Penjemput Terdaftar: Daftar orang yang berhak menjemput anak. Diisi orang tua, bisa diedit kapan saja, dan dipakai pengasuh untuk validasi keamanan saat check-out.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PBI-10 Tagihan dan Pembayaran: Admin menerbitkan tagihan dari pendaftaran yang disetujui. Orang tua mengunggah bukti bayar, Admin memverifikasi, lalu status tagihan otomatis menjadi Lunas.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PBI-11 Alur Pendaftaran dan Verifikasi: Pendaftaran bergerak dari Draft, Menunggu Verifikasi, lalu Disetujui oleh Admin yang sekaligus menetapkan kelompok usia anak sehingga anak berstatus aktif.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PBI-12 Data Anak: Identitas anak (nama, tanggal lahir, jenis kelamin) yang menempel ke pendaftaran. Kelompok usia dibiarkan kosong dulu dan diisi Admin saat pendaftaran disetujui.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PBI-13 Catatan Kesehatan: Riwayat medis, alergi, dan pantangan anak. Diisi orang tua sebagai syarat kelengkapan pendaftaran, tetap bisa diperbarui, dan dibaca pengasuh sebagai panduan perawatan.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PBI-14 Jadwal Shift Pengasuh: Admin memetakan pengasuh ke kelompok usia, sehingga pengasuh tahu anak mana saja yang menjadi tanggung jawabnya pada hari itu.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PBI-15 Jadwal Kegiatan: Rutinitas harian per kelompok usia (sarapan, bermain, tidur siang) yang dibaca pengasuh sebagai panduan menjalankan kegiatan.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PBI-16 Presensi (Check-in dan Check-out): Check-in adalah pintu masuk semua aktivitas harian. Saat check-out, pengasuh mencocokkan penjemput dengan Penjemput Terdaftar atau Izin Penjemputan yang sudah disetujui.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PBI-17 Izin Penjemputan Khusus: Jika anak dijemput orang di luar daftar, orang tua mengajukan izin (nama penjemput, foto KTP, alasan) dan pengasuh memvalidasinya saat penyerahan anak.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PBI-18 Laporan Harian, Dokumentasi, dan Insiden: Inti pemantauan orang tua: laporan harian (makan, tidur, BAB/BAK, aktivitas), foto kegiatan, dan laporan insiden yang bisa dilihat orang tua di hari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PBI-19 Perkembangan Anak (Penilaian Bulanan): Penilaian tumbuh kembang anak setiap bulan oleh pengasuh. Orang tua bisa melihatnya, Admin mengawasi dan bisa menghapus entri yang tidak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PBI-20 Dashboard per Role: Ringkasan data per role. Dikerjakan paling akhir karena isinya rekap dari hampir semua modul. Di proposal PBI ini belum punya penanggung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Kesimpulannya, TitipAnak adalah satu platform untuk tiga aktor yang dikerjakan dalam dua sprint. Harapannya orang tua lebih tenang, daycare lebih tertata, dan produk ini mendukung SDG 5 target 5.4. Terima kasih.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TitipAnak | Kelompok A SI48EXT | Tugas Besar PPL</a:t>
            </a:r>
            <a:endParaRPr lang="en-US" sz="1000" dirty="0"/>
          </a:p>
        </p:txBody>
      </p:sp>
      <p:sp>
        <p:nvSpPr>
          <p:cNvPr id="3" name="Text 1"/>
          <p:cNvSpPr/>
          <p:nvPr>
            <p:ph idx="101" type="title" hasCustomPrompt="1"/>
          </p:nvPr>
        </p:nvSpPr>
        <p:spPr>
          <a:xfrm>
            <a:off x="548640" y="320040"/>
            <a:ext cx="1106424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tx1"/>
          </a:solidFill>
          <a:ln/>
        </p:spPr>
      </p:sp>
      <p:sp>
        <p:nvSpPr>
          <p:cNvPr id="3" name="Text 1"/>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bg2"/>
                </a:solidFill>
              </a:rPr>
              <a:t>TitipAnak | Kelompok A SI48EXT | Tugas Besar PPL</a:t>
            </a:r>
            <a:endParaRPr lang="en-US" sz="1000" dirty="0"/>
          </a:p>
        </p:txBody>
      </p:sp>
      <p:sp>
        <p:nvSpPr>
          <p:cNvPr id="4" name="Text 2"/>
          <p:cNvSpPr/>
          <p:nvPr>
            <p:ph idx="102" type="title" hasCustomPrompt="1"/>
          </p:nvPr>
        </p:nvSpPr>
        <p:spPr>
          <a:xfrm>
            <a:off x="548640" y="320040"/>
            <a:ext cx="1106424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chemeClr val="accent1"/>
          </a:solidFill>
          <a:ln/>
        </p:spPr>
      </p:sp>
      <p:sp>
        <p:nvSpPr>
          <p:cNvPr id="3" name="Text 1"/>
          <p:cNvSpPr/>
          <p:nvPr>
            <p:ph idx="101" type="title" hasCustomPrompt="1"/>
          </p:nvPr>
        </p:nvSpPr>
        <p:spPr>
          <a:xfrm>
            <a:off x="548640" y="1600200"/>
            <a:ext cx="6217920" cy="1188720"/>
          </a:xfrm>
          <a:prstGeom prst="rect">
            <a:avLst/>
          </a:prstGeom>
          <a:noFill/>
          <a:ln/>
        </p:spPr>
        <p:txBody>
          <a:bodyPr wrap="square" rtlCol="0"/>
          <a:lstStyle>
            <a:lvl1pPr algn="l" indent="0" marL="0">
              <a:buNone/>
              <a:defRPr lang="en-US" sz="6400" b="1" dirty="0">
                <a:solidFill>
                  <a:schemeClr val="tx1"/>
                </a:solidFill>
              </a:defRPr>
            </a:lvl1pPr>
          </a:lstStyle>
          <a:p>
            <a:pPr algn="l"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3.xml"/><Relationship Id="rId5"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TA"/>
          <p:cNvSpPr/>
          <p:nvPr/>
        </p:nvSpPr>
        <p:spPr>
          <a:xfrm>
            <a:off x="548640" y="548640"/>
            <a:ext cx="1005840" cy="731520"/>
          </a:xfrm>
          <a:prstGeom prst="roundRect">
            <a:avLst>
              <a:gd name="adj" fmla="val 17500"/>
            </a:avLst>
          </a:prstGeom>
          <a:solidFill>
            <a:schemeClr val="tx1"/>
          </a:solidFill>
          <a:ln w="19050">
            <a:solidFill>
              <a:schemeClr val="tx1"/>
            </a:solidFill>
            <a:prstDash val="solid"/>
          </a:ln>
        </p:spPr>
      </p:sp>
      <p:sp>
        <p:nvSpPr>
          <p:cNvPr id="3" name="Text 1"/>
          <p:cNvSpPr txBox="1"/>
          <p:nvPr/>
        </p:nvSpPr>
        <p:spPr>
          <a:xfrm>
            <a:off x="548640" y="548640"/>
            <a:ext cx="1005840" cy="731520"/>
          </a:xfrm>
          <a:prstGeom prst="rect">
            <a:avLst/>
          </a:prstGeom>
          <a:noFill/>
          <a:ln/>
        </p:spPr>
        <p:txBody>
          <a:bodyPr wrap="square" lIns="0" tIns="0" rIns="0" bIns="0" rtlCol="0" anchor="ctr"/>
          <a:lstStyle/>
          <a:p>
            <a:pPr algn="ctr" indent="0" marL="0">
              <a:buNone/>
            </a:pPr>
            <a:r>
              <a:rPr lang="en-US" sz="3200" b="1" dirty="0">
                <a:solidFill>
                  <a:schemeClr val="accent1"/>
                </a:solidFill>
              </a:rPr>
              <a:t>TA</a:t>
            </a:r>
            <a:endParaRPr lang="en-US" sz="3200" dirty="0"/>
          </a:p>
        </p:txBody>
      </p:sp>
      <p:sp>
        <p:nvSpPr>
          <p:cNvPr id="4" name="Text 1"/>
          <p:cNvSpPr/>
          <p:nvPr>
            <p:ph idx="101" type="title" hasCustomPrompt="1"/>
          </p:nvPr>
        </p:nvSpPr>
        <p:spPr>
          <a:xfrm>
            <a:off x="548640" y="1600200"/>
            <a:ext cx="6217920" cy="1188720"/>
          </a:xfrm>
          <a:prstGeom prst="rect">
            <a:avLst/>
          </a:prstGeom>
          <a:noFill/>
          <a:ln/>
        </p:spPr>
        <p:txBody>
          <a:bodyPr wrap="square" lIns="0" tIns="0" rIns="0" bIns="0" rtlCol="0" anchor="ctr"/>
          <a:lstStyle/>
          <a:p>
            <a:pPr algn="l" indent="0" marL="0">
              <a:buNone/>
            </a:pPr>
            <a:r>
              <a:rPr lang="en-US" sz="6400" b="1" dirty="0">
                <a:solidFill>
                  <a:schemeClr val="tx1"/>
                </a:solidFill>
              </a:rPr>
              <a:t>TitipAnak</a:t>
            </a:r>
            <a:endParaRPr lang="en-US" sz="6400" dirty="0"/>
          </a:p>
        </p:txBody>
      </p:sp>
      <p:sp>
        <p:nvSpPr>
          <p:cNvPr id="5" name="Text 3"/>
          <p:cNvSpPr txBox="1"/>
          <p:nvPr/>
        </p:nvSpPr>
        <p:spPr>
          <a:xfrm>
            <a:off x="548640" y="2788920"/>
            <a:ext cx="6217920" cy="640080"/>
          </a:xfrm>
          <a:prstGeom prst="rect">
            <a:avLst/>
          </a:prstGeom>
          <a:noFill/>
          <a:ln/>
        </p:spPr>
        <p:txBody>
          <a:bodyPr wrap="square" lIns="0" tIns="0" rIns="0" bIns="0" rtlCol="0" anchor="ctr"/>
          <a:lstStyle/>
          <a:p>
            <a:pPr indent="0" marL="0">
              <a:buNone/>
            </a:pPr>
            <a:r>
              <a:rPr lang="en-US" sz="3200" b="1" dirty="0">
                <a:solidFill>
                  <a:schemeClr val="tx1"/>
                </a:solidFill>
              </a:rPr>
              <a:t>Manajemen Daycare</a:t>
            </a:r>
            <a:endParaRPr lang="en-US" sz="3200" dirty="0"/>
          </a:p>
        </p:txBody>
      </p:sp>
      <p:sp>
        <p:nvSpPr>
          <p:cNvPr id="6" name="Text 4"/>
          <p:cNvSpPr txBox="1"/>
          <p:nvPr/>
        </p:nvSpPr>
        <p:spPr>
          <a:xfrm>
            <a:off x="548640" y="3474720"/>
            <a:ext cx="6217920" cy="457200"/>
          </a:xfrm>
          <a:prstGeom prst="rect">
            <a:avLst/>
          </a:prstGeom>
          <a:noFill/>
          <a:ln/>
        </p:spPr>
        <p:txBody>
          <a:bodyPr wrap="square" lIns="0" tIns="0" rIns="0" bIns="0" rtlCol="0" anchor="ctr"/>
          <a:lstStyle/>
          <a:p>
            <a:pPr indent="0" marL="0">
              <a:buNone/>
            </a:pPr>
            <a:r>
              <a:rPr lang="en-US" sz="2000" dirty="0">
                <a:solidFill>
                  <a:schemeClr val="tx1"/>
                </a:solidFill>
              </a:rPr>
              <a:t>Presentasi Product Backlog Item (PBI)</a:t>
            </a:r>
            <a:endParaRPr lang="en-US" sz="2000" dirty="0"/>
          </a:p>
        </p:txBody>
      </p:sp>
      <p:sp>
        <p:nvSpPr>
          <p:cNvPr id="7" name="Label kelompok"/>
          <p:cNvSpPr/>
          <p:nvPr/>
        </p:nvSpPr>
        <p:spPr>
          <a:xfrm>
            <a:off x="548640" y="4297680"/>
            <a:ext cx="6217920" cy="685800"/>
          </a:xfrm>
          <a:prstGeom prst="roundRect">
            <a:avLst>
              <a:gd name="adj" fmla="val 18667"/>
            </a:avLst>
          </a:prstGeom>
          <a:solidFill>
            <a:schemeClr val="tx1"/>
          </a:solidFill>
          <a:ln w="19050">
            <a:solidFill>
              <a:schemeClr val="tx1"/>
            </a:solidFill>
            <a:prstDash val="solid"/>
          </a:ln>
        </p:spPr>
      </p:sp>
      <p:sp>
        <p:nvSpPr>
          <p:cNvPr id="8" name="Text 6"/>
          <p:cNvSpPr txBox="1"/>
          <p:nvPr/>
        </p:nvSpPr>
        <p:spPr>
          <a:xfrm>
            <a:off x="777240" y="4297680"/>
            <a:ext cx="5852160" cy="685800"/>
          </a:xfrm>
          <a:prstGeom prst="rect">
            <a:avLst/>
          </a:prstGeom>
          <a:noFill/>
          <a:ln/>
        </p:spPr>
        <p:txBody>
          <a:bodyPr wrap="square" lIns="0" tIns="0" rIns="0" bIns="0" rtlCol="0" anchor="ctr"/>
          <a:lstStyle/>
          <a:p>
            <a:pPr indent="0" marL="0">
              <a:buNone/>
            </a:pPr>
            <a:r>
              <a:rPr lang="en-US" sz="2000" b="1" dirty="0">
                <a:solidFill>
                  <a:schemeClr val="bg1"/>
                </a:solidFill>
              </a:rPr>
              <a:t>Kelompok A  |  SI48EXT  |  Tugas Besar PPL</a:t>
            </a:r>
            <a:endParaRPr lang="en-US" sz="2000" dirty="0"/>
          </a:p>
        </p:txBody>
      </p:sp>
      <p:sp>
        <p:nvSpPr>
          <p:cNvPr id="9" name="Kartu SDG"/>
          <p:cNvSpPr/>
          <p:nvPr/>
        </p:nvSpPr>
        <p:spPr>
          <a:xfrm>
            <a:off x="548640" y="5257800"/>
            <a:ext cx="6217920" cy="1051560"/>
          </a:xfrm>
          <a:prstGeom prst="roundRect">
            <a:avLst>
              <a:gd name="adj" fmla="val 12174"/>
            </a:avLst>
          </a:prstGeom>
          <a:solidFill>
            <a:schemeClr val="bg1"/>
          </a:solidFill>
          <a:ln w="19050">
            <a:solidFill>
              <a:schemeClr val="tx1"/>
            </a:solidFill>
            <a:prstDash val="solid"/>
          </a:ln>
        </p:spPr>
      </p:sp>
      <p:sp>
        <p:nvSpPr>
          <p:cNvPr id="10" name="Lingkaran ikon FcGlobe"/>
          <p:cNvSpPr/>
          <p:nvPr/>
        </p:nvSpPr>
        <p:spPr>
          <a:xfrm>
            <a:off x="777240" y="5440680"/>
            <a:ext cx="685800" cy="685800"/>
          </a:xfrm>
          <a:prstGeom prst="ellipse">
            <a:avLst/>
          </a:prstGeom>
          <a:solidFill>
            <a:schemeClr val="accent3"/>
          </a:solidFill>
          <a:ln w="19050">
            <a:solidFill>
              <a:schemeClr val="tx1"/>
            </a:solidFill>
            <a:prstDash val="solid"/>
          </a:ln>
        </p:spPr>
      </p:sp>
      <p:pic>
        <p:nvPicPr>
          <p:cNvPr id="11" name="Image 0" descr="Ikon FcGlobe">    </p:cNvPr>
          <p:cNvPicPr>
            <a:picLocks noChangeAspect="1"/>
          </p:cNvPicPr>
          <p:nvPr/>
        </p:nvPicPr>
        <p:blipFill>
          <a:blip r:embed="rId1"/>
          <a:stretch>
            <a:fillRect/>
          </a:stretch>
        </p:blipFill>
        <p:spPr>
          <a:xfrm>
            <a:off x="921258" y="5584698"/>
            <a:ext cx="397764" cy="397764"/>
          </a:xfrm>
          <a:prstGeom prst="rect">
            <a:avLst/>
          </a:prstGeom>
        </p:spPr>
      </p:pic>
      <p:sp>
        <p:nvSpPr>
          <p:cNvPr id="12" name="Text 9"/>
          <p:cNvSpPr txBox="1"/>
          <p:nvPr/>
        </p:nvSpPr>
        <p:spPr>
          <a:xfrm>
            <a:off x="1691640" y="5257800"/>
            <a:ext cx="4937760" cy="1051560"/>
          </a:xfrm>
          <a:prstGeom prst="rect">
            <a:avLst/>
          </a:prstGeom>
          <a:noFill/>
          <a:ln/>
        </p:spPr>
        <p:txBody>
          <a:bodyPr wrap="square" lIns="0" tIns="0" rIns="0" bIns="0" rtlCol="0" anchor="ctr"/>
          <a:lstStyle/>
          <a:p>
            <a:pPr indent="0" marL="0">
              <a:buNone/>
            </a:pPr>
            <a:r>
              <a:rPr lang="en-US" sz="1800" b="1" dirty="0">
                <a:solidFill>
                  <a:schemeClr val="tx1"/>
                </a:solidFill>
              </a:rPr>
              <a:t>SDG 5: Kesetaraan Gender</a:t>
            </a:r>
            <a:endParaRPr lang="en-US" sz="1800" dirty="0"/>
          </a:p>
          <a:p>
            <a:pPr indent="0" marL="0">
              <a:buNone/>
            </a:pPr>
            <a:r>
              <a:rPr lang="en-US" sz="1400" dirty="0">
                <a:solidFill>
                  <a:schemeClr val="tx1"/>
                </a:solidFill>
              </a:rPr>
              <a:t>Target 5.4: dukungan untuk kerja pengasuhan</a:t>
            </a:r>
            <a:endParaRPr lang="en-US" sz="1800" dirty="0"/>
          </a:p>
        </p:txBody>
      </p:sp>
      <p:sp>
        <p:nvSpPr>
          <p:cNvPr id="13" name="Kartu anggota"/>
          <p:cNvSpPr/>
          <p:nvPr/>
        </p:nvSpPr>
        <p:spPr>
          <a:xfrm>
            <a:off x="7223760" y="548640"/>
            <a:ext cx="4389120" cy="5760720"/>
          </a:xfrm>
          <a:prstGeom prst="roundRect">
            <a:avLst>
              <a:gd name="adj" fmla="val 2917"/>
            </a:avLst>
          </a:prstGeom>
          <a:solidFill>
            <a:schemeClr val="bg1"/>
          </a:solidFill>
          <a:ln w="19050">
            <a:solidFill>
              <a:schemeClr val="tx1"/>
            </a:solidFill>
            <a:prstDash val="solid"/>
          </a:ln>
        </p:spPr>
      </p:sp>
      <p:sp>
        <p:nvSpPr>
          <p:cNvPr id="14" name="Text 11"/>
          <p:cNvSpPr txBox="1"/>
          <p:nvPr/>
        </p:nvSpPr>
        <p:spPr>
          <a:xfrm>
            <a:off x="7498080" y="731520"/>
            <a:ext cx="3840480" cy="457200"/>
          </a:xfrm>
          <a:prstGeom prst="rect">
            <a:avLst/>
          </a:prstGeom>
          <a:noFill/>
          <a:ln/>
        </p:spPr>
        <p:txBody>
          <a:bodyPr wrap="square" lIns="0" tIns="0" rIns="0" bIns="0" rtlCol="0" anchor="ctr"/>
          <a:lstStyle/>
          <a:p>
            <a:pPr indent="0" marL="0">
              <a:buNone/>
            </a:pPr>
            <a:r>
              <a:rPr lang="en-US" sz="2000" b="1" dirty="0">
                <a:solidFill>
                  <a:schemeClr val="tx1"/>
                </a:solidFill>
              </a:rPr>
              <a:t>Disusun oleh</a:t>
            </a:r>
            <a:endParaRPr lang="en-US" sz="2000" dirty="0"/>
          </a:p>
        </p:txBody>
      </p:sp>
      <p:sp>
        <p:nvSpPr>
          <p:cNvPr id="15" name="Text 12"/>
          <p:cNvSpPr txBox="1"/>
          <p:nvPr/>
        </p:nvSpPr>
        <p:spPr>
          <a:xfrm>
            <a:off x="7498080" y="1325880"/>
            <a:ext cx="3931920" cy="713232"/>
          </a:xfrm>
          <a:prstGeom prst="rect">
            <a:avLst/>
          </a:prstGeom>
          <a:noFill/>
          <a:ln/>
        </p:spPr>
        <p:txBody>
          <a:bodyPr wrap="square" lIns="0" tIns="0" rIns="0" bIns="0" rtlCol="0" anchor="ctr"/>
          <a:lstStyle/>
          <a:p>
            <a:pPr indent="0" marL="0">
              <a:buNone/>
            </a:pPr>
            <a:r>
              <a:rPr lang="en-US" sz="1500" b="1" dirty="0">
                <a:solidFill>
                  <a:schemeClr val="tx1"/>
                </a:solidFill>
              </a:rPr>
              <a:t>ABDURRAHMAN BAASYIR</a:t>
            </a:r>
            <a:endParaRPr lang="en-US" sz="1500" dirty="0"/>
          </a:p>
          <a:p>
            <a:pPr indent="0" marL="0">
              <a:buNone/>
            </a:pPr>
            <a:r>
              <a:rPr lang="en-US" sz="1400" dirty="0">
                <a:solidFill>
                  <a:schemeClr val="accent6"/>
                </a:solidFill>
              </a:rPr>
              <a:t>102022580058</a:t>
            </a:r>
            <a:endParaRPr lang="en-US" sz="1500" dirty="0"/>
          </a:p>
        </p:txBody>
      </p:sp>
      <p:sp>
        <p:nvSpPr>
          <p:cNvPr id="16" name="Text 13"/>
          <p:cNvSpPr txBox="1"/>
          <p:nvPr/>
        </p:nvSpPr>
        <p:spPr>
          <a:xfrm>
            <a:off x="7498080" y="2130552"/>
            <a:ext cx="3931920" cy="713232"/>
          </a:xfrm>
          <a:prstGeom prst="rect">
            <a:avLst/>
          </a:prstGeom>
          <a:noFill/>
          <a:ln/>
        </p:spPr>
        <p:txBody>
          <a:bodyPr wrap="square" lIns="0" tIns="0" rIns="0" bIns="0" rtlCol="0" anchor="ctr"/>
          <a:lstStyle/>
          <a:p>
            <a:pPr indent="0" marL="0">
              <a:buNone/>
            </a:pPr>
            <a:r>
              <a:rPr lang="en-US" sz="1500" b="1" dirty="0">
                <a:solidFill>
                  <a:schemeClr val="tx1"/>
                </a:solidFill>
              </a:rPr>
              <a:t>DELITA NOOR IFTITAH</a:t>
            </a:r>
            <a:endParaRPr lang="en-US" sz="1500" dirty="0"/>
          </a:p>
          <a:p>
            <a:pPr indent="0" marL="0">
              <a:buNone/>
            </a:pPr>
            <a:r>
              <a:rPr lang="en-US" sz="1400" dirty="0">
                <a:solidFill>
                  <a:schemeClr val="accent6"/>
                </a:solidFill>
              </a:rPr>
              <a:t>102022580045</a:t>
            </a:r>
            <a:endParaRPr lang="en-US" sz="1500" dirty="0"/>
          </a:p>
        </p:txBody>
      </p:sp>
      <p:sp>
        <p:nvSpPr>
          <p:cNvPr id="17" name="Text 14"/>
          <p:cNvSpPr txBox="1"/>
          <p:nvPr/>
        </p:nvSpPr>
        <p:spPr>
          <a:xfrm>
            <a:off x="7498080" y="2935224"/>
            <a:ext cx="3931920" cy="713232"/>
          </a:xfrm>
          <a:prstGeom prst="rect">
            <a:avLst/>
          </a:prstGeom>
          <a:noFill/>
          <a:ln/>
        </p:spPr>
        <p:txBody>
          <a:bodyPr wrap="square" lIns="0" tIns="0" rIns="0" bIns="0" rtlCol="0" anchor="ctr"/>
          <a:lstStyle/>
          <a:p>
            <a:pPr indent="0" marL="0">
              <a:buNone/>
            </a:pPr>
            <a:r>
              <a:rPr lang="en-US" sz="1500" b="1" dirty="0">
                <a:solidFill>
                  <a:schemeClr val="tx1"/>
                </a:solidFill>
              </a:rPr>
              <a:t>FADLI MUHAMMAD ARSYI</a:t>
            </a:r>
            <a:endParaRPr lang="en-US" sz="1500" dirty="0"/>
          </a:p>
          <a:p>
            <a:pPr indent="0" marL="0">
              <a:buNone/>
            </a:pPr>
            <a:r>
              <a:rPr lang="en-US" sz="1400" dirty="0">
                <a:solidFill>
                  <a:schemeClr val="accent6"/>
                </a:solidFill>
              </a:rPr>
              <a:t>102022580036</a:t>
            </a:r>
            <a:endParaRPr lang="en-US" sz="1500" dirty="0"/>
          </a:p>
        </p:txBody>
      </p:sp>
      <p:sp>
        <p:nvSpPr>
          <p:cNvPr id="18" name="Text 15"/>
          <p:cNvSpPr txBox="1"/>
          <p:nvPr/>
        </p:nvSpPr>
        <p:spPr>
          <a:xfrm>
            <a:off x="7498080" y="3739896"/>
            <a:ext cx="3931920" cy="713232"/>
          </a:xfrm>
          <a:prstGeom prst="rect">
            <a:avLst/>
          </a:prstGeom>
          <a:noFill/>
          <a:ln/>
        </p:spPr>
        <p:txBody>
          <a:bodyPr wrap="square" lIns="0" tIns="0" rIns="0" bIns="0" rtlCol="0" anchor="ctr"/>
          <a:lstStyle/>
          <a:p>
            <a:pPr indent="0" marL="0">
              <a:buNone/>
            </a:pPr>
            <a:r>
              <a:rPr lang="en-US" sz="1500" b="1" dirty="0">
                <a:solidFill>
                  <a:schemeClr val="tx1"/>
                </a:solidFill>
              </a:rPr>
              <a:t>FARIS DWI RAMADHAN</a:t>
            </a:r>
            <a:endParaRPr lang="en-US" sz="1500" dirty="0"/>
          </a:p>
          <a:p>
            <a:pPr indent="0" marL="0">
              <a:buNone/>
            </a:pPr>
            <a:r>
              <a:rPr lang="en-US" sz="1400" dirty="0">
                <a:solidFill>
                  <a:schemeClr val="accent6"/>
                </a:solidFill>
              </a:rPr>
              <a:t>102022580054</a:t>
            </a:r>
            <a:endParaRPr lang="en-US" sz="1500" dirty="0"/>
          </a:p>
        </p:txBody>
      </p:sp>
      <p:sp>
        <p:nvSpPr>
          <p:cNvPr id="19" name="Text 16"/>
          <p:cNvSpPr txBox="1"/>
          <p:nvPr/>
        </p:nvSpPr>
        <p:spPr>
          <a:xfrm>
            <a:off x="7498080" y="4544568"/>
            <a:ext cx="3931920" cy="713232"/>
          </a:xfrm>
          <a:prstGeom prst="rect">
            <a:avLst/>
          </a:prstGeom>
          <a:noFill/>
          <a:ln/>
        </p:spPr>
        <p:txBody>
          <a:bodyPr wrap="square" lIns="0" tIns="0" rIns="0" bIns="0" rtlCol="0" anchor="ctr"/>
          <a:lstStyle/>
          <a:p>
            <a:pPr indent="0" marL="0">
              <a:buNone/>
            </a:pPr>
            <a:r>
              <a:rPr lang="en-US" sz="1500" b="1" dirty="0">
                <a:solidFill>
                  <a:schemeClr val="tx1"/>
                </a:solidFill>
              </a:rPr>
              <a:t>RAIHAN MUHAMAD SYAWAL</a:t>
            </a:r>
            <a:endParaRPr lang="en-US" sz="1500" dirty="0"/>
          </a:p>
          <a:p>
            <a:pPr indent="0" marL="0">
              <a:buNone/>
            </a:pPr>
            <a:r>
              <a:rPr lang="en-US" sz="1400" dirty="0">
                <a:solidFill>
                  <a:schemeClr val="accent6"/>
                </a:solidFill>
              </a:rPr>
              <a:t>102022580011</a:t>
            </a:r>
            <a:endParaRPr lang="en-US" sz="1500" dirty="0"/>
          </a:p>
        </p:txBody>
      </p:sp>
      <p:sp>
        <p:nvSpPr>
          <p:cNvPr id="20" name="Text 17"/>
          <p:cNvSpPr txBox="1"/>
          <p:nvPr/>
        </p:nvSpPr>
        <p:spPr>
          <a:xfrm>
            <a:off x="7498080" y="5349240"/>
            <a:ext cx="3931920" cy="713232"/>
          </a:xfrm>
          <a:prstGeom prst="rect">
            <a:avLst/>
          </a:prstGeom>
          <a:noFill/>
          <a:ln/>
        </p:spPr>
        <p:txBody>
          <a:bodyPr wrap="square" lIns="0" tIns="0" rIns="0" bIns="0" rtlCol="0" anchor="ctr"/>
          <a:lstStyle/>
          <a:p>
            <a:pPr indent="0" marL="0">
              <a:buNone/>
            </a:pPr>
            <a:r>
              <a:rPr lang="en-US" sz="1500" b="1" dirty="0">
                <a:solidFill>
                  <a:schemeClr val="tx1"/>
                </a:solidFill>
              </a:rPr>
              <a:t>STEPHAN YOFANDHIKA PRASETYO</a:t>
            </a:r>
            <a:endParaRPr lang="en-US" sz="1500" dirty="0"/>
          </a:p>
          <a:p>
            <a:pPr indent="0" marL="0">
              <a:buNone/>
            </a:pPr>
            <a:r>
              <a:rPr lang="en-US" sz="1400" dirty="0">
                <a:solidFill>
                  <a:schemeClr val="accent6"/>
                </a:solidFill>
              </a:rPr>
              <a:t>102022680024</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Latar Belakang</a:t>
            </a:r>
            <a:endParaRPr lang="en-US" sz="3600" dirty="0"/>
          </a:p>
        </p:txBody>
      </p:sp>
      <p:sp>
        <p:nvSpPr>
          <p:cNvPr id="3" name="Kartu grafik TPAK"/>
          <p:cNvSpPr/>
          <p:nvPr/>
        </p:nvSpPr>
        <p:spPr>
          <a:xfrm>
            <a:off x="548640" y="1371600"/>
            <a:ext cx="5486400" cy="4846320"/>
          </a:xfrm>
          <a:prstGeom prst="roundRect">
            <a:avLst>
              <a:gd name="adj" fmla="val 2642"/>
            </a:avLst>
          </a:prstGeom>
          <a:solidFill>
            <a:schemeClr val="bg2"/>
          </a:solidFill>
          <a:ln w="19050">
            <a:solidFill>
              <a:schemeClr val="tx1"/>
            </a:solidFill>
            <a:prstDash val="solid"/>
          </a:ln>
        </p:spPr>
      </p:sp>
      <p:graphicFrame>
        <p:nvGraphicFramePr>
          <p:cNvPr id="4" name="Chart 0" descr=""/>
          <p:cNvGraphicFramePr/>
          <p:nvPr/>
        </p:nvGraphicFramePr>
        <p:xfrm>
          <a:off x="731520" y="1463040"/>
          <a:ext cx="5120640" cy="41148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31520" y="5715000"/>
            <a:ext cx="5120640" cy="320040"/>
          </a:xfrm>
          <a:prstGeom prst="rect">
            <a:avLst/>
          </a:prstGeom>
          <a:noFill/>
          <a:ln/>
        </p:spPr>
        <p:txBody>
          <a:bodyPr wrap="square" lIns="0" tIns="0" rIns="0" bIns="0" rtlCol="0" anchor="ctr"/>
          <a:lstStyle/>
          <a:p>
            <a:pPr indent="0" marL="0">
              <a:buNone/>
            </a:pPr>
            <a:r>
              <a:rPr lang="en-US" sz="1200" dirty="0">
                <a:solidFill>
                  <a:schemeClr val="accent6"/>
                </a:solidFill>
              </a:rPr>
              <a:t>Sumber: BPS, Agustus 2024</a:t>
            </a:r>
            <a:endParaRPr lang="en-US" sz="1200" dirty="0"/>
          </a:p>
        </p:txBody>
      </p:sp>
      <p:sp>
        <p:nvSpPr>
          <p:cNvPr id="6" name="Lingkaran ikon FcBusinesswoman"/>
          <p:cNvSpPr/>
          <p:nvPr/>
        </p:nvSpPr>
        <p:spPr>
          <a:xfrm>
            <a:off x="6400800" y="1554480"/>
            <a:ext cx="868680" cy="868680"/>
          </a:xfrm>
          <a:prstGeom prst="ellipse">
            <a:avLst/>
          </a:prstGeom>
          <a:solidFill>
            <a:schemeClr val="accent1"/>
          </a:solidFill>
          <a:ln w="19050">
            <a:solidFill>
              <a:schemeClr val="tx1"/>
            </a:solidFill>
            <a:prstDash val="solid"/>
          </a:ln>
        </p:spPr>
      </p:sp>
      <p:pic>
        <p:nvPicPr>
          <p:cNvPr id="7" name="Image 0" descr="Ikon FcBusinesswoman">    </p:cNvPr>
          <p:cNvPicPr>
            <a:picLocks noChangeAspect="1"/>
          </p:cNvPicPr>
          <p:nvPr/>
        </p:nvPicPr>
        <p:blipFill>
          <a:blip r:embed="rId2"/>
          <a:stretch>
            <a:fillRect/>
          </a:stretch>
        </p:blipFill>
        <p:spPr>
          <a:xfrm>
            <a:off x="6583223" y="1736903"/>
            <a:ext cx="503834" cy="503834"/>
          </a:xfrm>
          <a:prstGeom prst="rect">
            <a:avLst/>
          </a:prstGeom>
        </p:spPr>
      </p:pic>
      <p:sp>
        <p:nvSpPr>
          <p:cNvPr id="8" name="Text 4"/>
          <p:cNvSpPr txBox="1"/>
          <p:nvPr/>
        </p:nvSpPr>
        <p:spPr>
          <a:xfrm>
            <a:off x="7498080" y="1371600"/>
            <a:ext cx="4114800" cy="1371600"/>
          </a:xfrm>
          <a:prstGeom prst="rect">
            <a:avLst/>
          </a:prstGeom>
          <a:noFill/>
          <a:ln/>
        </p:spPr>
        <p:txBody>
          <a:bodyPr wrap="square" lIns="0" tIns="0" rIns="0" bIns="0" rtlCol="0" anchor="ctr"/>
          <a:lstStyle/>
          <a:p>
            <a:pPr indent="0" marL="0">
              <a:buNone/>
            </a:pPr>
            <a:r>
              <a:rPr lang="en-US" sz="2000" b="1" dirty="0">
                <a:solidFill>
                  <a:schemeClr val="tx1"/>
                </a:solidFill>
              </a:rPr>
              <a:t>Ibu bekerja butuh tempat penitipan yang aman</a:t>
            </a:r>
            <a:endParaRPr lang="en-US" sz="2000" dirty="0"/>
          </a:p>
          <a:p>
            <a:pPr indent="0" marL="0">
              <a:buNone/>
            </a:pPr>
            <a:r>
              <a:rPr lang="en-US" sz="1400" dirty="0">
                <a:solidFill>
                  <a:schemeClr val="tx1"/>
                </a:solidFill>
              </a:rPr>
              <a:t>Sejalan dengan SDG 5 target 5.4: dukungan untuk kerja pengasuhan lewat layanan dan infrastruktur</a:t>
            </a:r>
            <a:endParaRPr lang="en-US" sz="2000" dirty="0"/>
          </a:p>
        </p:txBody>
      </p:sp>
      <p:sp>
        <p:nvSpPr>
          <p:cNvPr id="9" name="Lingkaran ikon FcConferenceCall"/>
          <p:cNvSpPr/>
          <p:nvPr/>
        </p:nvSpPr>
        <p:spPr>
          <a:xfrm>
            <a:off x="6400800" y="3108960"/>
            <a:ext cx="868680" cy="868680"/>
          </a:xfrm>
          <a:prstGeom prst="ellipse">
            <a:avLst/>
          </a:prstGeom>
          <a:solidFill>
            <a:schemeClr val="accent2"/>
          </a:solidFill>
          <a:ln w="19050">
            <a:solidFill>
              <a:schemeClr val="tx1"/>
            </a:solidFill>
            <a:prstDash val="solid"/>
          </a:ln>
        </p:spPr>
      </p:sp>
      <p:pic>
        <p:nvPicPr>
          <p:cNvPr id="10" name="Image 1" descr="Ikon FcConferenceCall">    </p:cNvPr>
          <p:cNvPicPr>
            <a:picLocks noChangeAspect="1"/>
          </p:cNvPicPr>
          <p:nvPr/>
        </p:nvPicPr>
        <p:blipFill>
          <a:blip r:embed="rId3"/>
          <a:stretch>
            <a:fillRect/>
          </a:stretch>
        </p:blipFill>
        <p:spPr>
          <a:xfrm>
            <a:off x="6583223" y="3291383"/>
            <a:ext cx="503834" cy="503834"/>
          </a:xfrm>
          <a:prstGeom prst="rect">
            <a:avLst/>
          </a:prstGeom>
        </p:spPr>
      </p:pic>
      <p:sp>
        <p:nvSpPr>
          <p:cNvPr id="11" name="Text 6"/>
          <p:cNvSpPr txBox="1"/>
          <p:nvPr/>
        </p:nvSpPr>
        <p:spPr>
          <a:xfrm>
            <a:off x="7498080" y="2926080"/>
            <a:ext cx="4114800" cy="1371600"/>
          </a:xfrm>
          <a:prstGeom prst="rect">
            <a:avLst/>
          </a:prstGeom>
          <a:noFill/>
          <a:ln/>
        </p:spPr>
        <p:txBody>
          <a:bodyPr wrap="square" lIns="0" tIns="0" rIns="0" bIns="0" rtlCol="0" anchor="ctr"/>
          <a:lstStyle/>
          <a:p>
            <a:pPr indent="0" marL="0">
              <a:buNone/>
            </a:pPr>
            <a:r>
              <a:rPr lang="en-US" sz="2000" b="1" dirty="0">
                <a:solidFill>
                  <a:schemeClr val="tx1"/>
                </a:solidFill>
              </a:rPr>
              <a:t>Banyak keluarga masih bergantung ke kakek-nenek</a:t>
            </a:r>
            <a:endParaRPr lang="en-US" sz="2000" dirty="0"/>
          </a:p>
          <a:p>
            <a:pPr indent="0" marL="0">
              <a:buNone/>
            </a:pPr>
            <a:r>
              <a:rPr lang="en-US" sz="1400" dirty="0">
                <a:solidFill>
                  <a:schemeClr val="tx1"/>
                </a:solidFill>
              </a:rPr>
              <a:t>Temuan penelitian Andrina (2022) tentang pengasuhan anak saat ibu bekerja</a:t>
            </a:r>
            <a:endParaRPr lang="en-US" sz="2000" dirty="0"/>
          </a:p>
        </p:txBody>
      </p:sp>
      <p:sp>
        <p:nvSpPr>
          <p:cNvPr id="12" name="Kartu inti latar belakang"/>
          <p:cNvSpPr/>
          <p:nvPr/>
        </p:nvSpPr>
        <p:spPr>
          <a:xfrm>
            <a:off x="6400800" y="4663440"/>
            <a:ext cx="5212080" cy="1554480"/>
          </a:xfrm>
          <a:prstGeom prst="roundRect">
            <a:avLst>
              <a:gd name="adj" fmla="val 8235"/>
            </a:avLst>
          </a:prstGeom>
          <a:solidFill>
            <a:schemeClr val="accent1"/>
          </a:solidFill>
          <a:ln w="19050">
            <a:solidFill>
              <a:schemeClr val="tx1"/>
            </a:solidFill>
            <a:prstDash val="solid"/>
          </a:ln>
        </p:spPr>
      </p:sp>
      <p:sp>
        <p:nvSpPr>
          <p:cNvPr id="13" name="Text 8"/>
          <p:cNvSpPr txBox="1"/>
          <p:nvPr/>
        </p:nvSpPr>
        <p:spPr>
          <a:xfrm>
            <a:off x="6675120" y="4754880"/>
            <a:ext cx="4663440" cy="1371600"/>
          </a:xfrm>
          <a:prstGeom prst="rect">
            <a:avLst/>
          </a:prstGeom>
          <a:noFill/>
          <a:ln/>
        </p:spPr>
        <p:txBody>
          <a:bodyPr wrap="square" lIns="0" tIns="0" rIns="0" bIns="0" rtlCol="0" anchor="ctr"/>
          <a:lstStyle/>
          <a:p>
            <a:pPr indent="0" marL="0">
              <a:buNone/>
            </a:pPr>
            <a:r>
              <a:rPr lang="en-US" sz="2000" b="1" dirty="0">
                <a:solidFill>
                  <a:schemeClr val="tx1"/>
                </a:solidFill>
              </a:rPr>
              <a:t>Daycare adalah jawabannya, tapi kalau pengelolaannya berantakan, orang tua jadi ragu</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Masalah Inti</a:t>
            </a:r>
            <a:endParaRPr lang="en-US" sz="3600" dirty="0"/>
          </a:p>
        </p:txBody>
      </p:sp>
      <p:sp>
        <p:nvSpPr>
          <p:cNvPr id="3" name="Kartu masalah 1"/>
          <p:cNvSpPr/>
          <p:nvPr/>
        </p:nvSpPr>
        <p:spPr>
          <a:xfrm>
            <a:off x="548640" y="1371600"/>
            <a:ext cx="5349240" cy="2240280"/>
          </a:xfrm>
          <a:prstGeom prst="roundRect">
            <a:avLst>
              <a:gd name="adj" fmla="val 5714"/>
            </a:avLst>
          </a:prstGeom>
          <a:solidFill>
            <a:schemeClr val="accent1"/>
          </a:solidFill>
          <a:ln w="19050">
            <a:solidFill>
              <a:schemeClr val="tx1"/>
            </a:solidFill>
            <a:prstDash val="solid"/>
          </a:ln>
        </p:spPr>
      </p:sp>
      <p:sp>
        <p:nvSpPr>
          <p:cNvPr id="4" name="Lingkaran ikon FcSearch"/>
          <p:cNvSpPr/>
          <p:nvPr/>
        </p:nvSpPr>
        <p:spPr>
          <a:xfrm>
            <a:off x="868680" y="1737360"/>
            <a:ext cx="914400" cy="914400"/>
          </a:xfrm>
          <a:prstGeom prst="ellipse">
            <a:avLst/>
          </a:prstGeom>
          <a:solidFill>
            <a:schemeClr val="bg1"/>
          </a:solidFill>
          <a:ln w="19050">
            <a:solidFill>
              <a:schemeClr val="tx1"/>
            </a:solidFill>
            <a:prstDash val="solid"/>
          </a:ln>
        </p:spPr>
      </p:sp>
      <p:pic>
        <p:nvPicPr>
          <p:cNvPr id="5" name="Image 0" descr="Ikon FcSearch">    </p:cNvPr>
          <p:cNvPicPr>
            <a:picLocks noChangeAspect="1"/>
          </p:cNvPicPr>
          <p:nvPr/>
        </p:nvPicPr>
        <p:blipFill>
          <a:blip r:embed="rId1"/>
          <a:stretch>
            <a:fillRect/>
          </a:stretch>
        </p:blipFill>
        <p:spPr>
          <a:xfrm>
            <a:off x="1060704" y="1929384"/>
            <a:ext cx="530352" cy="530352"/>
          </a:xfrm>
          <a:prstGeom prst="rect">
            <a:avLst/>
          </a:prstGeom>
        </p:spPr>
      </p:pic>
      <p:sp>
        <p:nvSpPr>
          <p:cNvPr id="6" name="Text 3"/>
          <p:cNvSpPr txBox="1"/>
          <p:nvPr/>
        </p:nvSpPr>
        <p:spPr>
          <a:xfrm>
            <a:off x="2057400" y="1554480"/>
            <a:ext cx="3611880" cy="1874520"/>
          </a:xfrm>
          <a:prstGeom prst="rect">
            <a:avLst/>
          </a:prstGeom>
          <a:noFill/>
          <a:ln/>
        </p:spPr>
        <p:txBody>
          <a:bodyPr wrap="square" lIns="0" tIns="0" rIns="0" bIns="0" rtlCol="0" anchor="ctr"/>
          <a:lstStyle/>
          <a:p>
            <a:pPr indent="0" marL="0">
              <a:buNone/>
            </a:pPr>
            <a:r>
              <a:rPr lang="en-US" sz="1800" b="1" dirty="0">
                <a:solidFill>
                  <a:schemeClr val="tx1"/>
                </a:solidFill>
              </a:rPr>
              <a:t>Orang tua tidak bisa memantau anak selama di daycare</a:t>
            </a:r>
            <a:endParaRPr lang="en-US" sz="1800" dirty="0"/>
          </a:p>
          <a:p>
            <a:pPr indent="0" marL="0">
              <a:buNone/>
            </a:pPr>
            <a:r>
              <a:rPr lang="en-US" sz="1300" dirty="0">
                <a:solidFill>
                  <a:schemeClr val="tx1"/>
                </a:solidFill>
              </a:rPr>
              <a:t>Hanya mengandalkan cerita pengasuh atau chat yang tidak selalu terkirim</a:t>
            </a:r>
            <a:endParaRPr lang="en-US" sz="1800" dirty="0"/>
          </a:p>
        </p:txBody>
      </p:sp>
      <p:sp>
        <p:nvSpPr>
          <p:cNvPr id="7" name="Kartu masalah 2"/>
          <p:cNvSpPr/>
          <p:nvPr/>
        </p:nvSpPr>
        <p:spPr>
          <a:xfrm>
            <a:off x="6263640" y="1371600"/>
            <a:ext cx="5349240" cy="2240280"/>
          </a:xfrm>
          <a:prstGeom prst="roundRect">
            <a:avLst>
              <a:gd name="adj" fmla="val 5714"/>
            </a:avLst>
          </a:prstGeom>
          <a:solidFill>
            <a:schemeClr val="accent2"/>
          </a:solidFill>
          <a:ln w="19050">
            <a:solidFill>
              <a:schemeClr val="tx1"/>
            </a:solidFill>
            <a:prstDash val="solid"/>
          </a:ln>
        </p:spPr>
      </p:sp>
      <p:sp>
        <p:nvSpPr>
          <p:cNvPr id="8" name="Lingkaran ikon FcDocument"/>
          <p:cNvSpPr/>
          <p:nvPr/>
        </p:nvSpPr>
        <p:spPr>
          <a:xfrm>
            <a:off x="6583680" y="1737360"/>
            <a:ext cx="914400" cy="914400"/>
          </a:xfrm>
          <a:prstGeom prst="ellipse">
            <a:avLst/>
          </a:prstGeom>
          <a:solidFill>
            <a:schemeClr val="bg1"/>
          </a:solidFill>
          <a:ln w="19050">
            <a:solidFill>
              <a:schemeClr val="tx1"/>
            </a:solidFill>
            <a:prstDash val="solid"/>
          </a:ln>
        </p:spPr>
      </p:sp>
      <p:pic>
        <p:nvPicPr>
          <p:cNvPr id="9" name="Image 1" descr="Ikon FcDocument">    </p:cNvPr>
          <p:cNvPicPr>
            <a:picLocks noChangeAspect="1"/>
          </p:cNvPicPr>
          <p:nvPr/>
        </p:nvPicPr>
        <p:blipFill>
          <a:blip r:embed="rId2"/>
          <a:stretch>
            <a:fillRect/>
          </a:stretch>
        </p:blipFill>
        <p:spPr>
          <a:xfrm>
            <a:off x="6775704" y="1929384"/>
            <a:ext cx="530352" cy="530352"/>
          </a:xfrm>
          <a:prstGeom prst="rect">
            <a:avLst/>
          </a:prstGeom>
        </p:spPr>
      </p:pic>
      <p:sp>
        <p:nvSpPr>
          <p:cNvPr id="10" name="Text 6"/>
          <p:cNvSpPr txBox="1"/>
          <p:nvPr/>
        </p:nvSpPr>
        <p:spPr>
          <a:xfrm>
            <a:off x="7772400" y="1554480"/>
            <a:ext cx="3611880" cy="1874520"/>
          </a:xfrm>
          <a:prstGeom prst="rect">
            <a:avLst/>
          </a:prstGeom>
          <a:noFill/>
          <a:ln/>
        </p:spPr>
        <p:txBody>
          <a:bodyPr wrap="square" lIns="0" tIns="0" rIns="0" bIns="0" rtlCol="0" anchor="ctr"/>
          <a:lstStyle/>
          <a:p>
            <a:pPr indent="0" marL="0">
              <a:buNone/>
            </a:pPr>
            <a:r>
              <a:rPr lang="en-US" sz="1800" b="1" dirty="0">
                <a:solidFill>
                  <a:schemeClr val="tx1"/>
                </a:solidFill>
              </a:rPr>
              <a:t>Pencatatan masih manual (kertas dan chat)</a:t>
            </a:r>
            <a:endParaRPr lang="en-US" sz="1800" dirty="0"/>
          </a:p>
          <a:p>
            <a:pPr indent="0" marL="0">
              <a:buNone/>
            </a:pPr>
            <a:r>
              <a:rPr lang="en-US" sz="1300" dirty="0">
                <a:solidFill>
                  <a:schemeClr val="tx1"/>
                </a:solidFill>
              </a:rPr>
              <a:t>Rawan hilang dan tertukar antar anak</a:t>
            </a:r>
            <a:endParaRPr lang="en-US" sz="1800" dirty="0"/>
          </a:p>
        </p:txBody>
      </p:sp>
      <p:sp>
        <p:nvSpPr>
          <p:cNvPr id="11" name="Kartu masalah 3"/>
          <p:cNvSpPr/>
          <p:nvPr/>
        </p:nvSpPr>
        <p:spPr>
          <a:xfrm>
            <a:off x="548640" y="3840480"/>
            <a:ext cx="5349240" cy="2240280"/>
          </a:xfrm>
          <a:prstGeom prst="roundRect">
            <a:avLst>
              <a:gd name="adj" fmla="val 5714"/>
            </a:avLst>
          </a:prstGeom>
          <a:solidFill>
            <a:schemeClr val="accent3"/>
          </a:solidFill>
          <a:ln w="19050">
            <a:solidFill>
              <a:schemeClr val="tx1"/>
            </a:solidFill>
            <a:prstDash val="solid"/>
          </a:ln>
        </p:spPr>
      </p:sp>
      <p:sp>
        <p:nvSpPr>
          <p:cNvPr id="12" name="Lingkaran ikon FcContacts"/>
          <p:cNvSpPr/>
          <p:nvPr/>
        </p:nvSpPr>
        <p:spPr>
          <a:xfrm>
            <a:off x="868680" y="4206240"/>
            <a:ext cx="914400" cy="914400"/>
          </a:xfrm>
          <a:prstGeom prst="ellipse">
            <a:avLst/>
          </a:prstGeom>
          <a:solidFill>
            <a:schemeClr val="bg1"/>
          </a:solidFill>
          <a:ln w="19050">
            <a:solidFill>
              <a:schemeClr val="tx1"/>
            </a:solidFill>
            <a:prstDash val="solid"/>
          </a:ln>
        </p:spPr>
      </p:sp>
      <p:pic>
        <p:nvPicPr>
          <p:cNvPr id="13" name="Image 2" descr="Ikon FcContacts">    </p:cNvPr>
          <p:cNvPicPr>
            <a:picLocks noChangeAspect="1"/>
          </p:cNvPicPr>
          <p:nvPr/>
        </p:nvPicPr>
        <p:blipFill>
          <a:blip r:embed="rId3"/>
          <a:stretch>
            <a:fillRect/>
          </a:stretch>
        </p:blipFill>
        <p:spPr>
          <a:xfrm>
            <a:off x="1060704" y="4398264"/>
            <a:ext cx="530352" cy="530352"/>
          </a:xfrm>
          <a:prstGeom prst="rect">
            <a:avLst/>
          </a:prstGeom>
        </p:spPr>
      </p:pic>
      <p:sp>
        <p:nvSpPr>
          <p:cNvPr id="14" name="Text 9"/>
          <p:cNvSpPr txBox="1"/>
          <p:nvPr/>
        </p:nvSpPr>
        <p:spPr>
          <a:xfrm>
            <a:off x="2057400" y="4023360"/>
            <a:ext cx="3611880" cy="1874520"/>
          </a:xfrm>
          <a:prstGeom prst="rect">
            <a:avLst/>
          </a:prstGeom>
          <a:noFill/>
          <a:ln/>
        </p:spPr>
        <p:txBody>
          <a:bodyPr wrap="square" lIns="0" tIns="0" rIns="0" bIns="0" rtlCol="0" anchor="ctr"/>
          <a:lstStyle/>
          <a:p>
            <a:pPr indent="0" marL="0">
              <a:buNone/>
            </a:pPr>
            <a:r>
              <a:rPr lang="en-US" sz="1800" b="1" dirty="0">
                <a:solidFill>
                  <a:schemeClr val="tx1"/>
                </a:solidFill>
              </a:rPr>
              <a:t>Penjemputan hanya mengandalkan ingatan pengasuh</a:t>
            </a:r>
            <a:endParaRPr lang="en-US" sz="1800" dirty="0"/>
          </a:p>
          <a:p>
            <a:pPr indent="0" marL="0">
              <a:buNone/>
            </a:pPr>
            <a:r>
              <a:rPr lang="en-US" sz="1300" dirty="0">
                <a:solidFill>
                  <a:schemeClr val="tx1"/>
                </a:solidFill>
              </a:rPr>
              <a:t>Tidak dicocokkan dengan daftar penjemput yang sah</a:t>
            </a:r>
            <a:endParaRPr lang="en-US" sz="1800" dirty="0"/>
          </a:p>
        </p:txBody>
      </p:sp>
      <p:sp>
        <p:nvSpPr>
          <p:cNvPr id="15" name="Kartu masalah 4"/>
          <p:cNvSpPr/>
          <p:nvPr/>
        </p:nvSpPr>
        <p:spPr>
          <a:xfrm>
            <a:off x="6263640" y="3840480"/>
            <a:ext cx="5349240" cy="2240280"/>
          </a:xfrm>
          <a:prstGeom prst="roundRect">
            <a:avLst>
              <a:gd name="adj" fmla="val 5714"/>
            </a:avLst>
          </a:prstGeom>
          <a:solidFill>
            <a:schemeClr val="accent4"/>
          </a:solidFill>
          <a:ln w="19050">
            <a:solidFill>
              <a:schemeClr val="tx1"/>
            </a:solidFill>
            <a:prstDash val="solid"/>
          </a:ln>
        </p:spPr>
      </p:sp>
      <p:sp>
        <p:nvSpPr>
          <p:cNvPr id="16" name="Lingkaran ikon FcPuzzle"/>
          <p:cNvSpPr/>
          <p:nvPr/>
        </p:nvSpPr>
        <p:spPr>
          <a:xfrm>
            <a:off x="6583680" y="4206240"/>
            <a:ext cx="914400" cy="914400"/>
          </a:xfrm>
          <a:prstGeom prst="ellipse">
            <a:avLst/>
          </a:prstGeom>
          <a:solidFill>
            <a:schemeClr val="bg1"/>
          </a:solidFill>
          <a:ln w="19050">
            <a:solidFill>
              <a:schemeClr val="tx1"/>
            </a:solidFill>
            <a:prstDash val="solid"/>
          </a:ln>
        </p:spPr>
      </p:sp>
      <p:pic>
        <p:nvPicPr>
          <p:cNvPr id="17" name="Image 3" descr="Ikon FcPuzzle">    </p:cNvPr>
          <p:cNvPicPr>
            <a:picLocks noChangeAspect="1"/>
          </p:cNvPicPr>
          <p:nvPr/>
        </p:nvPicPr>
        <p:blipFill>
          <a:blip r:embed="rId4"/>
          <a:stretch>
            <a:fillRect/>
          </a:stretch>
        </p:blipFill>
        <p:spPr>
          <a:xfrm>
            <a:off x="6775704" y="4398264"/>
            <a:ext cx="530352" cy="530352"/>
          </a:xfrm>
          <a:prstGeom prst="rect">
            <a:avLst/>
          </a:prstGeom>
        </p:spPr>
      </p:pic>
      <p:sp>
        <p:nvSpPr>
          <p:cNvPr id="18" name="Text 12"/>
          <p:cNvSpPr txBox="1"/>
          <p:nvPr/>
        </p:nvSpPr>
        <p:spPr>
          <a:xfrm>
            <a:off x="7772400" y="4023360"/>
            <a:ext cx="3611880" cy="1874520"/>
          </a:xfrm>
          <a:prstGeom prst="rect">
            <a:avLst/>
          </a:prstGeom>
          <a:noFill/>
          <a:ln/>
        </p:spPr>
        <p:txBody>
          <a:bodyPr wrap="square" lIns="0" tIns="0" rIns="0" bIns="0" rtlCol="0" anchor="ctr"/>
          <a:lstStyle/>
          <a:p>
            <a:pPr indent="0" marL="0">
              <a:buNone/>
            </a:pPr>
            <a:r>
              <a:rPr lang="en-US" sz="1800" b="1" dirty="0">
                <a:solidFill>
                  <a:schemeClr val="tx1"/>
                </a:solidFill>
              </a:rPr>
              <a:t>Sistem penelitian sebelumnya terpisah-pisah</a:t>
            </a:r>
            <a:endParaRPr lang="en-US" sz="1800" dirty="0"/>
          </a:p>
          <a:p>
            <a:pPr indent="0" marL="0">
              <a:buNone/>
            </a:pPr>
            <a:r>
              <a:rPr lang="en-US" sz="1300" dirty="0">
                <a:solidFill>
                  <a:schemeClr val="tx1"/>
                </a:solidFill>
              </a:rPr>
              <a:t>Hanya menyelesaikan sebagian masalah, misalnya pendaftaran saja</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Tiga Aktor dan Hak Aksesnya</a:t>
            </a:r>
            <a:endParaRPr lang="en-US" sz="3600" dirty="0"/>
          </a:p>
        </p:txBody>
      </p:sp>
      <p:sp>
        <p:nvSpPr>
          <p:cNvPr id="3" name="Kartu aktor Admin"/>
          <p:cNvSpPr/>
          <p:nvPr/>
        </p:nvSpPr>
        <p:spPr>
          <a:xfrm>
            <a:off x="548640" y="1371600"/>
            <a:ext cx="3611880" cy="3840480"/>
          </a:xfrm>
          <a:prstGeom prst="roundRect">
            <a:avLst>
              <a:gd name="adj" fmla="val 3544"/>
            </a:avLst>
          </a:prstGeom>
          <a:solidFill>
            <a:schemeClr val="accent1"/>
          </a:solidFill>
          <a:ln w="19050">
            <a:solidFill>
              <a:schemeClr val="tx1"/>
            </a:solidFill>
            <a:prstDash val="solid"/>
          </a:ln>
        </p:spPr>
      </p:sp>
      <p:sp>
        <p:nvSpPr>
          <p:cNvPr id="4" name="Lingkaran ikon FcManager"/>
          <p:cNvSpPr/>
          <p:nvPr/>
        </p:nvSpPr>
        <p:spPr>
          <a:xfrm>
            <a:off x="822960" y="1645920"/>
            <a:ext cx="868680" cy="868680"/>
          </a:xfrm>
          <a:prstGeom prst="ellipse">
            <a:avLst/>
          </a:prstGeom>
          <a:solidFill>
            <a:schemeClr val="bg1"/>
          </a:solidFill>
          <a:ln w="19050">
            <a:solidFill>
              <a:schemeClr val="tx1"/>
            </a:solidFill>
            <a:prstDash val="solid"/>
          </a:ln>
        </p:spPr>
      </p:sp>
      <p:pic>
        <p:nvPicPr>
          <p:cNvPr id="5" name="Image 0" descr="Ikon FcManager">    </p:cNvPr>
          <p:cNvPicPr>
            <a:picLocks noChangeAspect="1"/>
          </p:cNvPicPr>
          <p:nvPr/>
        </p:nvPicPr>
        <p:blipFill>
          <a:blip r:embed="rId1"/>
          <a:stretch>
            <a:fillRect/>
          </a:stretch>
        </p:blipFill>
        <p:spPr>
          <a:xfrm>
            <a:off x="1005383" y="1828343"/>
            <a:ext cx="503834" cy="503834"/>
          </a:xfrm>
          <a:prstGeom prst="rect">
            <a:avLst/>
          </a:prstGeom>
        </p:spPr>
      </p:pic>
      <p:sp>
        <p:nvSpPr>
          <p:cNvPr id="6" name="Text 3"/>
          <p:cNvSpPr txBox="1"/>
          <p:nvPr/>
        </p:nvSpPr>
        <p:spPr>
          <a:xfrm>
            <a:off x="1874520" y="1645920"/>
            <a:ext cx="2057400" cy="868680"/>
          </a:xfrm>
          <a:prstGeom prst="rect">
            <a:avLst/>
          </a:prstGeom>
          <a:noFill/>
          <a:ln/>
        </p:spPr>
        <p:txBody>
          <a:bodyPr wrap="square" lIns="0" tIns="0" rIns="0" bIns="0" rtlCol="0" anchor="ctr"/>
          <a:lstStyle/>
          <a:p>
            <a:pPr indent="0" marL="0">
              <a:buNone/>
            </a:pPr>
            <a:r>
              <a:rPr lang="en-US" sz="2600" b="1" dirty="0">
                <a:solidFill>
                  <a:schemeClr val="tx1"/>
                </a:solidFill>
              </a:rPr>
              <a:t>Admin</a:t>
            </a:r>
            <a:endParaRPr lang="en-US" sz="2600" dirty="0"/>
          </a:p>
        </p:txBody>
      </p:sp>
      <p:sp>
        <p:nvSpPr>
          <p:cNvPr id="7" name="Text 4"/>
          <p:cNvSpPr txBox="1"/>
          <p:nvPr/>
        </p:nvSpPr>
        <p:spPr>
          <a:xfrm>
            <a:off x="822960" y="2743200"/>
            <a:ext cx="306324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Kelola akun pengguna</a:t>
            </a:r>
            <a:endParaRPr lang="en-US" sz="1600" dirty="0"/>
          </a:p>
          <a:p>
            <a:pPr marL="342900" indent="-342900">
              <a:spcAft>
                <a:spcPts val="800"/>
              </a:spcAft>
              <a:buSzPct val="100000"/>
              <a:buChar char="•"/>
            </a:pPr>
            <a:r>
              <a:rPr lang="en-US" sz="1600" dirty="0">
                <a:solidFill>
                  <a:schemeClr val="tx1"/>
                </a:solidFill>
              </a:rPr>
              <a:t>Kelola master data</a:t>
            </a:r>
            <a:endParaRPr lang="en-US" sz="1600" dirty="0"/>
          </a:p>
          <a:p>
            <a:pPr marL="342900" indent="-342900">
              <a:spcAft>
                <a:spcPts val="800"/>
              </a:spcAft>
              <a:buSzPct val="100000"/>
              <a:buChar char="•"/>
            </a:pPr>
            <a:r>
              <a:rPr lang="en-US" sz="1600" dirty="0">
                <a:solidFill>
                  <a:schemeClr val="tx1"/>
                </a:solidFill>
              </a:rPr>
              <a:t>Verifikasi pendaftaran dan pembayaran</a:t>
            </a:r>
            <a:endParaRPr lang="en-US" sz="1600" dirty="0"/>
          </a:p>
          <a:p>
            <a:pPr marL="342900" indent="-342900">
              <a:spcAft>
                <a:spcPts val="800"/>
              </a:spcAft>
              <a:buSzPct val="100000"/>
              <a:buChar char="•"/>
            </a:pPr>
            <a:r>
              <a:rPr lang="en-US" sz="1600" dirty="0">
                <a:solidFill>
                  <a:schemeClr val="tx1"/>
                </a:solidFill>
              </a:rPr>
              <a:t>Atur jadwal shift dan kegiatan</a:t>
            </a:r>
            <a:endParaRPr lang="en-US" sz="1600" dirty="0"/>
          </a:p>
        </p:txBody>
      </p:sp>
      <p:sp>
        <p:nvSpPr>
          <p:cNvPr id="8" name="Kartu aktor Pengasuh"/>
          <p:cNvSpPr/>
          <p:nvPr/>
        </p:nvSpPr>
        <p:spPr>
          <a:xfrm>
            <a:off x="4334256" y="1371600"/>
            <a:ext cx="3611880" cy="3840480"/>
          </a:xfrm>
          <a:prstGeom prst="roundRect">
            <a:avLst>
              <a:gd name="adj" fmla="val 3544"/>
            </a:avLst>
          </a:prstGeom>
          <a:solidFill>
            <a:schemeClr val="accent2"/>
          </a:solidFill>
          <a:ln w="19050">
            <a:solidFill>
              <a:schemeClr val="tx1"/>
            </a:solidFill>
            <a:prstDash val="solid"/>
          </a:ln>
        </p:spPr>
      </p:sp>
      <p:sp>
        <p:nvSpPr>
          <p:cNvPr id="9" name="Lingkaran ikon FcLike"/>
          <p:cNvSpPr/>
          <p:nvPr/>
        </p:nvSpPr>
        <p:spPr>
          <a:xfrm>
            <a:off x="4608576" y="1645920"/>
            <a:ext cx="868680" cy="868680"/>
          </a:xfrm>
          <a:prstGeom prst="ellipse">
            <a:avLst/>
          </a:prstGeom>
          <a:solidFill>
            <a:schemeClr val="bg1"/>
          </a:solidFill>
          <a:ln w="19050">
            <a:solidFill>
              <a:schemeClr val="tx1"/>
            </a:solidFill>
            <a:prstDash val="solid"/>
          </a:ln>
        </p:spPr>
      </p:sp>
      <p:pic>
        <p:nvPicPr>
          <p:cNvPr id="10" name="Image 1" descr="Ikon FcLike">    </p:cNvPr>
          <p:cNvPicPr>
            <a:picLocks noChangeAspect="1"/>
          </p:cNvPicPr>
          <p:nvPr/>
        </p:nvPicPr>
        <p:blipFill>
          <a:blip r:embed="rId2"/>
          <a:stretch>
            <a:fillRect/>
          </a:stretch>
        </p:blipFill>
        <p:spPr>
          <a:xfrm>
            <a:off x="4790999" y="1828343"/>
            <a:ext cx="503834" cy="503834"/>
          </a:xfrm>
          <a:prstGeom prst="rect">
            <a:avLst/>
          </a:prstGeom>
        </p:spPr>
      </p:pic>
      <p:sp>
        <p:nvSpPr>
          <p:cNvPr id="11" name="Text 7"/>
          <p:cNvSpPr txBox="1"/>
          <p:nvPr/>
        </p:nvSpPr>
        <p:spPr>
          <a:xfrm>
            <a:off x="5660136" y="1645920"/>
            <a:ext cx="2057400" cy="868680"/>
          </a:xfrm>
          <a:prstGeom prst="rect">
            <a:avLst/>
          </a:prstGeom>
          <a:noFill/>
          <a:ln/>
        </p:spPr>
        <p:txBody>
          <a:bodyPr wrap="square" lIns="0" tIns="0" rIns="0" bIns="0" rtlCol="0" anchor="ctr"/>
          <a:lstStyle/>
          <a:p>
            <a:pPr indent="0" marL="0">
              <a:buNone/>
            </a:pPr>
            <a:r>
              <a:rPr lang="en-US" sz="2600" b="1" dirty="0">
                <a:solidFill>
                  <a:schemeClr val="tx1"/>
                </a:solidFill>
              </a:rPr>
              <a:t>Pengasuh</a:t>
            </a:r>
            <a:endParaRPr lang="en-US" sz="2600" dirty="0"/>
          </a:p>
        </p:txBody>
      </p:sp>
      <p:sp>
        <p:nvSpPr>
          <p:cNvPr id="12" name="Text 8"/>
          <p:cNvSpPr txBox="1"/>
          <p:nvPr/>
        </p:nvSpPr>
        <p:spPr>
          <a:xfrm>
            <a:off x="4608576" y="2743200"/>
            <a:ext cx="306324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Check-in dan check-out</a:t>
            </a:r>
            <a:endParaRPr lang="en-US" sz="1600" dirty="0"/>
          </a:p>
          <a:p>
            <a:pPr marL="342900" indent="-342900">
              <a:spcAft>
                <a:spcPts val="800"/>
              </a:spcAft>
              <a:buSzPct val="100000"/>
              <a:buChar char="•"/>
            </a:pPr>
            <a:r>
              <a:rPr lang="en-US" sz="1600" dirty="0">
                <a:solidFill>
                  <a:schemeClr val="tx1"/>
                </a:solidFill>
              </a:rPr>
              <a:t>Laporan harian</a:t>
            </a:r>
            <a:endParaRPr lang="en-US" sz="1600" dirty="0"/>
          </a:p>
          <a:p>
            <a:pPr marL="342900" indent="-342900">
              <a:spcAft>
                <a:spcPts val="800"/>
              </a:spcAft>
              <a:buSzPct val="100000"/>
              <a:buChar char="•"/>
            </a:pPr>
            <a:r>
              <a:rPr lang="en-US" sz="1600" dirty="0">
                <a:solidFill>
                  <a:schemeClr val="tx1"/>
                </a:solidFill>
              </a:rPr>
              <a:t>Foto kegiatan</a:t>
            </a:r>
            <a:endParaRPr lang="en-US" sz="1600" dirty="0"/>
          </a:p>
          <a:p>
            <a:pPr marL="342900" indent="-342900">
              <a:spcAft>
                <a:spcPts val="800"/>
              </a:spcAft>
              <a:buSzPct val="100000"/>
              <a:buChar char="•"/>
            </a:pPr>
            <a:r>
              <a:rPr lang="en-US" sz="1600" dirty="0">
                <a:solidFill>
                  <a:schemeClr val="tx1"/>
                </a:solidFill>
              </a:rPr>
              <a:t>Laporan insiden</a:t>
            </a:r>
            <a:endParaRPr lang="en-US" sz="1600" dirty="0"/>
          </a:p>
          <a:p>
            <a:pPr marL="342900" indent="-342900">
              <a:spcAft>
                <a:spcPts val="800"/>
              </a:spcAft>
              <a:buSzPct val="100000"/>
              <a:buChar char="•"/>
            </a:pPr>
            <a:r>
              <a:rPr lang="en-US" sz="1600" dirty="0">
                <a:solidFill>
                  <a:schemeClr val="tx1"/>
                </a:solidFill>
              </a:rPr>
              <a:t>Penilaian bulanan</a:t>
            </a:r>
            <a:endParaRPr lang="en-US" sz="1600" dirty="0"/>
          </a:p>
        </p:txBody>
      </p:sp>
      <p:sp>
        <p:nvSpPr>
          <p:cNvPr id="13" name="Kartu aktor Orang Tua"/>
          <p:cNvSpPr/>
          <p:nvPr/>
        </p:nvSpPr>
        <p:spPr>
          <a:xfrm>
            <a:off x="8119872" y="1371600"/>
            <a:ext cx="3611880" cy="3840480"/>
          </a:xfrm>
          <a:prstGeom prst="roundRect">
            <a:avLst>
              <a:gd name="adj" fmla="val 3544"/>
            </a:avLst>
          </a:prstGeom>
          <a:solidFill>
            <a:schemeClr val="accent3"/>
          </a:solidFill>
          <a:ln w="19050">
            <a:solidFill>
              <a:schemeClr val="tx1"/>
            </a:solidFill>
            <a:prstDash val="solid"/>
          </a:ln>
        </p:spPr>
      </p:sp>
      <p:sp>
        <p:nvSpPr>
          <p:cNvPr id="14" name="Lingkaran ikon FcHome"/>
          <p:cNvSpPr/>
          <p:nvPr/>
        </p:nvSpPr>
        <p:spPr>
          <a:xfrm>
            <a:off x="8394192" y="1645920"/>
            <a:ext cx="868680" cy="868680"/>
          </a:xfrm>
          <a:prstGeom prst="ellipse">
            <a:avLst/>
          </a:prstGeom>
          <a:solidFill>
            <a:schemeClr val="bg1"/>
          </a:solidFill>
          <a:ln w="19050">
            <a:solidFill>
              <a:schemeClr val="tx1"/>
            </a:solidFill>
            <a:prstDash val="solid"/>
          </a:ln>
        </p:spPr>
      </p:sp>
      <p:pic>
        <p:nvPicPr>
          <p:cNvPr id="15" name="Image 2" descr="Ikon FcHome">    </p:cNvPr>
          <p:cNvPicPr>
            <a:picLocks noChangeAspect="1"/>
          </p:cNvPicPr>
          <p:nvPr/>
        </p:nvPicPr>
        <p:blipFill>
          <a:blip r:embed="rId3"/>
          <a:stretch>
            <a:fillRect/>
          </a:stretch>
        </p:blipFill>
        <p:spPr>
          <a:xfrm>
            <a:off x="8576615" y="1828343"/>
            <a:ext cx="503834" cy="503834"/>
          </a:xfrm>
          <a:prstGeom prst="rect">
            <a:avLst/>
          </a:prstGeom>
        </p:spPr>
      </p:pic>
      <p:sp>
        <p:nvSpPr>
          <p:cNvPr id="16" name="Text 11"/>
          <p:cNvSpPr txBox="1"/>
          <p:nvPr/>
        </p:nvSpPr>
        <p:spPr>
          <a:xfrm>
            <a:off x="9445752" y="1645920"/>
            <a:ext cx="2057400" cy="868680"/>
          </a:xfrm>
          <a:prstGeom prst="rect">
            <a:avLst/>
          </a:prstGeom>
          <a:noFill/>
          <a:ln/>
        </p:spPr>
        <p:txBody>
          <a:bodyPr wrap="square" lIns="0" tIns="0" rIns="0" bIns="0" rtlCol="0" anchor="ctr"/>
          <a:lstStyle/>
          <a:p>
            <a:pPr indent="0" marL="0">
              <a:buNone/>
            </a:pPr>
            <a:r>
              <a:rPr lang="en-US" sz="2600" b="1" dirty="0">
                <a:solidFill>
                  <a:schemeClr val="tx1"/>
                </a:solidFill>
              </a:rPr>
              <a:t>Orang Tua</a:t>
            </a:r>
            <a:endParaRPr lang="en-US" sz="2600" dirty="0"/>
          </a:p>
        </p:txBody>
      </p:sp>
      <p:sp>
        <p:nvSpPr>
          <p:cNvPr id="17" name="Text 12"/>
          <p:cNvSpPr txBox="1"/>
          <p:nvPr/>
        </p:nvSpPr>
        <p:spPr>
          <a:xfrm>
            <a:off x="8394192" y="2743200"/>
            <a:ext cx="306324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Daftar dan isi data anak</a:t>
            </a:r>
            <a:endParaRPr lang="en-US" sz="1600" dirty="0"/>
          </a:p>
          <a:p>
            <a:pPr marL="342900" indent="-342900">
              <a:spcAft>
                <a:spcPts val="800"/>
              </a:spcAft>
              <a:buSzPct val="100000"/>
              <a:buChar char="•"/>
            </a:pPr>
            <a:r>
              <a:rPr lang="en-US" sz="1600" dirty="0">
                <a:solidFill>
                  <a:schemeClr val="tx1"/>
                </a:solidFill>
              </a:rPr>
              <a:t>Bayar tagihan</a:t>
            </a:r>
            <a:endParaRPr lang="en-US" sz="1600" dirty="0"/>
          </a:p>
          <a:p>
            <a:pPr marL="342900" indent="-342900">
              <a:spcAft>
                <a:spcPts val="800"/>
              </a:spcAft>
              <a:buSzPct val="100000"/>
              <a:buChar char="•"/>
            </a:pPr>
            <a:r>
              <a:rPr lang="en-US" sz="1600" dirty="0">
                <a:solidFill>
                  <a:schemeClr val="tx1"/>
                </a:solidFill>
              </a:rPr>
              <a:t>Pantau laporan harian dan perkembangan anak</a:t>
            </a:r>
            <a:endParaRPr lang="en-US" sz="1600" dirty="0"/>
          </a:p>
        </p:txBody>
      </p:sp>
      <p:sp>
        <p:nvSpPr>
          <p:cNvPr id="18" name="Banner RBAC"/>
          <p:cNvSpPr/>
          <p:nvPr/>
        </p:nvSpPr>
        <p:spPr>
          <a:xfrm>
            <a:off x="548640" y="5440680"/>
            <a:ext cx="11064240" cy="777240"/>
          </a:xfrm>
          <a:prstGeom prst="roundRect">
            <a:avLst>
              <a:gd name="adj" fmla="val 16471"/>
            </a:avLst>
          </a:prstGeom>
          <a:solidFill>
            <a:schemeClr val="tx1"/>
          </a:solidFill>
          <a:ln w="19050">
            <a:solidFill>
              <a:schemeClr val="tx1"/>
            </a:solidFill>
            <a:prstDash val="solid"/>
          </a:ln>
        </p:spPr>
      </p:sp>
      <p:pic>
        <p:nvPicPr>
          <p:cNvPr id="19" name="Image 3" descr="Ikon gembok">    </p:cNvPr>
          <p:cNvPicPr>
            <a:picLocks noChangeAspect="1"/>
          </p:cNvPicPr>
          <p:nvPr/>
        </p:nvPicPr>
        <p:blipFill>
          <a:blip r:embed="rId4"/>
          <a:stretch>
            <a:fillRect/>
          </a:stretch>
        </p:blipFill>
        <p:spPr>
          <a:xfrm>
            <a:off x="868680" y="5650992"/>
            <a:ext cx="365760" cy="365760"/>
          </a:xfrm>
          <a:prstGeom prst="rect">
            <a:avLst/>
          </a:prstGeom>
        </p:spPr>
      </p:pic>
      <p:sp>
        <p:nvSpPr>
          <p:cNvPr id="20" name="Text 14"/>
          <p:cNvSpPr txBox="1"/>
          <p:nvPr/>
        </p:nvSpPr>
        <p:spPr>
          <a:xfrm>
            <a:off x="1463040" y="5440680"/>
            <a:ext cx="9966960" cy="777240"/>
          </a:xfrm>
          <a:prstGeom prst="rect">
            <a:avLst/>
          </a:prstGeom>
          <a:noFill/>
          <a:ln/>
        </p:spPr>
        <p:txBody>
          <a:bodyPr wrap="square" lIns="0" tIns="0" rIns="0" bIns="0" rtlCol="0" anchor="ctr"/>
          <a:lstStyle/>
          <a:p>
            <a:pPr indent="0" marL="0">
              <a:buNone/>
            </a:pPr>
            <a:r>
              <a:rPr lang="en-US" sz="1600" b="1" dirty="0">
                <a:solidFill>
                  <a:schemeClr val="bg1"/>
                </a:solidFill>
              </a:rPr>
              <a:t>Satu login untuk semua. </a:t>
            </a:r>
            <a:pPr indent="0" marL="0">
              <a:buNone/>
            </a:pPr>
            <a:r>
              <a:rPr lang="en-US" sz="1600" dirty="0">
                <a:solidFill>
                  <a:schemeClr val="bg1"/>
                </a:solidFill>
              </a:rPr>
              <a:t>Sistem baca role lalu arahkan ke halaman sesuai (RBAC)</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Enam Modul Fitur</a:t>
            </a:r>
            <a:endParaRPr lang="en-US" sz="3600" dirty="0"/>
          </a:p>
        </p:txBody>
      </p:sp>
      <p:sp>
        <p:nvSpPr>
          <p:cNvPr id="3" name="Kartu modul 1"/>
          <p:cNvSpPr/>
          <p:nvPr/>
        </p:nvSpPr>
        <p:spPr>
          <a:xfrm>
            <a:off x="548640" y="1371600"/>
            <a:ext cx="3611880" cy="2331720"/>
          </a:xfrm>
          <a:prstGeom prst="roundRect">
            <a:avLst>
              <a:gd name="adj" fmla="val 5490"/>
            </a:avLst>
          </a:prstGeom>
          <a:solidFill>
            <a:schemeClr val="accent1"/>
          </a:solidFill>
          <a:ln w="19050">
            <a:solidFill>
              <a:schemeClr val="tx1"/>
            </a:solidFill>
            <a:prstDash val="solid"/>
          </a:ln>
        </p:spPr>
      </p:sp>
      <p:sp>
        <p:nvSpPr>
          <p:cNvPr id="4" name="Lingkaran ikon FcKey"/>
          <p:cNvSpPr/>
          <p:nvPr/>
        </p:nvSpPr>
        <p:spPr>
          <a:xfrm>
            <a:off x="822960" y="1600200"/>
            <a:ext cx="731520" cy="731520"/>
          </a:xfrm>
          <a:prstGeom prst="ellipse">
            <a:avLst/>
          </a:prstGeom>
          <a:solidFill>
            <a:schemeClr val="bg1"/>
          </a:solidFill>
          <a:ln w="19050">
            <a:solidFill>
              <a:schemeClr val="tx1"/>
            </a:solidFill>
            <a:prstDash val="solid"/>
          </a:ln>
        </p:spPr>
      </p:sp>
      <p:pic>
        <p:nvPicPr>
          <p:cNvPr id="5" name="Image 0" descr="Ikon FcKey">    </p:cNvPr>
          <p:cNvPicPr>
            <a:picLocks noChangeAspect="1"/>
          </p:cNvPicPr>
          <p:nvPr/>
        </p:nvPicPr>
        <p:blipFill>
          <a:blip r:embed="rId1"/>
          <a:stretch>
            <a:fillRect/>
          </a:stretch>
        </p:blipFill>
        <p:spPr>
          <a:xfrm>
            <a:off x="976579" y="1753819"/>
            <a:ext cx="424282" cy="424282"/>
          </a:xfrm>
          <a:prstGeom prst="rect">
            <a:avLst/>
          </a:prstGeom>
        </p:spPr>
      </p:pic>
      <p:sp>
        <p:nvSpPr>
          <p:cNvPr id="6" name="Text 3"/>
          <p:cNvSpPr txBox="1"/>
          <p:nvPr/>
        </p:nvSpPr>
        <p:spPr>
          <a:xfrm>
            <a:off x="2971800" y="1554480"/>
            <a:ext cx="914400" cy="731520"/>
          </a:xfrm>
          <a:prstGeom prst="rect">
            <a:avLst/>
          </a:prstGeom>
          <a:noFill/>
          <a:ln/>
        </p:spPr>
        <p:txBody>
          <a:bodyPr wrap="square" lIns="0" tIns="0" rIns="0" bIns="0" rtlCol="0" anchor="ctr"/>
          <a:lstStyle/>
          <a:p>
            <a:pPr algn="r" indent="0" marL="0">
              <a:buNone/>
            </a:pPr>
            <a:r>
              <a:rPr lang="en-US" sz="3200" b="1" dirty="0">
                <a:solidFill>
                  <a:schemeClr val="tx1"/>
                </a:solidFill>
              </a:rPr>
              <a:t>01</a:t>
            </a:r>
            <a:endParaRPr lang="en-US" sz="3200" dirty="0"/>
          </a:p>
        </p:txBody>
      </p:sp>
      <p:sp>
        <p:nvSpPr>
          <p:cNvPr id="7" name="Text 4"/>
          <p:cNvSpPr txBox="1"/>
          <p:nvPr/>
        </p:nvSpPr>
        <p:spPr>
          <a:xfrm>
            <a:off x="822960" y="2468880"/>
            <a:ext cx="3063240" cy="1143000"/>
          </a:xfrm>
          <a:prstGeom prst="rect">
            <a:avLst/>
          </a:prstGeom>
          <a:noFill/>
          <a:ln/>
        </p:spPr>
        <p:txBody>
          <a:bodyPr wrap="square" lIns="0" tIns="0" rIns="0" bIns="0" rtlCol="0" anchor="t"/>
          <a:lstStyle/>
          <a:p>
            <a:pPr indent="0" marL="0">
              <a:buNone/>
            </a:pPr>
            <a:r>
              <a:rPr lang="en-US" sz="1800" b="1" dirty="0">
                <a:solidFill>
                  <a:schemeClr val="tx1"/>
                </a:solidFill>
              </a:rPr>
              <a:t>Akun dan Akses</a:t>
            </a:r>
            <a:endParaRPr lang="en-US" sz="1800" dirty="0"/>
          </a:p>
          <a:p>
            <a:pPr indent="0" marL="0">
              <a:buNone/>
            </a:pPr>
            <a:r>
              <a:rPr lang="en-US" sz="1400" dirty="0">
                <a:solidFill>
                  <a:schemeClr val="tx1"/>
                </a:solidFill>
              </a:rPr>
              <a:t>Login satu pintu, peran, dan profil</a:t>
            </a:r>
            <a:endParaRPr lang="en-US" sz="1800" dirty="0"/>
          </a:p>
        </p:txBody>
      </p:sp>
      <p:sp>
        <p:nvSpPr>
          <p:cNvPr id="8" name="Kartu modul 2"/>
          <p:cNvSpPr/>
          <p:nvPr/>
        </p:nvSpPr>
        <p:spPr>
          <a:xfrm>
            <a:off x="4334256" y="1371600"/>
            <a:ext cx="3611880" cy="2331720"/>
          </a:xfrm>
          <a:prstGeom prst="roundRect">
            <a:avLst>
              <a:gd name="adj" fmla="val 5490"/>
            </a:avLst>
          </a:prstGeom>
          <a:solidFill>
            <a:schemeClr val="accent2"/>
          </a:solidFill>
          <a:ln w="19050">
            <a:solidFill>
              <a:schemeClr val="tx1"/>
            </a:solidFill>
            <a:prstDash val="solid"/>
          </a:ln>
        </p:spPr>
      </p:sp>
      <p:sp>
        <p:nvSpPr>
          <p:cNvPr id="9" name="Lingkaran ikon FcDatabase"/>
          <p:cNvSpPr/>
          <p:nvPr/>
        </p:nvSpPr>
        <p:spPr>
          <a:xfrm>
            <a:off x="4608576" y="1600200"/>
            <a:ext cx="731520" cy="731520"/>
          </a:xfrm>
          <a:prstGeom prst="ellipse">
            <a:avLst/>
          </a:prstGeom>
          <a:solidFill>
            <a:schemeClr val="bg1"/>
          </a:solidFill>
          <a:ln w="19050">
            <a:solidFill>
              <a:schemeClr val="tx1"/>
            </a:solidFill>
            <a:prstDash val="solid"/>
          </a:ln>
        </p:spPr>
      </p:sp>
      <p:pic>
        <p:nvPicPr>
          <p:cNvPr id="10" name="Image 1" descr="Ikon FcDatabase">    </p:cNvPr>
          <p:cNvPicPr>
            <a:picLocks noChangeAspect="1"/>
          </p:cNvPicPr>
          <p:nvPr/>
        </p:nvPicPr>
        <p:blipFill>
          <a:blip r:embed="rId2"/>
          <a:stretch>
            <a:fillRect/>
          </a:stretch>
        </p:blipFill>
        <p:spPr>
          <a:xfrm>
            <a:off x="4762195" y="1753819"/>
            <a:ext cx="424282" cy="424282"/>
          </a:xfrm>
          <a:prstGeom prst="rect">
            <a:avLst/>
          </a:prstGeom>
        </p:spPr>
      </p:pic>
      <p:sp>
        <p:nvSpPr>
          <p:cNvPr id="11" name="Text 7"/>
          <p:cNvSpPr txBox="1"/>
          <p:nvPr/>
        </p:nvSpPr>
        <p:spPr>
          <a:xfrm>
            <a:off x="6757416" y="1554480"/>
            <a:ext cx="914400" cy="731520"/>
          </a:xfrm>
          <a:prstGeom prst="rect">
            <a:avLst/>
          </a:prstGeom>
          <a:noFill/>
          <a:ln/>
        </p:spPr>
        <p:txBody>
          <a:bodyPr wrap="square" lIns="0" tIns="0" rIns="0" bIns="0" rtlCol="0" anchor="ctr"/>
          <a:lstStyle/>
          <a:p>
            <a:pPr algn="r" indent="0" marL="0">
              <a:buNone/>
            </a:pPr>
            <a:r>
              <a:rPr lang="en-US" sz="3200" b="1" dirty="0">
                <a:solidFill>
                  <a:schemeClr val="tx1"/>
                </a:solidFill>
              </a:rPr>
              <a:t>02</a:t>
            </a:r>
            <a:endParaRPr lang="en-US" sz="3200" dirty="0"/>
          </a:p>
        </p:txBody>
      </p:sp>
      <p:sp>
        <p:nvSpPr>
          <p:cNvPr id="12" name="Text 8"/>
          <p:cNvSpPr txBox="1"/>
          <p:nvPr/>
        </p:nvSpPr>
        <p:spPr>
          <a:xfrm>
            <a:off x="4608576" y="2468880"/>
            <a:ext cx="3063240" cy="1143000"/>
          </a:xfrm>
          <a:prstGeom prst="rect">
            <a:avLst/>
          </a:prstGeom>
          <a:noFill/>
          <a:ln/>
        </p:spPr>
        <p:txBody>
          <a:bodyPr wrap="square" lIns="0" tIns="0" rIns="0" bIns="0" rtlCol="0" anchor="t"/>
          <a:lstStyle/>
          <a:p>
            <a:pPr indent="0" marL="0">
              <a:buNone/>
            </a:pPr>
            <a:r>
              <a:rPr lang="en-US" sz="1800" b="1" dirty="0">
                <a:solidFill>
                  <a:schemeClr val="tx1"/>
                </a:solidFill>
              </a:rPr>
              <a:t>Master Data</a:t>
            </a:r>
            <a:endParaRPr lang="en-US" sz="1800" dirty="0"/>
          </a:p>
          <a:p>
            <a:pPr indent="0" marL="0">
              <a:buNone/>
            </a:pPr>
            <a:r>
              <a:rPr lang="en-US" sz="1400" dirty="0">
                <a:solidFill>
                  <a:schemeClr val="tx1"/>
                </a:solidFill>
              </a:rPr>
              <a:t>Kelompok usia, paket, menu makan, pengumuman</a:t>
            </a:r>
            <a:endParaRPr lang="en-US" sz="1800" dirty="0"/>
          </a:p>
        </p:txBody>
      </p:sp>
      <p:sp>
        <p:nvSpPr>
          <p:cNvPr id="13" name="Kartu modul 3"/>
          <p:cNvSpPr/>
          <p:nvPr/>
        </p:nvSpPr>
        <p:spPr>
          <a:xfrm>
            <a:off x="8119872" y="1371600"/>
            <a:ext cx="3611880" cy="2331720"/>
          </a:xfrm>
          <a:prstGeom prst="roundRect">
            <a:avLst>
              <a:gd name="adj" fmla="val 5490"/>
            </a:avLst>
          </a:prstGeom>
          <a:solidFill>
            <a:schemeClr val="accent3"/>
          </a:solidFill>
          <a:ln w="19050">
            <a:solidFill>
              <a:schemeClr val="tx1"/>
            </a:solidFill>
            <a:prstDash val="solid"/>
          </a:ln>
        </p:spPr>
      </p:sp>
      <p:sp>
        <p:nvSpPr>
          <p:cNvPr id="14" name="Lingkaran ikon FcMoneyTransfer"/>
          <p:cNvSpPr/>
          <p:nvPr/>
        </p:nvSpPr>
        <p:spPr>
          <a:xfrm>
            <a:off x="8394192" y="1600200"/>
            <a:ext cx="731520" cy="731520"/>
          </a:xfrm>
          <a:prstGeom prst="ellipse">
            <a:avLst/>
          </a:prstGeom>
          <a:solidFill>
            <a:schemeClr val="bg1"/>
          </a:solidFill>
          <a:ln w="19050">
            <a:solidFill>
              <a:schemeClr val="tx1"/>
            </a:solidFill>
            <a:prstDash val="solid"/>
          </a:ln>
        </p:spPr>
      </p:sp>
      <p:pic>
        <p:nvPicPr>
          <p:cNvPr id="15" name="Image 2" descr="Ikon FcMoneyTransfer">    </p:cNvPr>
          <p:cNvPicPr>
            <a:picLocks noChangeAspect="1"/>
          </p:cNvPicPr>
          <p:nvPr/>
        </p:nvPicPr>
        <p:blipFill>
          <a:blip r:embed="rId3"/>
          <a:stretch>
            <a:fillRect/>
          </a:stretch>
        </p:blipFill>
        <p:spPr>
          <a:xfrm>
            <a:off x="8547811" y="1753819"/>
            <a:ext cx="424282" cy="424282"/>
          </a:xfrm>
          <a:prstGeom prst="rect">
            <a:avLst/>
          </a:prstGeom>
        </p:spPr>
      </p:pic>
      <p:sp>
        <p:nvSpPr>
          <p:cNvPr id="16" name="Text 11"/>
          <p:cNvSpPr txBox="1"/>
          <p:nvPr/>
        </p:nvSpPr>
        <p:spPr>
          <a:xfrm>
            <a:off x="10543032" y="1554480"/>
            <a:ext cx="914400" cy="731520"/>
          </a:xfrm>
          <a:prstGeom prst="rect">
            <a:avLst/>
          </a:prstGeom>
          <a:noFill/>
          <a:ln/>
        </p:spPr>
        <p:txBody>
          <a:bodyPr wrap="square" lIns="0" tIns="0" rIns="0" bIns="0" rtlCol="0" anchor="ctr"/>
          <a:lstStyle/>
          <a:p>
            <a:pPr algn="r" indent="0" marL="0">
              <a:buNone/>
            </a:pPr>
            <a:r>
              <a:rPr lang="en-US" sz="3200" b="1" dirty="0">
                <a:solidFill>
                  <a:schemeClr val="tx1"/>
                </a:solidFill>
              </a:rPr>
              <a:t>03</a:t>
            </a:r>
            <a:endParaRPr lang="en-US" sz="3200" dirty="0"/>
          </a:p>
        </p:txBody>
      </p:sp>
      <p:sp>
        <p:nvSpPr>
          <p:cNvPr id="17" name="Text 12"/>
          <p:cNvSpPr txBox="1"/>
          <p:nvPr/>
        </p:nvSpPr>
        <p:spPr>
          <a:xfrm>
            <a:off x="8394192" y="2468880"/>
            <a:ext cx="3063240" cy="1143000"/>
          </a:xfrm>
          <a:prstGeom prst="rect">
            <a:avLst/>
          </a:prstGeom>
          <a:noFill/>
          <a:ln/>
        </p:spPr>
        <p:txBody>
          <a:bodyPr wrap="square" lIns="0" tIns="0" rIns="0" bIns="0" rtlCol="0" anchor="t"/>
          <a:lstStyle/>
          <a:p>
            <a:pPr indent="0" marL="0">
              <a:buNone/>
            </a:pPr>
            <a:r>
              <a:rPr lang="en-US" sz="1800" b="1" dirty="0">
                <a:solidFill>
                  <a:schemeClr val="tx1"/>
                </a:solidFill>
              </a:rPr>
              <a:t>Pendaftaran dan Keuangan</a:t>
            </a:r>
            <a:endParaRPr lang="en-US" sz="1800" dirty="0"/>
          </a:p>
          <a:p>
            <a:pPr indent="0" marL="0">
              <a:buNone/>
            </a:pPr>
            <a:r>
              <a:rPr lang="en-US" sz="1400" dirty="0">
                <a:solidFill>
                  <a:schemeClr val="tx1"/>
                </a:solidFill>
              </a:rPr>
              <a:t>Pendaftaran, tagihan, verifikasi pembayaran</a:t>
            </a:r>
            <a:endParaRPr lang="en-US" sz="1800" dirty="0"/>
          </a:p>
        </p:txBody>
      </p:sp>
      <p:sp>
        <p:nvSpPr>
          <p:cNvPr id="18" name="Kartu modul 4"/>
          <p:cNvSpPr/>
          <p:nvPr/>
        </p:nvSpPr>
        <p:spPr>
          <a:xfrm>
            <a:off x="548640" y="3886200"/>
            <a:ext cx="3611880" cy="2331720"/>
          </a:xfrm>
          <a:prstGeom prst="roundRect">
            <a:avLst>
              <a:gd name="adj" fmla="val 5490"/>
            </a:avLst>
          </a:prstGeom>
          <a:solidFill>
            <a:schemeClr val="accent4"/>
          </a:solidFill>
          <a:ln w="19050">
            <a:solidFill>
              <a:schemeClr val="tx1"/>
            </a:solidFill>
            <a:prstDash val="solid"/>
          </a:ln>
        </p:spPr>
      </p:sp>
      <p:sp>
        <p:nvSpPr>
          <p:cNvPr id="19" name="Lingkaran ikon FcCalendar"/>
          <p:cNvSpPr/>
          <p:nvPr/>
        </p:nvSpPr>
        <p:spPr>
          <a:xfrm>
            <a:off x="822960" y="4114800"/>
            <a:ext cx="731520" cy="731520"/>
          </a:xfrm>
          <a:prstGeom prst="ellipse">
            <a:avLst/>
          </a:prstGeom>
          <a:solidFill>
            <a:schemeClr val="bg1"/>
          </a:solidFill>
          <a:ln w="19050">
            <a:solidFill>
              <a:schemeClr val="tx1"/>
            </a:solidFill>
            <a:prstDash val="solid"/>
          </a:ln>
        </p:spPr>
      </p:sp>
      <p:pic>
        <p:nvPicPr>
          <p:cNvPr id="20" name="Image 3" descr="Ikon FcCalendar">    </p:cNvPr>
          <p:cNvPicPr>
            <a:picLocks noChangeAspect="1"/>
          </p:cNvPicPr>
          <p:nvPr/>
        </p:nvPicPr>
        <p:blipFill>
          <a:blip r:embed="rId4"/>
          <a:stretch>
            <a:fillRect/>
          </a:stretch>
        </p:blipFill>
        <p:spPr>
          <a:xfrm>
            <a:off x="976579" y="4268419"/>
            <a:ext cx="424282" cy="424282"/>
          </a:xfrm>
          <a:prstGeom prst="rect">
            <a:avLst/>
          </a:prstGeom>
        </p:spPr>
      </p:pic>
      <p:sp>
        <p:nvSpPr>
          <p:cNvPr id="21" name="Text 15"/>
          <p:cNvSpPr txBox="1"/>
          <p:nvPr/>
        </p:nvSpPr>
        <p:spPr>
          <a:xfrm>
            <a:off x="2971800" y="4069080"/>
            <a:ext cx="914400" cy="731520"/>
          </a:xfrm>
          <a:prstGeom prst="rect">
            <a:avLst/>
          </a:prstGeom>
          <a:noFill/>
          <a:ln/>
        </p:spPr>
        <p:txBody>
          <a:bodyPr wrap="square" lIns="0" tIns="0" rIns="0" bIns="0" rtlCol="0" anchor="ctr"/>
          <a:lstStyle/>
          <a:p>
            <a:pPr algn="r" indent="0" marL="0">
              <a:buNone/>
            </a:pPr>
            <a:r>
              <a:rPr lang="en-US" sz="3200" b="1" dirty="0">
                <a:solidFill>
                  <a:schemeClr val="tx1"/>
                </a:solidFill>
              </a:rPr>
              <a:t>04</a:t>
            </a:r>
            <a:endParaRPr lang="en-US" sz="3200" dirty="0"/>
          </a:p>
        </p:txBody>
      </p:sp>
      <p:sp>
        <p:nvSpPr>
          <p:cNvPr id="22" name="Text 16"/>
          <p:cNvSpPr txBox="1"/>
          <p:nvPr/>
        </p:nvSpPr>
        <p:spPr>
          <a:xfrm>
            <a:off x="822960" y="4983480"/>
            <a:ext cx="3063240" cy="1143000"/>
          </a:xfrm>
          <a:prstGeom prst="rect">
            <a:avLst/>
          </a:prstGeom>
          <a:noFill/>
          <a:ln/>
        </p:spPr>
        <p:txBody>
          <a:bodyPr wrap="square" lIns="0" tIns="0" rIns="0" bIns="0" rtlCol="0" anchor="t"/>
          <a:lstStyle/>
          <a:p>
            <a:pPr indent="0" marL="0">
              <a:buNone/>
            </a:pPr>
            <a:r>
              <a:rPr lang="en-US" sz="1800" b="1" dirty="0">
                <a:solidFill>
                  <a:schemeClr val="tx1"/>
                </a:solidFill>
              </a:rPr>
              <a:t>Pengaturan Jadwal</a:t>
            </a:r>
            <a:endParaRPr lang="en-US" sz="1800" dirty="0"/>
          </a:p>
          <a:p>
            <a:pPr indent="0" marL="0">
              <a:buNone/>
            </a:pPr>
            <a:r>
              <a:rPr lang="en-US" sz="1400" dirty="0">
                <a:solidFill>
                  <a:schemeClr val="tx1"/>
                </a:solidFill>
              </a:rPr>
              <a:t>Jadwal shift pengasuh dan jadwal kegiatan</a:t>
            </a:r>
            <a:endParaRPr lang="en-US" sz="1800" dirty="0"/>
          </a:p>
        </p:txBody>
      </p:sp>
      <p:sp>
        <p:nvSpPr>
          <p:cNvPr id="23" name="Kartu modul 5"/>
          <p:cNvSpPr/>
          <p:nvPr/>
        </p:nvSpPr>
        <p:spPr>
          <a:xfrm>
            <a:off x="4334256" y="3886200"/>
            <a:ext cx="3611880" cy="2331720"/>
          </a:xfrm>
          <a:prstGeom prst="roundRect">
            <a:avLst>
              <a:gd name="adj" fmla="val 5490"/>
            </a:avLst>
          </a:prstGeom>
          <a:solidFill>
            <a:schemeClr val="accent5"/>
          </a:solidFill>
          <a:ln w="19050">
            <a:solidFill>
              <a:schemeClr val="tx1"/>
            </a:solidFill>
            <a:prstDash val="solid"/>
          </a:ln>
        </p:spPr>
      </p:sp>
      <p:sp>
        <p:nvSpPr>
          <p:cNvPr id="24" name="Lingkaran ikon FcOk"/>
          <p:cNvSpPr/>
          <p:nvPr/>
        </p:nvSpPr>
        <p:spPr>
          <a:xfrm>
            <a:off x="4608576" y="4114800"/>
            <a:ext cx="731520" cy="731520"/>
          </a:xfrm>
          <a:prstGeom prst="ellipse">
            <a:avLst/>
          </a:prstGeom>
          <a:solidFill>
            <a:schemeClr val="bg1"/>
          </a:solidFill>
          <a:ln w="19050">
            <a:solidFill>
              <a:schemeClr val="tx1"/>
            </a:solidFill>
            <a:prstDash val="solid"/>
          </a:ln>
        </p:spPr>
      </p:sp>
      <p:pic>
        <p:nvPicPr>
          <p:cNvPr id="25" name="Image 4" descr="Ikon FcOk">    </p:cNvPr>
          <p:cNvPicPr>
            <a:picLocks noChangeAspect="1"/>
          </p:cNvPicPr>
          <p:nvPr/>
        </p:nvPicPr>
        <p:blipFill>
          <a:blip r:embed="rId5"/>
          <a:stretch>
            <a:fillRect/>
          </a:stretch>
        </p:blipFill>
        <p:spPr>
          <a:xfrm>
            <a:off x="4762195" y="4268419"/>
            <a:ext cx="424282" cy="424282"/>
          </a:xfrm>
          <a:prstGeom prst="rect">
            <a:avLst/>
          </a:prstGeom>
        </p:spPr>
      </p:pic>
      <p:sp>
        <p:nvSpPr>
          <p:cNvPr id="26" name="Text 19"/>
          <p:cNvSpPr txBox="1"/>
          <p:nvPr/>
        </p:nvSpPr>
        <p:spPr>
          <a:xfrm>
            <a:off x="6757416" y="4069080"/>
            <a:ext cx="914400" cy="731520"/>
          </a:xfrm>
          <a:prstGeom prst="rect">
            <a:avLst/>
          </a:prstGeom>
          <a:noFill/>
          <a:ln/>
        </p:spPr>
        <p:txBody>
          <a:bodyPr wrap="square" lIns="0" tIns="0" rIns="0" bIns="0" rtlCol="0" anchor="ctr"/>
          <a:lstStyle/>
          <a:p>
            <a:pPr algn="r" indent="0" marL="0">
              <a:buNone/>
            </a:pPr>
            <a:r>
              <a:rPr lang="en-US" sz="3200" b="1" dirty="0">
                <a:solidFill>
                  <a:schemeClr val="tx1"/>
                </a:solidFill>
              </a:rPr>
              <a:t>05</a:t>
            </a:r>
            <a:endParaRPr lang="en-US" sz="3200" dirty="0"/>
          </a:p>
        </p:txBody>
      </p:sp>
      <p:sp>
        <p:nvSpPr>
          <p:cNvPr id="27" name="Text 20"/>
          <p:cNvSpPr txBox="1"/>
          <p:nvPr/>
        </p:nvSpPr>
        <p:spPr>
          <a:xfrm>
            <a:off x="4608576" y="4983480"/>
            <a:ext cx="3063240" cy="1143000"/>
          </a:xfrm>
          <a:prstGeom prst="rect">
            <a:avLst/>
          </a:prstGeom>
          <a:noFill/>
          <a:ln/>
        </p:spPr>
        <p:txBody>
          <a:bodyPr wrap="square" lIns="0" tIns="0" rIns="0" bIns="0" rtlCol="0" anchor="t"/>
          <a:lstStyle/>
          <a:p>
            <a:pPr indent="0" marL="0">
              <a:buNone/>
            </a:pPr>
            <a:r>
              <a:rPr lang="en-US" sz="1800" b="1" dirty="0">
                <a:solidFill>
                  <a:schemeClr val="tx1"/>
                </a:solidFill>
              </a:rPr>
              <a:t>Operasional Harian</a:t>
            </a:r>
            <a:endParaRPr lang="en-US" sz="1800" dirty="0"/>
          </a:p>
          <a:p>
            <a:pPr indent="0" marL="0">
              <a:buNone/>
            </a:pPr>
            <a:r>
              <a:rPr lang="en-US" sz="1400" dirty="0">
                <a:solidFill>
                  <a:schemeClr val="tx1"/>
                </a:solidFill>
              </a:rPr>
              <a:t>Check-in, check-out, laporan harian, insiden</a:t>
            </a:r>
            <a:endParaRPr lang="en-US" sz="1800" dirty="0"/>
          </a:p>
        </p:txBody>
      </p:sp>
      <p:sp>
        <p:nvSpPr>
          <p:cNvPr id="28" name="Kartu modul 6"/>
          <p:cNvSpPr/>
          <p:nvPr/>
        </p:nvSpPr>
        <p:spPr>
          <a:xfrm>
            <a:off x="8119872" y="3886200"/>
            <a:ext cx="3611880" cy="2331720"/>
          </a:xfrm>
          <a:prstGeom prst="roundRect">
            <a:avLst>
              <a:gd name="adj" fmla="val 5490"/>
            </a:avLst>
          </a:prstGeom>
          <a:solidFill>
            <a:schemeClr val="accent1"/>
          </a:solidFill>
          <a:ln w="19050">
            <a:solidFill>
              <a:schemeClr val="tx1"/>
            </a:solidFill>
            <a:prstDash val="solid"/>
          </a:ln>
        </p:spPr>
      </p:sp>
      <p:sp>
        <p:nvSpPr>
          <p:cNvPr id="29" name="Lingkaran ikon FcPieChart"/>
          <p:cNvSpPr/>
          <p:nvPr/>
        </p:nvSpPr>
        <p:spPr>
          <a:xfrm>
            <a:off x="8394192" y="4114800"/>
            <a:ext cx="731520" cy="731520"/>
          </a:xfrm>
          <a:prstGeom prst="ellipse">
            <a:avLst/>
          </a:prstGeom>
          <a:solidFill>
            <a:schemeClr val="bg1"/>
          </a:solidFill>
          <a:ln w="19050">
            <a:solidFill>
              <a:schemeClr val="tx1"/>
            </a:solidFill>
            <a:prstDash val="solid"/>
          </a:ln>
        </p:spPr>
      </p:sp>
      <p:pic>
        <p:nvPicPr>
          <p:cNvPr id="30" name="Image 5" descr="Ikon FcPieChart">    </p:cNvPr>
          <p:cNvPicPr>
            <a:picLocks noChangeAspect="1"/>
          </p:cNvPicPr>
          <p:nvPr/>
        </p:nvPicPr>
        <p:blipFill>
          <a:blip r:embed="rId6"/>
          <a:stretch>
            <a:fillRect/>
          </a:stretch>
        </p:blipFill>
        <p:spPr>
          <a:xfrm>
            <a:off x="8547811" y="4268419"/>
            <a:ext cx="424282" cy="424282"/>
          </a:xfrm>
          <a:prstGeom prst="rect">
            <a:avLst/>
          </a:prstGeom>
        </p:spPr>
      </p:pic>
      <p:sp>
        <p:nvSpPr>
          <p:cNvPr id="31" name="Text 23"/>
          <p:cNvSpPr txBox="1"/>
          <p:nvPr/>
        </p:nvSpPr>
        <p:spPr>
          <a:xfrm>
            <a:off x="10543032" y="4069080"/>
            <a:ext cx="914400" cy="731520"/>
          </a:xfrm>
          <a:prstGeom prst="rect">
            <a:avLst/>
          </a:prstGeom>
          <a:noFill/>
          <a:ln/>
        </p:spPr>
        <p:txBody>
          <a:bodyPr wrap="square" lIns="0" tIns="0" rIns="0" bIns="0" rtlCol="0" anchor="ctr"/>
          <a:lstStyle/>
          <a:p>
            <a:pPr algn="r" indent="0" marL="0">
              <a:buNone/>
            </a:pPr>
            <a:r>
              <a:rPr lang="en-US" sz="3200" b="1" dirty="0">
                <a:solidFill>
                  <a:schemeClr val="tx1"/>
                </a:solidFill>
              </a:rPr>
              <a:t>06</a:t>
            </a:r>
            <a:endParaRPr lang="en-US" sz="3200" dirty="0"/>
          </a:p>
        </p:txBody>
      </p:sp>
      <p:sp>
        <p:nvSpPr>
          <p:cNvPr id="32" name="Text 24"/>
          <p:cNvSpPr txBox="1"/>
          <p:nvPr/>
        </p:nvSpPr>
        <p:spPr>
          <a:xfrm>
            <a:off x="8394192" y="4983480"/>
            <a:ext cx="3063240" cy="1143000"/>
          </a:xfrm>
          <a:prstGeom prst="rect">
            <a:avLst/>
          </a:prstGeom>
          <a:noFill/>
          <a:ln/>
        </p:spPr>
        <p:txBody>
          <a:bodyPr wrap="square" lIns="0" tIns="0" rIns="0" bIns="0" rtlCol="0" anchor="t"/>
          <a:lstStyle/>
          <a:p>
            <a:pPr indent="0" marL="0">
              <a:buNone/>
            </a:pPr>
            <a:r>
              <a:rPr lang="en-US" sz="1800" b="1" dirty="0">
                <a:solidFill>
                  <a:schemeClr val="tx1"/>
                </a:solidFill>
              </a:rPr>
              <a:t>Laporan Berkala dan Dashboard</a:t>
            </a:r>
            <a:endParaRPr lang="en-US" sz="1800" dirty="0"/>
          </a:p>
          <a:p>
            <a:pPr indent="0" marL="0">
              <a:buNone/>
            </a:pPr>
            <a:r>
              <a:rPr lang="en-US" sz="1400" dirty="0">
                <a:solidFill>
                  <a:schemeClr val="tx1"/>
                </a:solidFill>
              </a:rPr>
              <a:t>Penilaian bulanan dan ringkasan per role</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Daftar PBI Sprint 1 dan 2</a:t>
            </a:r>
            <a:endParaRPr lang="en-US" sz="3600" dirty="0"/>
          </a:p>
        </p:txBody>
      </p:sp>
      <p:sp>
        <p:nvSpPr>
          <p:cNvPr id="3" name="Label SPRINT 1: Fondasi, Pendaftaran, Keuangan"/>
          <p:cNvSpPr/>
          <p:nvPr/>
        </p:nvSpPr>
        <p:spPr>
          <a:xfrm>
            <a:off x="548640" y="1371600"/>
            <a:ext cx="5440680" cy="502920"/>
          </a:xfrm>
          <a:prstGeom prst="roundRect">
            <a:avLst>
              <a:gd name="adj" fmla="val 25455"/>
            </a:avLst>
          </a:prstGeom>
          <a:solidFill>
            <a:schemeClr val="accent1"/>
          </a:solidFill>
          <a:ln w="19050">
            <a:solidFill>
              <a:schemeClr val="tx1"/>
            </a:solidFill>
            <a:prstDash val="solid"/>
          </a:ln>
        </p:spPr>
      </p:sp>
      <p:sp>
        <p:nvSpPr>
          <p:cNvPr id="4" name="Text 2"/>
          <p:cNvSpPr txBox="1"/>
          <p:nvPr/>
        </p:nvSpPr>
        <p:spPr>
          <a:xfrm>
            <a:off x="777240" y="1371600"/>
            <a:ext cx="4983480" cy="502920"/>
          </a:xfrm>
          <a:prstGeom prst="rect">
            <a:avLst/>
          </a:prstGeom>
          <a:noFill/>
          <a:ln/>
        </p:spPr>
        <p:txBody>
          <a:bodyPr wrap="square" lIns="0" tIns="0" rIns="0" bIns="0" rtlCol="0" anchor="ctr"/>
          <a:lstStyle/>
          <a:p>
            <a:pPr indent="0" marL="0">
              <a:buNone/>
            </a:pPr>
            <a:r>
              <a:rPr lang="en-US" sz="1400" b="1" dirty="0">
                <a:solidFill>
                  <a:schemeClr val="tx1"/>
                </a:solidFill>
              </a:rPr>
              <a:t>SPRINT 1: Fondasi, Pendaftaran, Keuangan</a:t>
            </a:r>
            <a:endParaRPr lang="en-US" sz="1400" dirty="0"/>
          </a:p>
        </p:txBody>
      </p:sp>
      <p:sp>
        <p:nvSpPr>
          <p:cNvPr id="5" name="Kartu SPRINT 1: Fondasi, Pendaftaran, Keuangan"/>
          <p:cNvSpPr/>
          <p:nvPr/>
        </p:nvSpPr>
        <p:spPr>
          <a:xfrm>
            <a:off x="548640" y="2011680"/>
            <a:ext cx="5440680" cy="4206240"/>
          </a:xfrm>
          <a:prstGeom prst="roundRect">
            <a:avLst>
              <a:gd name="adj" fmla="val 3043"/>
            </a:avLst>
          </a:prstGeom>
          <a:solidFill>
            <a:schemeClr val="bg2"/>
          </a:solidFill>
          <a:ln w="19050">
            <a:solidFill>
              <a:schemeClr val="tx1"/>
            </a:solidFill>
            <a:prstDash val="solid"/>
          </a:ln>
        </p:spPr>
      </p:sp>
      <p:sp>
        <p:nvSpPr>
          <p:cNvPr id="6" name="Text 4"/>
          <p:cNvSpPr txBox="1"/>
          <p:nvPr/>
        </p:nvSpPr>
        <p:spPr>
          <a:xfrm>
            <a:off x="777240" y="2148840"/>
            <a:ext cx="777240" cy="265176"/>
          </a:xfrm>
          <a:prstGeom prst="rect">
            <a:avLst/>
          </a:prstGeom>
          <a:noFill/>
          <a:ln/>
        </p:spPr>
        <p:txBody>
          <a:bodyPr wrap="square" lIns="0" tIns="0" rIns="0" bIns="0" rtlCol="0" anchor="ctr"/>
          <a:lstStyle/>
          <a:p>
            <a:pPr indent="0" marL="0">
              <a:buNone/>
            </a:pPr>
            <a:r>
              <a:rPr lang="en-US" sz="1200" b="1" dirty="0">
                <a:solidFill>
                  <a:schemeClr val="accent6"/>
                </a:solidFill>
              </a:rPr>
              <a:t>PBI-01</a:t>
            </a:r>
            <a:endParaRPr lang="en-US" sz="1200" dirty="0"/>
          </a:p>
        </p:txBody>
      </p:sp>
      <p:sp>
        <p:nvSpPr>
          <p:cNvPr id="7" name="Text 5"/>
          <p:cNvSpPr txBox="1"/>
          <p:nvPr/>
        </p:nvSpPr>
        <p:spPr>
          <a:xfrm>
            <a:off x="1554480" y="2148840"/>
            <a:ext cx="2697480" cy="265176"/>
          </a:xfrm>
          <a:prstGeom prst="rect">
            <a:avLst/>
          </a:prstGeom>
          <a:noFill/>
          <a:ln/>
        </p:spPr>
        <p:txBody>
          <a:bodyPr wrap="square" lIns="0" tIns="0" rIns="0" bIns="0" rtlCol="0" anchor="ctr"/>
          <a:lstStyle/>
          <a:p>
            <a:pPr indent="0" marL="0">
              <a:buNone/>
            </a:pPr>
            <a:r>
              <a:rPr lang="en-US" sz="1300" b="1" dirty="0">
                <a:solidFill>
                  <a:schemeClr val="tx1"/>
                </a:solidFill>
              </a:rPr>
              <a:t>Autentikasi dan RBAC</a:t>
            </a:r>
            <a:endParaRPr lang="en-US" sz="1300" dirty="0"/>
          </a:p>
        </p:txBody>
      </p:sp>
      <p:sp>
        <p:nvSpPr>
          <p:cNvPr id="8" name="Text 6"/>
          <p:cNvSpPr txBox="1"/>
          <p:nvPr/>
        </p:nvSpPr>
        <p:spPr>
          <a:xfrm>
            <a:off x="4251960" y="2148840"/>
            <a:ext cx="1508760" cy="265176"/>
          </a:xfrm>
          <a:prstGeom prst="rect">
            <a:avLst/>
          </a:prstGeom>
          <a:noFill/>
          <a:ln/>
        </p:spPr>
        <p:txBody>
          <a:bodyPr wrap="square" lIns="0" tIns="0" rIns="0" bIns="0" rtlCol="0" anchor="ctr"/>
          <a:lstStyle/>
          <a:p>
            <a:pPr algn="r" indent="0" marL="0">
              <a:buNone/>
            </a:pPr>
            <a:r>
              <a:rPr lang="en-US" sz="1200" dirty="0">
                <a:solidFill>
                  <a:schemeClr val="tx1"/>
                </a:solidFill>
              </a:rPr>
              <a:t>5 sub | Rahman</a:t>
            </a:r>
            <a:endParaRPr lang="en-US" sz="1200" dirty="0"/>
          </a:p>
        </p:txBody>
      </p:sp>
      <p:sp>
        <p:nvSpPr>
          <p:cNvPr id="9" name="Text 7"/>
          <p:cNvSpPr txBox="1"/>
          <p:nvPr/>
        </p:nvSpPr>
        <p:spPr>
          <a:xfrm>
            <a:off x="777240" y="2414016"/>
            <a:ext cx="777240" cy="265176"/>
          </a:xfrm>
          <a:prstGeom prst="rect">
            <a:avLst/>
          </a:prstGeom>
          <a:noFill/>
          <a:ln/>
        </p:spPr>
        <p:txBody>
          <a:bodyPr wrap="square" lIns="0" tIns="0" rIns="0" bIns="0" rtlCol="0" anchor="ctr"/>
          <a:lstStyle/>
          <a:p>
            <a:pPr indent="0" marL="0">
              <a:buNone/>
            </a:pPr>
            <a:r>
              <a:rPr lang="en-US" sz="1200" b="1" dirty="0">
                <a:solidFill>
                  <a:schemeClr val="accent6"/>
                </a:solidFill>
              </a:rPr>
              <a:t>PBI-02</a:t>
            </a:r>
            <a:endParaRPr lang="en-US" sz="1200" dirty="0"/>
          </a:p>
        </p:txBody>
      </p:sp>
      <p:sp>
        <p:nvSpPr>
          <p:cNvPr id="10" name="Text 8"/>
          <p:cNvSpPr txBox="1"/>
          <p:nvPr/>
        </p:nvSpPr>
        <p:spPr>
          <a:xfrm>
            <a:off x="1554480" y="2414016"/>
            <a:ext cx="2697480" cy="265176"/>
          </a:xfrm>
          <a:prstGeom prst="rect">
            <a:avLst/>
          </a:prstGeom>
          <a:noFill/>
          <a:ln/>
        </p:spPr>
        <p:txBody>
          <a:bodyPr wrap="square" lIns="0" tIns="0" rIns="0" bIns="0" rtlCol="0" anchor="ctr"/>
          <a:lstStyle/>
          <a:p>
            <a:pPr indent="0" marL="0">
              <a:buNone/>
            </a:pPr>
            <a:r>
              <a:rPr lang="en-US" sz="1300" b="1" dirty="0">
                <a:solidFill>
                  <a:schemeClr val="tx1"/>
                </a:solidFill>
              </a:rPr>
              <a:t>Akun Pengguna</a:t>
            </a:r>
            <a:endParaRPr lang="en-US" sz="1300" dirty="0"/>
          </a:p>
        </p:txBody>
      </p:sp>
      <p:sp>
        <p:nvSpPr>
          <p:cNvPr id="11" name="Text 9"/>
          <p:cNvSpPr txBox="1"/>
          <p:nvPr/>
        </p:nvSpPr>
        <p:spPr>
          <a:xfrm>
            <a:off x="4251960" y="2414016"/>
            <a:ext cx="1508760" cy="265176"/>
          </a:xfrm>
          <a:prstGeom prst="rect">
            <a:avLst/>
          </a:prstGeom>
          <a:noFill/>
          <a:ln/>
        </p:spPr>
        <p:txBody>
          <a:bodyPr wrap="square" lIns="0" tIns="0" rIns="0" bIns="0" rtlCol="0" anchor="ctr"/>
          <a:lstStyle/>
          <a:p>
            <a:pPr algn="r" indent="0" marL="0">
              <a:buNone/>
            </a:pPr>
            <a:r>
              <a:rPr lang="en-US" sz="1200" dirty="0">
                <a:solidFill>
                  <a:schemeClr val="tx1"/>
                </a:solidFill>
              </a:rPr>
              <a:t>6 sub | Rahman</a:t>
            </a:r>
            <a:endParaRPr lang="en-US" sz="1200" dirty="0"/>
          </a:p>
        </p:txBody>
      </p:sp>
      <p:sp>
        <p:nvSpPr>
          <p:cNvPr id="12" name="Text 10"/>
          <p:cNvSpPr txBox="1"/>
          <p:nvPr/>
        </p:nvSpPr>
        <p:spPr>
          <a:xfrm>
            <a:off x="777240" y="2679192"/>
            <a:ext cx="777240" cy="265176"/>
          </a:xfrm>
          <a:prstGeom prst="rect">
            <a:avLst/>
          </a:prstGeom>
          <a:noFill/>
          <a:ln/>
        </p:spPr>
        <p:txBody>
          <a:bodyPr wrap="square" lIns="0" tIns="0" rIns="0" bIns="0" rtlCol="0" anchor="ctr"/>
          <a:lstStyle/>
          <a:p>
            <a:pPr indent="0" marL="0">
              <a:buNone/>
            </a:pPr>
            <a:r>
              <a:rPr lang="en-US" sz="1200" b="1" dirty="0">
                <a:solidFill>
                  <a:schemeClr val="accent6"/>
                </a:solidFill>
              </a:rPr>
              <a:t>PBI-03</a:t>
            </a:r>
            <a:endParaRPr lang="en-US" sz="1200" dirty="0"/>
          </a:p>
        </p:txBody>
      </p:sp>
      <p:sp>
        <p:nvSpPr>
          <p:cNvPr id="13" name="Text 11"/>
          <p:cNvSpPr txBox="1"/>
          <p:nvPr/>
        </p:nvSpPr>
        <p:spPr>
          <a:xfrm>
            <a:off x="1554480" y="2679192"/>
            <a:ext cx="2697480" cy="265176"/>
          </a:xfrm>
          <a:prstGeom prst="rect">
            <a:avLst/>
          </a:prstGeom>
          <a:noFill/>
          <a:ln/>
        </p:spPr>
        <p:txBody>
          <a:bodyPr wrap="square" lIns="0" tIns="0" rIns="0" bIns="0" rtlCol="0" anchor="ctr"/>
          <a:lstStyle/>
          <a:p>
            <a:pPr indent="0" marL="0">
              <a:buNone/>
            </a:pPr>
            <a:r>
              <a:rPr lang="en-US" sz="1300" b="1" dirty="0">
                <a:solidFill>
                  <a:schemeClr val="tx1"/>
                </a:solidFill>
              </a:rPr>
              <a:t>Profil Pengasuh</a:t>
            </a:r>
            <a:endParaRPr lang="en-US" sz="1300" dirty="0"/>
          </a:p>
        </p:txBody>
      </p:sp>
      <p:sp>
        <p:nvSpPr>
          <p:cNvPr id="14" name="Text 12"/>
          <p:cNvSpPr txBox="1"/>
          <p:nvPr/>
        </p:nvSpPr>
        <p:spPr>
          <a:xfrm>
            <a:off x="4251960" y="2679192"/>
            <a:ext cx="1508760" cy="265176"/>
          </a:xfrm>
          <a:prstGeom prst="rect">
            <a:avLst/>
          </a:prstGeom>
          <a:noFill/>
          <a:ln/>
        </p:spPr>
        <p:txBody>
          <a:bodyPr wrap="square" lIns="0" tIns="0" rIns="0" bIns="0" rtlCol="0" anchor="ctr"/>
          <a:lstStyle/>
          <a:p>
            <a:pPr algn="r" indent="0" marL="0">
              <a:buNone/>
            </a:pPr>
            <a:r>
              <a:rPr lang="en-US" sz="1200" dirty="0">
                <a:solidFill>
                  <a:schemeClr val="tx1"/>
                </a:solidFill>
              </a:rPr>
              <a:t>4 sub | Rahman</a:t>
            </a:r>
            <a:endParaRPr lang="en-US" sz="1200" dirty="0"/>
          </a:p>
        </p:txBody>
      </p:sp>
      <p:sp>
        <p:nvSpPr>
          <p:cNvPr id="15" name="Text 13"/>
          <p:cNvSpPr txBox="1"/>
          <p:nvPr/>
        </p:nvSpPr>
        <p:spPr>
          <a:xfrm>
            <a:off x="777240" y="2944368"/>
            <a:ext cx="777240" cy="265176"/>
          </a:xfrm>
          <a:prstGeom prst="rect">
            <a:avLst/>
          </a:prstGeom>
          <a:noFill/>
          <a:ln/>
        </p:spPr>
        <p:txBody>
          <a:bodyPr wrap="square" lIns="0" tIns="0" rIns="0" bIns="0" rtlCol="0" anchor="ctr"/>
          <a:lstStyle/>
          <a:p>
            <a:pPr indent="0" marL="0">
              <a:buNone/>
            </a:pPr>
            <a:r>
              <a:rPr lang="en-US" sz="1200" b="1" dirty="0">
                <a:solidFill>
                  <a:schemeClr val="accent6"/>
                </a:solidFill>
              </a:rPr>
              <a:t>PBI-04</a:t>
            </a:r>
            <a:endParaRPr lang="en-US" sz="1200" dirty="0"/>
          </a:p>
        </p:txBody>
      </p:sp>
      <p:sp>
        <p:nvSpPr>
          <p:cNvPr id="16" name="Text 14"/>
          <p:cNvSpPr txBox="1"/>
          <p:nvPr/>
        </p:nvSpPr>
        <p:spPr>
          <a:xfrm>
            <a:off x="1554480" y="2944368"/>
            <a:ext cx="2697480" cy="265176"/>
          </a:xfrm>
          <a:prstGeom prst="rect">
            <a:avLst/>
          </a:prstGeom>
          <a:noFill/>
          <a:ln/>
        </p:spPr>
        <p:txBody>
          <a:bodyPr wrap="square" lIns="0" tIns="0" rIns="0" bIns="0" rtlCol="0" anchor="ctr"/>
          <a:lstStyle/>
          <a:p>
            <a:pPr indent="0" marL="0">
              <a:buNone/>
            </a:pPr>
            <a:r>
              <a:rPr lang="en-US" sz="1300" b="1" dirty="0">
                <a:solidFill>
                  <a:schemeClr val="tx1"/>
                </a:solidFill>
              </a:rPr>
              <a:t>Profil Orang Tua</a:t>
            </a:r>
            <a:endParaRPr lang="en-US" sz="1300" dirty="0"/>
          </a:p>
        </p:txBody>
      </p:sp>
      <p:sp>
        <p:nvSpPr>
          <p:cNvPr id="17" name="Text 15"/>
          <p:cNvSpPr txBox="1"/>
          <p:nvPr/>
        </p:nvSpPr>
        <p:spPr>
          <a:xfrm>
            <a:off x="4251960" y="2944368"/>
            <a:ext cx="1508760" cy="265176"/>
          </a:xfrm>
          <a:prstGeom prst="rect">
            <a:avLst/>
          </a:prstGeom>
          <a:noFill/>
          <a:ln/>
        </p:spPr>
        <p:txBody>
          <a:bodyPr wrap="square" lIns="0" tIns="0" rIns="0" bIns="0" rtlCol="0" anchor="ctr"/>
          <a:lstStyle/>
          <a:p>
            <a:pPr algn="r" indent="0" marL="0">
              <a:buNone/>
            </a:pPr>
            <a:r>
              <a:rPr lang="en-US" sz="1200" dirty="0">
                <a:solidFill>
                  <a:schemeClr val="tx1"/>
                </a:solidFill>
              </a:rPr>
              <a:t>6 sub | Rahman</a:t>
            </a:r>
            <a:endParaRPr lang="en-US" sz="1200" dirty="0"/>
          </a:p>
        </p:txBody>
      </p:sp>
      <p:sp>
        <p:nvSpPr>
          <p:cNvPr id="18" name="Text 16"/>
          <p:cNvSpPr txBox="1"/>
          <p:nvPr/>
        </p:nvSpPr>
        <p:spPr>
          <a:xfrm>
            <a:off x="777240" y="3209544"/>
            <a:ext cx="777240" cy="265176"/>
          </a:xfrm>
          <a:prstGeom prst="rect">
            <a:avLst/>
          </a:prstGeom>
          <a:noFill/>
          <a:ln/>
        </p:spPr>
        <p:txBody>
          <a:bodyPr wrap="square" lIns="0" tIns="0" rIns="0" bIns="0" rtlCol="0" anchor="ctr"/>
          <a:lstStyle/>
          <a:p>
            <a:pPr indent="0" marL="0">
              <a:buNone/>
            </a:pPr>
            <a:r>
              <a:rPr lang="en-US" sz="1200" b="1" dirty="0">
                <a:solidFill>
                  <a:schemeClr val="accent6"/>
                </a:solidFill>
              </a:rPr>
              <a:t>PBI-05</a:t>
            </a:r>
            <a:endParaRPr lang="en-US" sz="1200" dirty="0"/>
          </a:p>
        </p:txBody>
      </p:sp>
      <p:sp>
        <p:nvSpPr>
          <p:cNvPr id="19" name="Text 17"/>
          <p:cNvSpPr txBox="1"/>
          <p:nvPr/>
        </p:nvSpPr>
        <p:spPr>
          <a:xfrm>
            <a:off x="1554480" y="3209544"/>
            <a:ext cx="2697480" cy="265176"/>
          </a:xfrm>
          <a:prstGeom prst="rect">
            <a:avLst/>
          </a:prstGeom>
          <a:noFill/>
          <a:ln/>
        </p:spPr>
        <p:txBody>
          <a:bodyPr wrap="square" lIns="0" tIns="0" rIns="0" bIns="0" rtlCol="0" anchor="ctr"/>
          <a:lstStyle/>
          <a:p>
            <a:pPr indent="0" marL="0">
              <a:buNone/>
            </a:pPr>
            <a:r>
              <a:rPr lang="en-US" sz="1300" b="1" dirty="0">
                <a:solidFill>
                  <a:schemeClr val="tx1"/>
                </a:solidFill>
              </a:rPr>
              <a:t>Kelompok Usia</a:t>
            </a:r>
            <a:endParaRPr lang="en-US" sz="1300" dirty="0"/>
          </a:p>
        </p:txBody>
      </p:sp>
      <p:sp>
        <p:nvSpPr>
          <p:cNvPr id="20" name="Text 18"/>
          <p:cNvSpPr txBox="1"/>
          <p:nvPr/>
        </p:nvSpPr>
        <p:spPr>
          <a:xfrm>
            <a:off x="4251960" y="3209544"/>
            <a:ext cx="1508760" cy="265176"/>
          </a:xfrm>
          <a:prstGeom prst="rect">
            <a:avLst/>
          </a:prstGeom>
          <a:noFill/>
          <a:ln/>
        </p:spPr>
        <p:txBody>
          <a:bodyPr wrap="square" lIns="0" tIns="0" rIns="0" bIns="0" rtlCol="0" anchor="ctr"/>
          <a:lstStyle/>
          <a:p>
            <a:pPr algn="r" indent="0" marL="0">
              <a:buNone/>
            </a:pPr>
            <a:r>
              <a:rPr lang="en-US" sz="1200" dirty="0">
                <a:solidFill>
                  <a:schemeClr val="tx1"/>
                </a:solidFill>
              </a:rPr>
              <a:t>4 sub | Delita</a:t>
            </a:r>
            <a:endParaRPr lang="en-US" sz="1200" dirty="0"/>
          </a:p>
        </p:txBody>
      </p:sp>
      <p:sp>
        <p:nvSpPr>
          <p:cNvPr id="21" name="Text 19"/>
          <p:cNvSpPr txBox="1"/>
          <p:nvPr/>
        </p:nvSpPr>
        <p:spPr>
          <a:xfrm>
            <a:off x="777240" y="3474720"/>
            <a:ext cx="777240" cy="265176"/>
          </a:xfrm>
          <a:prstGeom prst="rect">
            <a:avLst/>
          </a:prstGeom>
          <a:noFill/>
          <a:ln/>
        </p:spPr>
        <p:txBody>
          <a:bodyPr wrap="square" lIns="0" tIns="0" rIns="0" bIns="0" rtlCol="0" anchor="ctr"/>
          <a:lstStyle/>
          <a:p>
            <a:pPr indent="0" marL="0">
              <a:buNone/>
            </a:pPr>
            <a:r>
              <a:rPr lang="en-US" sz="1200" b="1" dirty="0">
                <a:solidFill>
                  <a:schemeClr val="accent6"/>
                </a:solidFill>
              </a:rPr>
              <a:t>PBI-06</a:t>
            </a:r>
            <a:endParaRPr lang="en-US" sz="1200" dirty="0"/>
          </a:p>
        </p:txBody>
      </p:sp>
      <p:sp>
        <p:nvSpPr>
          <p:cNvPr id="22" name="Text 20"/>
          <p:cNvSpPr txBox="1"/>
          <p:nvPr/>
        </p:nvSpPr>
        <p:spPr>
          <a:xfrm>
            <a:off x="1554480" y="3474720"/>
            <a:ext cx="2697480" cy="265176"/>
          </a:xfrm>
          <a:prstGeom prst="rect">
            <a:avLst/>
          </a:prstGeom>
          <a:noFill/>
          <a:ln/>
        </p:spPr>
        <p:txBody>
          <a:bodyPr wrap="square" lIns="0" tIns="0" rIns="0" bIns="0" rtlCol="0" anchor="ctr"/>
          <a:lstStyle/>
          <a:p>
            <a:pPr indent="0" marL="0">
              <a:buNone/>
            </a:pPr>
            <a:r>
              <a:rPr lang="en-US" sz="1300" b="1" dirty="0">
                <a:solidFill>
                  <a:schemeClr val="tx1"/>
                </a:solidFill>
              </a:rPr>
              <a:t>Menu Makan</a:t>
            </a:r>
            <a:endParaRPr lang="en-US" sz="1300" dirty="0"/>
          </a:p>
        </p:txBody>
      </p:sp>
      <p:sp>
        <p:nvSpPr>
          <p:cNvPr id="23" name="Text 21"/>
          <p:cNvSpPr txBox="1"/>
          <p:nvPr/>
        </p:nvSpPr>
        <p:spPr>
          <a:xfrm>
            <a:off x="4251960" y="3474720"/>
            <a:ext cx="1508760" cy="265176"/>
          </a:xfrm>
          <a:prstGeom prst="rect">
            <a:avLst/>
          </a:prstGeom>
          <a:noFill/>
          <a:ln/>
        </p:spPr>
        <p:txBody>
          <a:bodyPr wrap="square" lIns="0" tIns="0" rIns="0" bIns="0" rtlCol="0" anchor="ctr"/>
          <a:lstStyle/>
          <a:p>
            <a:pPr algn="r" indent="0" marL="0">
              <a:buNone/>
            </a:pPr>
            <a:r>
              <a:rPr lang="en-US" sz="1200" dirty="0">
                <a:solidFill>
                  <a:schemeClr val="tx1"/>
                </a:solidFill>
              </a:rPr>
              <a:t>5 sub | Delita</a:t>
            </a:r>
            <a:endParaRPr lang="en-US" sz="1200" dirty="0"/>
          </a:p>
        </p:txBody>
      </p:sp>
      <p:sp>
        <p:nvSpPr>
          <p:cNvPr id="24" name="Text 22"/>
          <p:cNvSpPr txBox="1"/>
          <p:nvPr/>
        </p:nvSpPr>
        <p:spPr>
          <a:xfrm>
            <a:off x="777240" y="3739896"/>
            <a:ext cx="777240" cy="265176"/>
          </a:xfrm>
          <a:prstGeom prst="rect">
            <a:avLst/>
          </a:prstGeom>
          <a:noFill/>
          <a:ln/>
        </p:spPr>
        <p:txBody>
          <a:bodyPr wrap="square" lIns="0" tIns="0" rIns="0" bIns="0" rtlCol="0" anchor="ctr"/>
          <a:lstStyle/>
          <a:p>
            <a:pPr indent="0" marL="0">
              <a:buNone/>
            </a:pPr>
            <a:r>
              <a:rPr lang="en-US" sz="1200" b="1" dirty="0">
                <a:solidFill>
                  <a:schemeClr val="accent6"/>
                </a:solidFill>
              </a:rPr>
              <a:t>PBI-07</a:t>
            </a:r>
            <a:endParaRPr lang="en-US" sz="1200" dirty="0"/>
          </a:p>
        </p:txBody>
      </p:sp>
      <p:sp>
        <p:nvSpPr>
          <p:cNvPr id="25" name="Text 23"/>
          <p:cNvSpPr txBox="1"/>
          <p:nvPr/>
        </p:nvSpPr>
        <p:spPr>
          <a:xfrm>
            <a:off x="1554480" y="3739896"/>
            <a:ext cx="2697480" cy="265176"/>
          </a:xfrm>
          <a:prstGeom prst="rect">
            <a:avLst/>
          </a:prstGeom>
          <a:noFill/>
          <a:ln/>
        </p:spPr>
        <p:txBody>
          <a:bodyPr wrap="square" lIns="0" tIns="0" rIns="0" bIns="0" rtlCol="0" anchor="ctr"/>
          <a:lstStyle/>
          <a:p>
            <a:pPr indent="0" marL="0">
              <a:buNone/>
            </a:pPr>
            <a:r>
              <a:rPr lang="en-US" sz="1300" b="1" dirty="0">
                <a:solidFill>
                  <a:schemeClr val="tx1"/>
                </a:solidFill>
              </a:rPr>
              <a:t>Pengumuman</a:t>
            </a:r>
            <a:endParaRPr lang="en-US" sz="1300" dirty="0"/>
          </a:p>
        </p:txBody>
      </p:sp>
      <p:sp>
        <p:nvSpPr>
          <p:cNvPr id="26" name="Text 24"/>
          <p:cNvSpPr txBox="1"/>
          <p:nvPr/>
        </p:nvSpPr>
        <p:spPr>
          <a:xfrm>
            <a:off x="4251960" y="3739896"/>
            <a:ext cx="1508760" cy="265176"/>
          </a:xfrm>
          <a:prstGeom prst="rect">
            <a:avLst/>
          </a:prstGeom>
          <a:noFill/>
          <a:ln/>
        </p:spPr>
        <p:txBody>
          <a:bodyPr wrap="square" lIns="0" tIns="0" rIns="0" bIns="0" rtlCol="0" anchor="ctr"/>
          <a:lstStyle/>
          <a:p>
            <a:pPr algn="r" indent="0" marL="0">
              <a:buNone/>
            </a:pPr>
            <a:r>
              <a:rPr lang="en-US" sz="1200" dirty="0">
                <a:solidFill>
                  <a:schemeClr val="tx1"/>
                </a:solidFill>
              </a:rPr>
              <a:t>5 sub | Delita</a:t>
            </a:r>
            <a:endParaRPr lang="en-US" sz="1200" dirty="0"/>
          </a:p>
        </p:txBody>
      </p:sp>
      <p:sp>
        <p:nvSpPr>
          <p:cNvPr id="27" name="Text 25"/>
          <p:cNvSpPr txBox="1"/>
          <p:nvPr/>
        </p:nvSpPr>
        <p:spPr>
          <a:xfrm>
            <a:off x="777240" y="4005072"/>
            <a:ext cx="777240" cy="265176"/>
          </a:xfrm>
          <a:prstGeom prst="rect">
            <a:avLst/>
          </a:prstGeom>
          <a:noFill/>
          <a:ln/>
        </p:spPr>
        <p:txBody>
          <a:bodyPr wrap="square" lIns="0" tIns="0" rIns="0" bIns="0" rtlCol="0" anchor="ctr"/>
          <a:lstStyle/>
          <a:p>
            <a:pPr indent="0" marL="0">
              <a:buNone/>
            </a:pPr>
            <a:r>
              <a:rPr lang="en-US" sz="1200" b="1" dirty="0">
                <a:solidFill>
                  <a:schemeClr val="accent6"/>
                </a:solidFill>
              </a:rPr>
              <a:t>PBI-08</a:t>
            </a:r>
            <a:endParaRPr lang="en-US" sz="1200" dirty="0"/>
          </a:p>
        </p:txBody>
      </p:sp>
      <p:sp>
        <p:nvSpPr>
          <p:cNvPr id="28" name="Text 26"/>
          <p:cNvSpPr txBox="1"/>
          <p:nvPr/>
        </p:nvSpPr>
        <p:spPr>
          <a:xfrm>
            <a:off x="1554480" y="4005072"/>
            <a:ext cx="2697480" cy="265176"/>
          </a:xfrm>
          <a:prstGeom prst="rect">
            <a:avLst/>
          </a:prstGeom>
          <a:noFill/>
          <a:ln/>
        </p:spPr>
        <p:txBody>
          <a:bodyPr wrap="square" lIns="0" tIns="0" rIns="0" bIns="0" rtlCol="0" anchor="ctr"/>
          <a:lstStyle/>
          <a:p>
            <a:pPr indent="0" marL="0">
              <a:buNone/>
            </a:pPr>
            <a:r>
              <a:rPr lang="en-US" sz="1300" b="1" dirty="0">
                <a:solidFill>
                  <a:schemeClr val="tx1"/>
                </a:solidFill>
              </a:rPr>
              <a:t>Paket Layanan</a:t>
            </a:r>
            <a:endParaRPr lang="en-US" sz="1300" dirty="0"/>
          </a:p>
        </p:txBody>
      </p:sp>
      <p:sp>
        <p:nvSpPr>
          <p:cNvPr id="29" name="Text 27"/>
          <p:cNvSpPr txBox="1"/>
          <p:nvPr/>
        </p:nvSpPr>
        <p:spPr>
          <a:xfrm>
            <a:off x="4251960" y="4005072"/>
            <a:ext cx="1508760" cy="265176"/>
          </a:xfrm>
          <a:prstGeom prst="rect">
            <a:avLst/>
          </a:prstGeom>
          <a:noFill/>
          <a:ln/>
        </p:spPr>
        <p:txBody>
          <a:bodyPr wrap="square" lIns="0" tIns="0" rIns="0" bIns="0" rtlCol="0" anchor="ctr"/>
          <a:lstStyle/>
          <a:p>
            <a:pPr algn="r" indent="0" marL="0">
              <a:buNone/>
            </a:pPr>
            <a:r>
              <a:rPr lang="en-US" sz="1200" dirty="0">
                <a:solidFill>
                  <a:schemeClr val="tx1"/>
                </a:solidFill>
              </a:rPr>
              <a:t>5 sub | Fadli</a:t>
            </a:r>
            <a:endParaRPr lang="en-US" sz="1200" dirty="0"/>
          </a:p>
        </p:txBody>
      </p:sp>
      <p:sp>
        <p:nvSpPr>
          <p:cNvPr id="30" name="Text 28"/>
          <p:cNvSpPr txBox="1"/>
          <p:nvPr/>
        </p:nvSpPr>
        <p:spPr>
          <a:xfrm>
            <a:off x="777240" y="4270248"/>
            <a:ext cx="777240" cy="265176"/>
          </a:xfrm>
          <a:prstGeom prst="rect">
            <a:avLst/>
          </a:prstGeom>
          <a:noFill/>
          <a:ln/>
        </p:spPr>
        <p:txBody>
          <a:bodyPr wrap="square" lIns="0" tIns="0" rIns="0" bIns="0" rtlCol="0" anchor="ctr"/>
          <a:lstStyle/>
          <a:p>
            <a:pPr indent="0" marL="0">
              <a:buNone/>
            </a:pPr>
            <a:r>
              <a:rPr lang="en-US" sz="1200" b="1" dirty="0">
                <a:solidFill>
                  <a:schemeClr val="accent6"/>
                </a:solidFill>
              </a:rPr>
              <a:t>PBI-09</a:t>
            </a:r>
            <a:endParaRPr lang="en-US" sz="1200" dirty="0"/>
          </a:p>
        </p:txBody>
      </p:sp>
      <p:sp>
        <p:nvSpPr>
          <p:cNvPr id="31" name="Text 29"/>
          <p:cNvSpPr txBox="1"/>
          <p:nvPr/>
        </p:nvSpPr>
        <p:spPr>
          <a:xfrm>
            <a:off x="1554480" y="4270248"/>
            <a:ext cx="2697480" cy="265176"/>
          </a:xfrm>
          <a:prstGeom prst="rect">
            <a:avLst/>
          </a:prstGeom>
          <a:noFill/>
          <a:ln/>
        </p:spPr>
        <p:txBody>
          <a:bodyPr wrap="square" lIns="0" tIns="0" rIns="0" bIns="0" rtlCol="0" anchor="ctr"/>
          <a:lstStyle/>
          <a:p>
            <a:pPr indent="0" marL="0">
              <a:buNone/>
            </a:pPr>
            <a:r>
              <a:rPr lang="en-US" sz="1300" b="1" dirty="0">
                <a:solidFill>
                  <a:schemeClr val="tx1"/>
                </a:solidFill>
              </a:rPr>
              <a:t>Penjemput Terdaftar</a:t>
            </a:r>
            <a:endParaRPr lang="en-US" sz="1300" dirty="0"/>
          </a:p>
        </p:txBody>
      </p:sp>
      <p:sp>
        <p:nvSpPr>
          <p:cNvPr id="32" name="Text 30"/>
          <p:cNvSpPr txBox="1"/>
          <p:nvPr/>
        </p:nvSpPr>
        <p:spPr>
          <a:xfrm>
            <a:off x="4251960" y="4270248"/>
            <a:ext cx="1508760" cy="265176"/>
          </a:xfrm>
          <a:prstGeom prst="rect">
            <a:avLst/>
          </a:prstGeom>
          <a:noFill/>
          <a:ln/>
        </p:spPr>
        <p:txBody>
          <a:bodyPr wrap="square" lIns="0" tIns="0" rIns="0" bIns="0" rtlCol="0" anchor="ctr"/>
          <a:lstStyle/>
          <a:p>
            <a:pPr algn="r" indent="0" marL="0">
              <a:buNone/>
            </a:pPr>
            <a:r>
              <a:rPr lang="en-US" sz="1200" dirty="0">
                <a:solidFill>
                  <a:schemeClr val="tx1"/>
                </a:solidFill>
              </a:rPr>
              <a:t>5 sub | Fadli</a:t>
            </a:r>
            <a:endParaRPr lang="en-US" sz="1200" dirty="0"/>
          </a:p>
        </p:txBody>
      </p:sp>
      <p:sp>
        <p:nvSpPr>
          <p:cNvPr id="33" name="Text 31"/>
          <p:cNvSpPr txBox="1"/>
          <p:nvPr/>
        </p:nvSpPr>
        <p:spPr>
          <a:xfrm>
            <a:off x="777240" y="4535424"/>
            <a:ext cx="777240" cy="265176"/>
          </a:xfrm>
          <a:prstGeom prst="rect">
            <a:avLst/>
          </a:prstGeom>
          <a:noFill/>
          <a:ln/>
        </p:spPr>
        <p:txBody>
          <a:bodyPr wrap="square" lIns="0" tIns="0" rIns="0" bIns="0" rtlCol="0" anchor="ctr"/>
          <a:lstStyle/>
          <a:p>
            <a:pPr indent="0" marL="0">
              <a:buNone/>
            </a:pPr>
            <a:r>
              <a:rPr lang="en-US" sz="1200" b="1" dirty="0">
                <a:solidFill>
                  <a:schemeClr val="accent6"/>
                </a:solidFill>
              </a:rPr>
              <a:t>PBI-10</a:t>
            </a:r>
            <a:endParaRPr lang="en-US" sz="1200" dirty="0"/>
          </a:p>
        </p:txBody>
      </p:sp>
      <p:sp>
        <p:nvSpPr>
          <p:cNvPr id="34" name="Text 32"/>
          <p:cNvSpPr txBox="1"/>
          <p:nvPr/>
        </p:nvSpPr>
        <p:spPr>
          <a:xfrm>
            <a:off x="1554480" y="4535424"/>
            <a:ext cx="2697480" cy="265176"/>
          </a:xfrm>
          <a:prstGeom prst="rect">
            <a:avLst/>
          </a:prstGeom>
          <a:noFill/>
          <a:ln/>
        </p:spPr>
        <p:txBody>
          <a:bodyPr wrap="square" lIns="0" tIns="0" rIns="0" bIns="0" rtlCol="0" anchor="ctr"/>
          <a:lstStyle/>
          <a:p>
            <a:pPr indent="0" marL="0">
              <a:buNone/>
            </a:pPr>
            <a:r>
              <a:rPr lang="en-US" sz="1300" b="1" dirty="0">
                <a:solidFill>
                  <a:schemeClr val="tx1"/>
                </a:solidFill>
              </a:rPr>
              <a:t>Tagihan dan Pembayaran</a:t>
            </a:r>
            <a:endParaRPr lang="en-US" sz="1300" dirty="0"/>
          </a:p>
        </p:txBody>
      </p:sp>
      <p:sp>
        <p:nvSpPr>
          <p:cNvPr id="35" name="Text 33"/>
          <p:cNvSpPr txBox="1"/>
          <p:nvPr/>
        </p:nvSpPr>
        <p:spPr>
          <a:xfrm>
            <a:off x="4251960" y="4535424"/>
            <a:ext cx="1508760" cy="265176"/>
          </a:xfrm>
          <a:prstGeom prst="rect">
            <a:avLst/>
          </a:prstGeom>
          <a:noFill/>
          <a:ln/>
        </p:spPr>
        <p:txBody>
          <a:bodyPr wrap="square" lIns="0" tIns="0" rIns="0" bIns="0" rtlCol="0" anchor="ctr"/>
          <a:lstStyle/>
          <a:p>
            <a:pPr algn="r" indent="0" marL="0">
              <a:buNone/>
            </a:pPr>
            <a:r>
              <a:rPr lang="en-US" sz="1200" dirty="0">
                <a:solidFill>
                  <a:schemeClr val="tx1"/>
                </a:solidFill>
              </a:rPr>
              <a:t>9 sub | Fadli</a:t>
            </a:r>
            <a:endParaRPr lang="en-US" sz="1200" dirty="0"/>
          </a:p>
        </p:txBody>
      </p:sp>
      <p:sp>
        <p:nvSpPr>
          <p:cNvPr id="36" name="Text 34"/>
          <p:cNvSpPr txBox="1"/>
          <p:nvPr/>
        </p:nvSpPr>
        <p:spPr>
          <a:xfrm>
            <a:off x="777240" y="4800600"/>
            <a:ext cx="777240" cy="265176"/>
          </a:xfrm>
          <a:prstGeom prst="rect">
            <a:avLst/>
          </a:prstGeom>
          <a:noFill/>
          <a:ln/>
        </p:spPr>
        <p:txBody>
          <a:bodyPr wrap="square" lIns="0" tIns="0" rIns="0" bIns="0" rtlCol="0" anchor="ctr"/>
          <a:lstStyle/>
          <a:p>
            <a:pPr indent="0" marL="0">
              <a:buNone/>
            </a:pPr>
            <a:r>
              <a:rPr lang="en-US" sz="1200" b="1" dirty="0">
                <a:solidFill>
                  <a:schemeClr val="accent6"/>
                </a:solidFill>
              </a:rPr>
              <a:t>PBI-11</a:t>
            </a:r>
            <a:endParaRPr lang="en-US" sz="1200" dirty="0"/>
          </a:p>
        </p:txBody>
      </p:sp>
      <p:sp>
        <p:nvSpPr>
          <p:cNvPr id="37" name="Text 35"/>
          <p:cNvSpPr txBox="1"/>
          <p:nvPr/>
        </p:nvSpPr>
        <p:spPr>
          <a:xfrm>
            <a:off x="1554480" y="4800600"/>
            <a:ext cx="2697480" cy="265176"/>
          </a:xfrm>
          <a:prstGeom prst="rect">
            <a:avLst/>
          </a:prstGeom>
          <a:noFill/>
          <a:ln/>
        </p:spPr>
        <p:txBody>
          <a:bodyPr wrap="square" lIns="0" tIns="0" rIns="0" bIns="0" rtlCol="0" anchor="ctr"/>
          <a:lstStyle/>
          <a:p>
            <a:pPr indent="0" marL="0">
              <a:buNone/>
            </a:pPr>
            <a:r>
              <a:rPr lang="en-US" sz="1300" b="1" dirty="0">
                <a:solidFill>
                  <a:schemeClr val="tx1"/>
                </a:solidFill>
              </a:rPr>
              <a:t>Pendaftaran dan Verifikasi</a:t>
            </a:r>
            <a:endParaRPr lang="en-US" sz="1300" dirty="0"/>
          </a:p>
        </p:txBody>
      </p:sp>
      <p:sp>
        <p:nvSpPr>
          <p:cNvPr id="38" name="Text 36"/>
          <p:cNvSpPr txBox="1"/>
          <p:nvPr/>
        </p:nvSpPr>
        <p:spPr>
          <a:xfrm>
            <a:off x="4251960" y="4800600"/>
            <a:ext cx="1508760" cy="265176"/>
          </a:xfrm>
          <a:prstGeom prst="rect">
            <a:avLst/>
          </a:prstGeom>
          <a:noFill/>
          <a:ln/>
        </p:spPr>
        <p:txBody>
          <a:bodyPr wrap="square" lIns="0" tIns="0" rIns="0" bIns="0" rtlCol="0" anchor="ctr"/>
          <a:lstStyle/>
          <a:p>
            <a:pPr algn="r" indent="0" marL="0">
              <a:buNone/>
            </a:pPr>
            <a:r>
              <a:rPr lang="en-US" sz="1200" dirty="0">
                <a:solidFill>
                  <a:schemeClr val="tx1"/>
                </a:solidFill>
              </a:rPr>
              <a:t>6 sub | Faris</a:t>
            </a:r>
            <a:endParaRPr lang="en-US" sz="1200" dirty="0"/>
          </a:p>
        </p:txBody>
      </p:sp>
      <p:sp>
        <p:nvSpPr>
          <p:cNvPr id="39" name="Text 37"/>
          <p:cNvSpPr txBox="1"/>
          <p:nvPr/>
        </p:nvSpPr>
        <p:spPr>
          <a:xfrm>
            <a:off x="777240" y="5065776"/>
            <a:ext cx="777240" cy="265176"/>
          </a:xfrm>
          <a:prstGeom prst="rect">
            <a:avLst/>
          </a:prstGeom>
          <a:noFill/>
          <a:ln/>
        </p:spPr>
        <p:txBody>
          <a:bodyPr wrap="square" lIns="0" tIns="0" rIns="0" bIns="0" rtlCol="0" anchor="ctr"/>
          <a:lstStyle/>
          <a:p>
            <a:pPr indent="0" marL="0">
              <a:buNone/>
            </a:pPr>
            <a:r>
              <a:rPr lang="en-US" sz="1200" b="1" dirty="0">
                <a:solidFill>
                  <a:schemeClr val="accent6"/>
                </a:solidFill>
              </a:rPr>
              <a:t>PBI-12</a:t>
            </a:r>
            <a:endParaRPr lang="en-US" sz="1200" dirty="0"/>
          </a:p>
        </p:txBody>
      </p:sp>
      <p:sp>
        <p:nvSpPr>
          <p:cNvPr id="40" name="Text 38"/>
          <p:cNvSpPr txBox="1"/>
          <p:nvPr/>
        </p:nvSpPr>
        <p:spPr>
          <a:xfrm>
            <a:off x="1554480" y="5065776"/>
            <a:ext cx="2697480" cy="265176"/>
          </a:xfrm>
          <a:prstGeom prst="rect">
            <a:avLst/>
          </a:prstGeom>
          <a:noFill/>
          <a:ln/>
        </p:spPr>
        <p:txBody>
          <a:bodyPr wrap="square" lIns="0" tIns="0" rIns="0" bIns="0" rtlCol="0" anchor="ctr"/>
          <a:lstStyle/>
          <a:p>
            <a:pPr indent="0" marL="0">
              <a:buNone/>
            </a:pPr>
            <a:r>
              <a:rPr lang="en-US" sz="1300" b="1" dirty="0">
                <a:solidFill>
                  <a:schemeClr val="tx1"/>
                </a:solidFill>
              </a:rPr>
              <a:t>Data Anak</a:t>
            </a:r>
            <a:endParaRPr lang="en-US" sz="1300" dirty="0"/>
          </a:p>
        </p:txBody>
      </p:sp>
      <p:sp>
        <p:nvSpPr>
          <p:cNvPr id="41" name="Text 39"/>
          <p:cNvSpPr txBox="1"/>
          <p:nvPr/>
        </p:nvSpPr>
        <p:spPr>
          <a:xfrm>
            <a:off x="4251960" y="5065776"/>
            <a:ext cx="1508760" cy="265176"/>
          </a:xfrm>
          <a:prstGeom prst="rect">
            <a:avLst/>
          </a:prstGeom>
          <a:noFill/>
          <a:ln/>
        </p:spPr>
        <p:txBody>
          <a:bodyPr wrap="square" lIns="0" tIns="0" rIns="0" bIns="0" rtlCol="0" anchor="ctr"/>
          <a:lstStyle/>
          <a:p>
            <a:pPr algn="r" indent="0" marL="0">
              <a:buNone/>
            </a:pPr>
            <a:r>
              <a:rPr lang="en-US" sz="1200" dirty="0">
                <a:solidFill>
                  <a:schemeClr val="tx1"/>
                </a:solidFill>
              </a:rPr>
              <a:t>5 sub | Faris</a:t>
            </a:r>
            <a:endParaRPr lang="en-US" sz="1200" dirty="0"/>
          </a:p>
        </p:txBody>
      </p:sp>
      <p:sp>
        <p:nvSpPr>
          <p:cNvPr id="42" name="Text 40"/>
          <p:cNvSpPr txBox="1"/>
          <p:nvPr/>
        </p:nvSpPr>
        <p:spPr>
          <a:xfrm>
            <a:off x="777240" y="5330952"/>
            <a:ext cx="777240" cy="265176"/>
          </a:xfrm>
          <a:prstGeom prst="rect">
            <a:avLst/>
          </a:prstGeom>
          <a:noFill/>
          <a:ln/>
        </p:spPr>
        <p:txBody>
          <a:bodyPr wrap="square" lIns="0" tIns="0" rIns="0" bIns="0" rtlCol="0" anchor="ctr"/>
          <a:lstStyle/>
          <a:p>
            <a:pPr indent="0" marL="0">
              <a:buNone/>
            </a:pPr>
            <a:r>
              <a:rPr lang="en-US" sz="1200" b="1" dirty="0">
                <a:solidFill>
                  <a:schemeClr val="accent6"/>
                </a:solidFill>
              </a:rPr>
              <a:t>PBI-13</a:t>
            </a:r>
            <a:endParaRPr lang="en-US" sz="1200" dirty="0"/>
          </a:p>
        </p:txBody>
      </p:sp>
      <p:sp>
        <p:nvSpPr>
          <p:cNvPr id="43" name="Text 41"/>
          <p:cNvSpPr txBox="1"/>
          <p:nvPr/>
        </p:nvSpPr>
        <p:spPr>
          <a:xfrm>
            <a:off x="1554480" y="5330952"/>
            <a:ext cx="2697480" cy="265176"/>
          </a:xfrm>
          <a:prstGeom prst="rect">
            <a:avLst/>
          </a:prstGeom>
          <a:noFill/>
          <a:ln/>
        </p:spPr>
        <p:txBody>
          <a:bodyPr wrap="square" lIns="0" tIns="0" rIns="0" bIns="0" rtlCol="0" anchor="ctr"/>
          <a:lstStyle/>
          <a:p>
            <a:pPr indent="0" marL="0">
              <a:buNone/>
            </a:pPr>
            <a:r>
              <a:rPr lang="en-US" sz="1300" b="1" dirty="0">
                <a:solidFill>
                  <a:schemeClr val="tx1"/>
                </a:solidFill>
              </a:rPr>
              <a:t>Catatan Kesehatan</a:t>
            </a:r>
            <a:endParaRPr lang="en-US" sz="1300" dirty="0"/>
          </a:p>
        </p:txBody>
      </p:sp>
      <p:sp>
        <p:nvSpPr>
          <p:cNvPr id="44" name="Text 42"/>
          <p:cNvSpPr txBox="1"/>
          <p:nvPr/>
        </p:nvSpPr>
        <p:spPr>
          <a:xfrm>
            <a:off x="4251960" y="5330952"/>
            <a:ext cx="1508760" cy="265176"/>
          </a:xfrm>
          <a:prstGeom prst="rect">
            <a:avLst/>
          </a:prstGeom>
          <a:noFill/>
          <a:ln/>
        </p:spPr>
        <p:txBody>
          <a:bodyPr wrap="square" lIns="0" tIns="0" rIns="0" bIns="0" rtlCol="0" anchor="ctr"/>
          <a:lstStyle/>
          <a:p>
            <a:pPr algn="r" indent="0" marL="0">
              <a:buNone/>
            </a:pPr>
            <a:r>
              <a:rPr lang="en-US" sz="1200" dirty="0">
                <a:solidFill>
                  <a:schemeClr val="tx1"/>
                </a:solidFill>
              </a:rPr>
              <a:t>5 sub | Faris</a:t>
            </a:r>
            <a:endParaRPr lang="en-US" sz="1200" dirty="0"/>
          </a:p>
        </p:txBody>
      </p:sp>
      <p:sp>
        <p:nvSpPr>
          <p:cNvPr id="45" name="Total SPRINT 1: Fondasi, Pendaftaran, Keuangan"/>
          <p:cNvSpPr/>
          <p:nvPr/>
        </p:nvSpPr>
        <p:spPr>
          <a:xfrm>
            <a:off x="822960" y="5669280"/>
            <a:ext cx="4892040" cy="411480"/>
          </a:xfrm>
          <a:prstGeom prst="roundRect">
            <a:avLst>
              <a:gd name="adj" fmla="val 26667"/>
            </a:avLst>
          </a:prstGeom>
          <a:solidFill>
            <a:schemeClr val="tx1"/>
          </a:solidFill>
          <a:ln w="12700">
            <a:solidFill>
              <a:schemeClr val="tx1"/>
            </a:solidFill>
            <a:prstDash val="solid"/>
          </a:ln>
        </p:spPr>
      </p:sp>
      <p:sp>
        <p:nvSpPr>
          <p:cNvPr id="46" name="Text 44"/>
          <p:cNvSpPr txBox="1"/>
          <p:nvPr/>
        </p:nvSpPr>
        <p:spPr>
          <a:xfrm>
            <a:off x="822960" y="5669280"/>
            <a:ext cx="4892040" cy="411480"/>
          </a:xfrm>
          <a:prstGeom prst="rect">
            <a:avLst/>
          </a:prstGeom>
          <a:noFill/>
          <a:ln/>
        </p:spPr>
        <p:txBody>
          <a:bodyPr wrap="square" lIns="0" tIns="0" rIns="0" bIns="0" rtlCol="0" anchor="ctr"/>
          <a:lstStyle/>
          <a:p>
            <a:pPr algn="ctr" indent="0" marL="0">
              <a:buNone/>
            </a:pPr>
            <a:r>
              <a:rPr lang="en-US" sz="1500" b="1" dirty="0">
                <a:solidFill>
                  <a:schemeClr val="bg1"/>
                </a:solidFill>
              </a:rPr>
              <a:t>Total 70 sub-PBI</a:t>
            </a:r>
            <a:endParaRPr lang="en-US" sz="1500" dirty="0"/>
          </a:p>
        </p:txBody>
      </p:sp>
      <p:sp>
        <p:nvSpPr>
          <p:cNvPr id="47" name="Label SPRINT 2: Jadwal, Operasional, Laporan"/>
          <p:cNvSpPr/>
          <p:nvPr/>
        </p:nvSpPr>
        <p:spPr>
          <a:xfrm>
            <a:off x="6172200" y="1371600"/>
            <a:ext cx="5440680" cy="502920"/>
          </a:xfrm>
          <a:prstGeom prst="roundRect">
            <a:avLst>
              <a:gd name="adj" fmla="val 25455"/>
            </a:avLst>
          </a:prstGeom>
          <a:solidFill>
            <a:schemeClr val="accent4"/>
          </a:solidFill>
          <a:ln w="19050">
            <a:solidFill>
              <a:schemeClr val="tx1"/>
            </a:solidFill>
            <a:prstDash val="solid"/>
          </a:ln>
        </p:spPr>
      </p:sp>
      <p:sp>
        <p:nvSpPr>
          <p:cNvPr id="48" name="Text 46"/>
          <p:cNvSpPr txBox="1"/>
          <p:nvPr/>
        </p:nvSpPr>
        <p:spPr>
          <a:xfrm>
            <a:off x="6400800" y="1371600"/>
            <a:ext cx="4983480" cy="502920"/>
          </a:xfrm>
          <a:prstGeom prst="rect">
            <a:avLst/>
          </a:prstGeom>
          <a:noFill/>
          <a:ln/>
        </p:spPr>
        <p:txBody>
          <a:bodyPr wrap="square" lIns="0" tIns="0" rIns="0" bIns="0" rtlCol="0" anchor="ctr"/>
          <a:lstStyle/>
          <a:p>
            <a:pPr indent="0" marL="0">
              <a:buNone/>
            </a:pPr>
            <a:r>
              <a:rPr lang="en-US" sz="1400" b="1" dirty="0">
                <a:solidFill>
                  <a:schemeClr val="tx1"/>
                </a:solidFill>
              </a:rPr>
              <a:t>SPRINT 2: Jadwal, Operasional, Laporan</a:t>
            </a:r>
            <a:endParaRPr lang="en-US" sz="1400" dirty="0"/>
          </a:p>
        </p:txBody>
      </p:sp>
      <p:sp>
        <p:nvSpPr>
          <p:cNvPr id="49" name="Kartu SPRINT 2: Jadwal, Operasional, Laporan"/>
          <p:cNvSpPr/>
          <p:nvPr/>
        </p:nvSpPr>
        <p:spPr>
          <a:xfrm>
            <a:off x="6172200" y="2011680"/>
            <a:ext cx="5440680" cy="4206240"/>
          </a:xfrm>
          <a:prstGeom prst="roundRect">
            <a:avLst>
              <a:gd name="adj" fmla="val 3043"/>
            </a:avLst>
          </a:prstGeom>
          <a:solidFill>
            <a:schemeClr val="bg2"/>
          </a:solidFill>
          <a:ln w="19050">
            <a:solidFill>
              <a:schemeClr val="tx1"/>
            </a:solidFill>
            <a:prstDash val="solid"/>
          </a:ln>
        </p:spPr>
      </p:sp>
      <p:sp>
        <p:nvSpPr>
          <p:cNvPr id="50" name="Text 48"/>
          <p:cNvSpPr txBox="1"/>
          <p:nvPr/>
        </p:nvSpPr>
        <p:spPr>
          <a:xfrm>
            <a:off x="6400800" y="2148840"/>
            <a:ext cx="777240" cy="457200"/>
          </a:xfrm>
          <a:prstGeom prst="rect">
            <a:avLst/>
          </a:prstGeom>
          <a:noFill/>
          <a:ln/>
        </p:spPr>
        <p:txBody>
          <a:bodyPr wrap="square" lIns="0" tIns="0" rIns="0" bIns="0" rtlCol="0" anchor="ctr"/>
          <a:lstStyle/>
          <a:p>
            <a:pPr indent="0" marL="0">
              <a:buNone/>
            </a:pPr>
            <a:r>
              <a:rPr lang="en-US" sz="1200" b="1" dirty="0">
                <a:solidFill>
                  <a:schemeClr val="accent6"/>
                </a:solidFill>
              </a:rPr>
              <a:t>PBI-14</a:t>
            </a:r>
            <a:endParaRPr lang="en-US" sz="1200" dirty="0"/>
          </a:p>
        </p:txBody>
      </p:sp>
      <p:sp>
        <p:nvSpPr>
          <p:cNvPr id="51" name="Text 49"/>
          <p:cNvSpPr txBox="1"/>
          <p:nvPr/>
        </p:nvSpPr>
        <p:spPr>
          <a:xfrm>
            <a:off x="7178040" y="2148840"/>
            <a:ext cx="2697480" cy="457200"/>
          </a:xfrm>
          <a:prstGeom prst="rect">
            <a:avLst/>
          </a:prstGeom>
          <a:noFill/>
          <a:ln/>
        </p:spPr>
        <p:txBody>
          <a:bodyPr wrap="square" lIns="0" tIns="0" rIns="0" bIns="0" rtlCol="0" anchor="ctr"/>
          <a:lstStyle/>
          <a:p>
            <a:pPr indent="0" marL="0">
              <a:buNone/>
            </a:pPr>
            <a:r>
              <a:rPr lang="en-US" sz="1300" b="1" dirty="0">
                <a:solidFill>
                  <a:schemeClr val="tx1"/>
                </a:solidFill>
              </a:rPr>
              <a:t>Jadwal Shift Pengasuh</a:t>
            </a:r>
            <a:endParaRPr lang="en-US" sz="1300" dirty="0"/>
          </a:p>
        </p:txBody>
      </p:sp>
      <p:sp>
        <p:nvSpPr>
          <p:cNvPr id="52" name="Text 50"/>
          <p:cNvSpPr txBox="1"/>
          <p:nvPr/>
        </p:nvSpPr>
        <p:spPr>
          <a:xfrm>
            <a:off x="9875520" y="2148840"/>
            <a:ext cx="1508760" cy="457200"/>
          </a:xfrm>
          <a:prstGeom prst="rect">
            <a:avLst/>
          </a:prstGeom>
          <a:noFill/>
          <a:ln/>
        </p:spPr>
        <p:txBody>
          <a:bodyPr wrap="square" lIns="0" tIns="0" rIns="0" bIns="0" rtlCol="0" anchor="ctr"/>
          <a:lstStyle/>
          <a:p>
            <a:pPr algn="r" indent="0" marL="0">
              <a:buNone/>
            </a:pPr>
            <a:r>
              <a:rPr lang="en-US" sz="1200" dirty="0">
                <a:solidFill>
                  <a:schemeClr val="tx1"/>
                </a:solidFill>
              </a:rPr>
              <a:t>5 sub | Raihan</a:t>
            </a:r>
            <a:endParaRPr lang="en-US" sz="1200" dirty="0"/>
          </a:p>
        </p:txBody>
      </p:sp>
      <p:sp>
        <p:nvSpPr>
          <p:cNvPr id="53" name="Text 51"/>
          <p:cNvSpPr txBox="1"/>
          <p:nvPr/>
        </p:nvSpPr>
        <p:spPr>
          <a:xfrm>
            <a:off x="6400800" y="2606040"/>
            <a:ext cx="777240" cy="457200"/>
          </a:xfrm>
          <a:prstGeom prst="rect">
            <a:avLst/>
          </a:prstGeom>
          <a:noFill/>
          <a:ln/>
        </p:spPr>
        <p:txBody>
          <a:bodyPr wrap="square" lIns="0" tIns="0" rIns="0" bIns="0" rtlCol="0" anchor="ctr"/>
          <a:lstStyle/>
          <a:p>
            <a:pPr indent="0" marL="0">
              <a:buNone/>
            </a:pPr>
            <a:r>
              <a:rPr lang="en-US" sz="1200" b="1" dirty="0">
                <a:solidFill>
                  <a:schemeClr val="accent6"/>
                </a:solidFill>
              </a:rPr>
              <a:t>PBI-15</a:t>
            </a:r>
            <a:endParaRPr lang="en-US" sz="1200" dirty="0"/>
          </a:p>
        </p:txBody>
      </p:sp>
      <p:sp>
        <p:nvSpPr>
          <p:cNvPr id="54" name="Text 52"/>
          <p:cNvSpPr txBox="1"/>
          <p:nvPr/>
        </p:nvSpPr>
        <p:spPr>
          <a:xfrm>
            <a:off x="7178040" y="2606040"/>
            <a:ext cx="2697480" cy="457200"/>
          </a:xfrm>
          <a:prstGeom prst="rect">
            <a:avLst/>
          </a:prstGeom>
          <a:noFill/>
          <a:ln/>
        </p:spPr>
        <p:txBody>
          <a:bodyPr wrap="square" lIns="0" tIns="0" rIns="0" bIns="0" rtlCol="0" anchor="ctr"/>
          <a:lstStyle/>
          <a:p>
            <a:pPr indent="0" marL="0">
              <a:buNone/>
            </a:pPr>
            <a:r>
              <a:rPr lang="en-US" sz="1300" b="1" dirty="0">
                <a:solidFill>
                  <a:schemeClr val="tx1"/>
                </a:solidFill>
              </a:rPr>
              <a:t>Jadwal Kegiatan</a:t>
            </a:r>
            <a:endParaRPr lang="en-US" sz="1300" dirty="0"/>
          </a:p>
        </p:txBody>
      </p:sp>
      <p:sp>
        <p:nvSpPr>
          <p:cNvPr id="55" name="Text 53"/>
          <p:cNvSpPr txBox="1"/>
          <p:nvPr/>
        </p:nvSpPr>
        <p:spPr>
          <a:xfrm>
            <a:off x="9875520" y="2606040"/>
            <a:ext cx="1508760" cy="457200"/>
          </a:xfrm>
          <a:prstGeom prst="rect">
            <a:avLst/>
          </a:prstGeom>
          <a:noFill/>
          <a:ln/>
        </p:spPr>
        <p:txBody>
          <a:bodyPr wrap="square" lIns="0" tIns="0" rIns="0" bIns="0" rtlCol="0" anchor="ctr"/>
          <a:lstStyle/>
          <a:p>
            <a:pPr algn="r" indent="0" marL="0">
              <a:buNone/>
            </a:pPr>
            <a:r>
              <a:rPr lang="en-US" sz="1200" dirty="0">
                <a:solidFill>
                  <a:schemeClr val="tx1"/>
                </a:solidFill>
              </a:rPr>
              <a:t>5 sub | Raihan</a:t>
            </a:r>
            <a:endParaRPr lang="en-US" sz="1200" dirty="0"/>
          </a:p>
        </p:txBody>
      </p:sp>
      <p:sp>
        <p:nvSpPr>
          <p:cNvPr id="56" name="Text 54"/>
          <p:cNvSpPr txBox="1"/>
          <p:nvPr/>
        </p:nvSpPr>
        <p:spPr>
          <a:xfrm>
            <a:off x="6400800" y="3063240"/>
            <a:ext cx="777240" cy="457200"/>
          </a:xfrm>
          <a:prstGeom prst="rect">
            <a:avLst/>
          </a:prstGeom>
          <a:noFill/>
          <a:ln/>
        </p:spPr>
        <p:txBody>
          <a:bodyPr wrap="square" lIns="0" tIns="0" rIns="0" bIns="0" rtlCol="0" anchor="ctr"/>
          <a:lstStyle/>
          <a:p>
            <a:pPr indent="0" marL="0">
              <a:buNone/>
            </a:pPr>
            <a:r>
              <a:rPr lang="en-US" sz="1200" b="1" dirty="0">
                <a:solidFill>
                  <a:schemeClr val="accent6"/>
                </a:solidFill>
              </a:rPr>
              <a:t>PBI-16</a:t>
            </a:r>
            <a:endParaRPr lang="en-US" sz="1200" dirty="0"/>
          </a:p>
        </p:txBody>
      </p:sp>
      <p:sp>
        <p:nvSpPr>
          <p:cNvPr id="57" name="Text 55"/>
          <p:cNvSpPr txBox="1"/>
          <p:nvPr/>
        </p:nvSpPr>
        <p:spPr>
          <a:xfrm>
            <a:off x="7178040" y="3063240"/>
            <a:ext cx="2697480" cy="457200"/>
          </a:xfrm>
          <a:prstGeom prst="rect">
            <a:avLst/>
          </a:prstGeom>
          <a:noFill/>
          <a:ln/>
        </p:spPr>
        <p:txBody>
          <a:bodyPr wrap="square" lIns="0" tIns="0" rIns="0" bIns="0" rtlCol="0" anchor="ctr"/>
          <a:lstStyle/>
          <a:p>
            <a:pPr indent="0" marL="0">
              <a:buNone/>
            </a:pPr>
            <a:r>
              <a:rPr lang="en-US" sz="1300" b="1" dirty="0">
                <a:solidFill>
                  <a:schemeClr val="tx1"/>
                </a:solidFill>
              </a:rPr>
              <a:t>Presensi Kehadiran Anak</a:t>
            </a:r>
            <a:endParaRPr lang="en-US" sz="1300" dirty="0"/>
          </a:p>
        </p:txBody>
      </p:sp>
      <p:sp>
        <p:nvSpPr>
          <p:cNvPr id="58" name="Text 56"/>
          <p:cNvSpPr txBox="1"/>
          <p:nvPr/>
        </p:nvSpPr>
        <p:spPr>
          <a:xfrm>
            <a:off x="9875520" y="3063240"/>
            <a:ext cx="1508760" cy="457200"/>
          </a:xfrm>
          <a:prstGeom prst="rect">
            <a:avLst/>
          </a:prstGeom>
          <a:noFill/>
          <a:ln/>
        </p:spPr>
        <p:txBody>
          <a:bodyPr wrap="square" lIns="0" tIns="0" rIns="0" bIns="0" rtlCol="0" anchor="ctr"/>
          <a:lstStyle/>
          <a:p>
            <a:pPr algn="r" indent="0" marL="0">
              <a:buNone/>
            </a:pPr>
            <a:r>
              <a:rPr lang="en-US" sz="1200" dirty="0">
                <a:solidFill>
                  <a:schemeClr val="tx1"/>
                </a:solidFill>
              </a:rPr>
              <a:t>7 sub | Raihan</a:t>
            </a:r>
            <a:endParaRPr lang="en-US" sz="1200" dirty="0"/>
          </a:p>
        </p:txBody>
      </p:sp>
      <p:sp>
        <p:nvSpPr>
          <p:cNvPr id="59" name="Text 57"/>
          <p:cNvSpPr txBox="1"/>
          <p:nvPr/>
        </p:nvSpPr>
        <p:spPr>
          <a:xfrm>
            <a:off x="6400800" y="3520440"/>
            <a:ext cx="777240" cy="457200"/>
          </a:xfrm>
          <a:prstGeom prst="rect">
            <a:avLst/>
          </a:prstGeom>
          <a:noFill/>
          <a:ln/>
        </p:spPr>
        <p:txBody>
          <a:bodyPr wrap="square" lIns="0" tIns="0" rIns="0" bIns="0" rtlCol="0" anchor="ctr"/>
          <a:lstStyle/>
          <a:p>
            <a:pPr indent="0" marL="0">
              <a:buNone/>
            </a:pPr>
            <a:r>
              <a:rPr lang="en-US" sz="1200" b="1" dirty="0">
                <a:solidFill>
                  <a:schemeClr val="accent6"/>
                </a:solidFill>
              </a:rPr>
              <a:t>PBI-17</a:t>
            </a:r>
            <a:endParaRPr lang="en-US" sz="1200" dirty="0"/>
          </a:p>
        </p:txBody>
      </p:sp>
      <p:sp>
        <p:nvSpPr>
          <p:cNvPr id="60" name="Text 58"/>
          <p:cNvSpPr txBox="1"/>
          <p:nvPr/>
        </p:nvSpPr>
        <p:spPr>
          <a:xfrm>
            <a:off x="7178040" y="3520440"/>
            <a:ext cx="2697480" cy="457200"/>
          </a:xfrm>
          <a:prstGeom prst="rect">
            <a:avLst/>
          </a:prstGeom>
          <a:noFill/>
          <a:ln/>
        </p:spPr>
        <p:txBody>
          <a:bodyPr wrap="square" lIns="0" tIns="0" rIns="0" bIns="0" rtlCol="0" anchor="ctr"/>
          <a:lstStyle/>
          <a:p>
            <a:pPr indent="0" marL="0">
              <a:buNone/>
            </a:pPr>
            <a:r>
              <a:rPr lang="en-US" sz="1300" b="1" dirty="0">
                <a:solidFill>
                  <a:schemeClr val="tx1"/>
                </a:solidFill>
              </a:rPr>
              <a:t>Izin Penjemputan Khusus</a:t>
            </a:r>
            <a:endParaRPr lang="en-US" sz="1300" dirty="0"/>
          </a:p>
        </p:txBody>
      </p:sp>
      <p:sp>
        <p:nvSpPr>
          <p:cNvPr id="61" name="Text 59"/>
          <p:cNvSpPr txBox="1"/>
          <p:nvPr/>
        </p:nvSpPr>
        <p:spPr>
          <a:xfrm>
            <a:off x="9875520" y="3520440"/>
            <a:ext cx="1508760" cy="457200"/>
          </a:xfrm>
          <a:prstGeom prst="rect">
            <a:avLst/>
          </a:prstGeom>
          <a:noFill/>
          <a:ln/>
        </p:spPr>
        <p:txBody>
          <a:bodyPr wrap="square" lIns="0" tIns="0" rIns="0" bIns="0" rtlCol="0" anchor="ctr"/>
          <a:lstStyle/>
          <a:p>
            <a:pPr algn="r" indent="0" marL="0">
              <a:buNone/>
            </a:pPr>
            <a:r>
              <a:rPr lang="en-US" sz="1200" dirty="0">
                <a:solidFill>
                  <a:schemeClr val="tx1"/>
                </a:solidFill>
              </a:rPr>
              <a:t>5 sub | Stephan</a:t>
            </a:r>
            <a:endParaRPr lang="en-US" sz="1200" dirty="0"/>
          </a:p>
        </p:txBody>
      </p:sp>
      <p:sp>
        <p:nvSpPr>
          <p:cNvPr id="62" name="Text 60"/>
          <p:cNvSpPr txBox="1"/>
          <p:nvPr/>
        </p:nvSpPr>
        <p:spPr>
          <a:xfrm>
            <a:off x="6400800" y="3977640"/>
            <a:ext cx="777240" cy="457200"/>
          </a:xfrm>
          <a:prstGeom prst="rect">
            <a:avLst/>
          </a:prstGeom>
          <a:noFill/>
          <a:ln/>
        </p:spPr>
        <p:txBody>
          <a:bodyPr wrap="square" lIns="0" tIns="0" rIns="0" bIns="0" rtlCol="0" anchor="ctr"/>
          <a:lstStyle/>
          <a:p>
            <a:pPr indent="0" marL="0">
              <a:buNone/>
            </a:pPr>
            <a:r>
              <a:rPr lang="en-US" sz="1200" b="1" dirty="0">
                <a:solidFill>
                  <a:schemeClr val="accent6"/>
                </a:solidFill>
              </a:rPr>
              <a:t>PBI-18</a:t>
            </a:r>
            <a:endParaRPr lang="en-US" sz="1200" dirty="0"/>
          </a:p>
        </p:txBody>
      </p:sp>
      <p:sp>
        <p:nvSpPr>
          <p:cNvPr id="63" name="Text 61"/>
          <p:cNvSpPr txBox="1"/>
          <p:nvPr/>
        </p:nvSpPr>
        <p:spPr>
          <a:xfrm>
            <a:off x="7178040" y="3977640"/>
            <a:ext cx="2697480" cy="457200"/>
          </a:xfrm>
          <a:prstGeom prst="rect">
            <a:avLst/>
          </a:prstGeom>
          <a:noFill/>
          <a:ln/>
        </p:spPr>
        <p:txBody>
          <a:bodyPr wrap="square" lIns="0" tIns="0" rIns="0" bIns="0" rtlCol="0" anchor="ctr"/>
          <a:lstStyle/>
          <a:p>
            <a:pPr indent="0" marL="0">
              <a:buNone/>
            </a:pPr>
            <a:r>
              <a:rPr lang="en-US" sz="1300" b="1" dirty="0">
                <a:solidFill>
                  <a:schemeClr val="tx1"/>
                </a:solidFill>
              </a:rPr>
              <a:t>Laporan Harian, Foto, Insiden</a:t>
            </a:r>
            <a:endParaRPr lang="en-US" sz="1300" dirty="0"/>
          </a:p>
        </p:txBody>
      </p:sp>
      <p:sp>
        <p:nvSpPr>
          <p:cNvPr id="64" name="Text 62"/>
          <p:cNvSpPr txBox="1"/>
          <p:nvPr/>
        </p:nvSpPr>
        <p:spPr>
          <a:xfrm>
            <a:off x="9875520" y="3977640"/>
            <a:ext cx="1508760" cy="457200"/>
          </a:xfrm>
          <a:prstGeom prst="rect">
            <a:avLst/>
          </a:prstGeom>
          <a:noFill/>
          <a:ln/>
        </p:spPr>
        <p:txBody>
          <a:bodyPr wrap="square" lIns="0" tIns="0" rIns="0" bIns="0" rtlCol="0" anchor="ctr"/>
          <a:lstStyle/>
          <a:p>
            <a:pPr algn="r" indent="0" marL="0">
              <a:buNone/>
            </a:pPr>
            <a:r>
              <a:rPr lang="en-US" sz="1200" dirty="0">
                <a:solidFill>
                  <a:schemeClr val="tx1"/>
                </a:solidFill>
              </a:rPr>
              <a:t>11 sub | Stephan</a:t>
            </a:r>
            <a:endParaRPr lang="en-US" sz="1200" dirty="0"/>
          </a:p>
        </p:txBody>
      </p:sp>
      <p:sp>
        <p:nvSpPr>
          <p:cNvPr id="65" name="Text 63"/>
          <p:cNvSpPr txBox="1"/>
          <p:nvPr/>
        </p:nvSpPr>
        <p:spPr>
          <a:xfrm>
            <a:off x="6400800" y="4434840"/>
            <a:ext cx="777240" cy="457200"/>
          </a:xfrm>
          <a:prstGeom prst="rect">
            <a:avLst/>
          </a:prstGeom>
          <a:noFill/>
          <a:ln/>
        </p:spPr>
        <p:txBody>
          <a:bodyPr wrap="square" lIns="0" tIns="0" rIns="0" bIns="0" rtlCol="0" anchor="ctr"/>
          <a:lstStyle/>
          <a:p>
            <a:pPr indent="0" marL="0">
              <a:buNone/>
            </a:pPr>
            <a:r>
              <a:rPr lang="en-US" sz="1200" b="1" dirty="0">
                <a:solidFill>
                  <a:schemeClr val="accent6"/>
                </a:solidFill>
              </a:rPr>
              <a:t>PBI-19</a:t>
            </a:r>
            <a:endParaRPr lang="en-US" sz="1200" dirty="0"/>
          </a:p>
        </p:txBody>
      </p:sp>
      <p:sp>
        <p:nvSpPr>
          <p:cNvPr id="66" name="Text 64"/>
          <p:cNvSpPr txBox="1"/>
          <p:nvPr/>
        </p:nvSpPr>
        <p:spPr>
          <a:xfrm>
            <a:off x="7178040" y="4434840"/>
            <a:ext cx="2697480" cy="457200"/>
          </a:xfrm>
          <a:prstGeom prst="rect">
            <a:avLst/>
          </a:prstGeom>
          <a:noFill/>
          <a:ln/>
        </p:spPr>
        <p:txBody>
          <a:bodyPr wrap="square" lIns="0" tIns="0" rIns="0" bIns="0" rtlCol="0" anchor="ctr"/>
          <a:lstStyle/>
          <a:p>
            <a:pPr indent="0" marL="0">
              <a:buNone/>
            </a:pPr>
            <a:r>
              <a:rPr lang="en-US" sz="1300" b="1" dirty="0">
                <a:solidFill>
                  <a:schemeClr val="tx1"/>
                </a:solidFill>
              </a:rPr>
              <a:t>Perkembangan Anak</a:t>
            </a:r>
            <a:endParaRPr lang="en-US" sz="1300" dirty="0"/>
          </a:p>
        </p:txBody>
      </p:sp>
      <p:sp>
        <p:nvSpPr>
          <p:cNvPr id="67" name="Text 65"/>
          <p:cNvSpPr txBox="1"/>
          <p:nvPr/>
        </p:nvSpPr>
        <p:spPr>
          <a:xfrm>
            <a:off x="9875520" y="4434840"/>
            <a:ext cx="1508760" cy="457200"/>
          </a:xfrm>
          <a:prstGeom prst="rect">
            <a:avLst/>
          </a:prstGeom>
          <a:noFill/>
          <a:ln/>
        </p:spPr>
        <p:txBody>
          <a:bodyPr wrap="square" lIns="0" tIns="0" rIns="0" bIns="0" rtlCol="0" anchor="ctr"/>
          <a:lstStyle/>
          <a:p>
            <a:pPr algn="r" indent="0" marL="0">
              <a:buNone/>
            </a:pPr>
            <a:r>
              <a:rPr lang="en-US" sz="1200" dirty="0">
                <a:solidFill>
                  <a:schemeClr val="tx1"/>
                </a:solidFill>
              </a:rPr>
              <a:t>5 sub | Stephan</a:t>
            </a:r>
            <a:endParaRPr lang="en-US" sz="1200" dirty="0"/>
          </a:p>
        </p:txBody>
      </p:sp>
      <p:sp>
        <p:nvSpPr>
          <p:cNvPr id="68" name="Text 66"/>
          <p:cNvSpPr txBox="1"/>
          <p:nvPr/>
        </p:nvSpPr>
        <p:spPr>
          <a:xfrm>
            <a:off x="6400800" y="4892040"/>
            <a:ext cx="777240" cy="457200"/>
          </a:xfrm>
          <a:prstGeom prst="rect">
            <a:avLst/>
          </a:prstGeom>
          <a:noFill/>
          <a:ln/>
        </p:spPr>
        <p:txBody>
          <a:bodyPr wrap="square" lIns="0" tIns="0" rIns="0" bIns="0" rtlCol="0" anchor="ctr"/>
          <a:lstStyle/>
          <a:p>
            <a:pPr indent="0" marL="0">
              <a:buNone/>
            </a:pPr>
            <a:r>
              <a:rPr lang="en-US" sz="1200" b="1" dirty="0">
                <a:solidFill>
                  <a:schemeClr val="accent6"/>
                </a:solidFill>
              </a:rPr>
              <a:t>PBI-20</a:t>
            </a:r>
            <a:endParaRPr lang="en-US" sz="1200" dirty="0"/>
          </a:p>
        </p:txBody>
      </p:sp>
      <p:sp>
        <p:nvSpPr>
          <p:cNvPr id="69" name="Text 67"/>
          <p:cNvSpPr txBox="1"/>
          <p:nvPr/>
        </p:nvSpPr>
        <p:spPr>
          <a:xfrm>
            <a:off x="7178040" y="4892040"/>
            <a:ext cx="2697480" cy="457200"/>
          </a:xfrm>
          <a:prstGeom prst="rect">
            <a:avLst/>
          </a:prstGeom>
          <a:noFill/>
          <a:ln/>
        </p:spPr>
        <p:txBody>
          <a:bodyPr wrap="square" lIns="0" tIns="0" rIns="0" bIns="0" rtlCol="0" anchor="ctr"/>
          <a:lstStyle/>
          <a:p>
            <a:pPr indent="0" marL="0">
              <a:buNone/>
            </a:pPr>
            <a:r>
              <a:rPr lang="en-US" sz="1300" b="1" dirty="0">
                <a:solidFill>
                  <a:schemeClr val="tx1"/>
                </a:solidFill>
              </a:rPr>
              <a:t>Dashboard per Role</a:t>
            </a:r>
            <a:endParaRPr lang="en-US" sz="1300" dirty="0"/>
          </a:p>
        </p:txBody>
      </p:sp>
      <p:sp>
        <p:nvSpPr>
          <p:cNvPr id="70" name="Text 68"/>
          <p:cNvSpPr txBox="1"/>
          <p:nvPr/>
        </p:nvSpPr>
        <p:spPr>
          <a:xfrm>
            <a:off x="9875520" y="4892040"/>
            <a:ext cx="1508760" cy="457200"/>
          </a:xfrm>
          <a:prstGeom prst="rect">
            <a:avLst/>
          </a:prstGeom>
          <a:noFill/>
          <a:ln/>
        </p:spPr>
        <p:txBody>
          <a:bodyPr wrap="square" lIns="0" tIns="0" rIns="0" bIns="0" rtlCol="0" anchor="ctr"/>
          <a:lstStyle/>
          <a:p>
            <a:pPr algn="r" indent="0" marL="0">
              <a:buNone/>
            </a:pPr>
            <a:r>
              <a:rPr lang="en-US" sz="1200" dirty="0">
                <a:solidFill>
                  <a:schemeClr val="tx1"/>
                </a:solidFill>
              </a:rPr>
              <a:t>3 sub | Tim</a:t>
            </a:r>
            <a:endParaRPr lang="en-US" sz="1200" dirty="0"/>
          </a:p>
        </p:txBody>
      </p:sp>
      <p:sp>
        <p:nvSpPr>
          <p:cNvPr id="71" name="Total SPRINT 2: Jadwal, Operasional, Laporan"/>
          <p:cNvSpPr/>
          <p:nvPr/>
        </p:nvSpPr>
        <p:spPr>
          <a:xfrm>
            <a:off x="6446520" y="5669280"/>
            <a:ext cx="4892040" cy="411480"/>
          </a:xfrm>
          <a:prstGeom prst="roundRect">
            <a:avLst>
              <a:gd name="adj" fmla="val 26667"/>
            </a:avLst>
          </a:prstGeom>
          <a:solidFill>
            <a:schemeClr val="tx1"/>
          </a:solidFill>
          <a:ln w="12700">
            <a:solidFill>
              <a:schemeClr val="tx1"/>
            </a:solidFill>
            <a:prstDash val="solid"/>
          </a:ln>
        </p:spPr>
      </p:sp>
      <p:sp>
        <p:nvSpPr>
          <p:cNvPr id="72" name="Text 70"/>
          <p:cNvSpPr txBox="1"/>
          <p:nvPr/>
        </p:nvSpPr>
        <p:spPr>
          <a:xfrm>
            <a:off x="6446520" y="5669280"/>
            <a:ext cx="4892040" cy="411480"/>
          </a:xfrm>
          <a:prstGeom prst="rect">
            <a:avLst/>
          </a:prstGeom>
          <a:noFill/>
          <a:ln/>
        </p:spPr>
        <p:txBody>
          <a:bodyPr wrap="square" lIns="0" tIns="0" rIns="0" bIns="0" rtlCol="0" anchor="ctr"/>
          <a:lstStyle/>
          <a:p>
            <a:pPr algn="ctr" indent="0" marL="0">
              <a:buNone/>
            </a:pPr>
            <a:r>
              <a:rPr lang="en-US" sz="1500" b="1" dirty="0">
                <a:solidFill>
                  <a:schemeClr val="bg1"/>
                </a:solidFill>
              </a:rPr>
              <a:t>Total 41 sub-PBI</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Rahman (1/4)</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1"/>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Abdurrahman Baasyir  |  102022580058</a:t>
            </a:r>
            <a:endParaRPr lang="en-US" sz="1300" dirty="0"/>
          </a:p>
        </p:txBody>
      </p:sp>
      <p:sp>
        <p:nvSpPr>
          <p:cNvPr id="5" name="Header PBI-01"/>
          <p:cNvSpPr/>
          <p:nvPr/>
        </p:nvSpPr>
        <p:spPr>
          <a:xfrm>
            <a:off x="548640" y="1371600"/>
            <a:ext cx="11064240" cy="384048"/>
          </a:xfrm>
          <a:prstGeom prst="roundRect">
            <a:avLst>
              <a:gd name="adj" fmla="val 23810"/>
            </a:avLst>
          </a:prstGeom>
          <a:solidFill>
            <a:schemeClr val="accent1"/>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PBI-01  Autentikasi dan RBAC   |   Sprint 1   |   5 sub-PBI</a:t>
            </a:r>
            <a:endParaRPr lang="en-US" sz="1400" dirty="0"/>
          </a:p>
        </p:txBody>
      </p:sp>
      <p:sp>
        <p:nvSpPr>
          <p:cNvPr id="7" name="Baris PBI-01a"/>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PBI-01a</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pengguna, saya ingin login lewat satu halaman dengan email dan kata sandi agar bisa masuk ke sistem.</a:t>
            </a:r>
            <a:endParaRPr lang="en-US" sz="1400" dirty="0"/>
          </a:p>
        </p:txBody>
      </p:sp>
      <p:sp>
        <p:nvSpPr>
          <p:cNvPr id="10" name="Baris PBI-01b"/>
          <p:cNvSpPr/>
          <p:nvPr/>
        </p:nvSpPr>
        <p:spPr>
          <a:xfrm>
            <a:off x="548640" y="2496312"/>
            <a:ext cx="11064240" cy="649224"/>
          </a:xfrm>
          <a:prstGeom prst="roundRect">
            <a:avLst>
              <a:gd name="adj" fmla="val 14085"/>
            </a:avLst>
          </a:prstGeom>
          <a:solidFill>
            <a:schemeClr val="bg1"/>
          </a:solidFill>
          <a:ln w="12700">
            <a:solidFill>
              <a:schemeClr val="tx1"/>
            </a:solidFill>
            <a:prstDash val="solid"/>
          </a:ln>
        </p:spPr>
      </p:sp>
      <p:sp>
        <p:nvSpPr>
          <p:cNvPr id="11" name="Text 9"/>
          <p:cNvSpPr txBox="1"/>
          <p:nvPr/>
        </p:nvSpPr>
        <p:spPr>
          <a:xfrm>
            <a:off x="685800" y="2496312"/>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PBI-01b</a:t>
            </a:r>
            <a:endParaRPr lang="en-US" sz="1300" dirty="0"/>
          </a:p>
        </p:txBody>
      </p:sp>
      <p:sp>
        <p:nvSpPr>
          <p:cNvPr id="12" name="Text 10"/>
          <p:cNvSpPr txBox="1"/>
          <p:nvPr/>
        </p:nvSpPr>
        <p:spPr>
          <a:xfrm>
            <a:off x="1645920" y="2496312"/>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pengguna, saya ingin langsung diarahkan ke dashboard sesuai peran saya (Admin, Pengasuh, Orang Tua) agar tidak perlu mencari halaman sendiri.</a:t>
            </a:r>
            <a:endParaRPr lang="en-US" sz="1400" dirty="0"/>
          </a:p>
        </p:txBody>
      </p:sp>
      <p:sp>
        <p:nvSpPr>
          <p:cNvPr id="13" name="Baris PBI-01c"/>
          <p:cNvSpPr/>
          <p:nvPr/>
        </p:nvSpPr>
        <p:spPr>
          <a:xfrm>
            <a:off x="548640" y="3191256"/>
            <a:ext cx="11064240" cy="649224"/>
          </a:xfrm>
          <a:prstGeom prst="roundRect">
            <a:avLst>
              <a:gd name="adj" fmla="val 14085"/>
            </a:avLst>
          </a:prstGeom>
          <a:solidFill>
            <a:schemeClr val="bg1"/>
          </a:solidFill>
          <a:ln w="12700">
            <a:solidFill>
              <a:schemeClr val="tx1"/>
            </a:solidFill>
            <a:prstDash val="solid"/>
          </a:ln>
        </p:spPr>
      </p:sp>
      <p:sp>
        <p:nvSpPr>
          <p:cNvPr id="14" name="Text 12"/>
          <p:cNvSpPr txBox="1"/>
          <p:nvPr/>
        </p:nvSpPr>
        <p:spPr>
          <a:xfrm>
            <a:off x="685800" y="3191256"/>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PBI-01c</a:t>
            </a:r>
            <a:endParaRPr lang="en-US" sz="1300" dirty="0"/>
          </a:p>
        </p:txBody>
      </p:sp>
      <p:sp>
        <p:nvSpPr>
          <p:cNvPr id="15" name="Text 13"/>
          <p:cNvSpPr txBox="1"/>
          <p:nvPr/>
        </p:nvSpPr>
        <p:spPr>
          <a:xfrm>
            <a:off x="1645920" y="3191256"/>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daycare, saya ingin halaman milik peran lain tertutup agar setiap orang hanya melihat data yang menjadi haknya.</a:t>
            </a:r>
            <a:endParaRPr lang="en-US" sz="1400" dirty="0"/>
          </a:p>
        </p:txBody>
      </p:sp>
      <p:sp>
        <p:nvSpPr>
          <p:cNvPr id="16" name="Baris PBI-01d"/>
          <p:cNvSpPr/>
          <p:nvPr/>
        </p:nvSpPr>
        <p:spPr>
          <a:xfrm>
            <a:off x="548640" y="3886200"/>
            <a:ext cx="11064240" cy="384048"/>
          </a:xfrm>
          <a:prstGeom prst="roundRect">
            <a:avLst>
              <a:gd name="adj" fmla="val 23810"/>
            </a:avLst>
          </a:prstGeom>
          <a:solidFill>
            <a:schemeClr val="bg1"/>
          </a:solidFill>
          <a:ln w="12700">
            <a:solidFill>
              <a:schemeClr val="tx1"/>
            </a:solidFill>
            <a:prstDash val="solid"/>
          </a:ln>
        </p:spPr>
      </p:sp>
      <p:sp>
        <p:nvSpPr>
          <p:cNvPr id="17" name="Text 15"/>
          <p:cNvSpPr txBox="1"/>
          <p:nvPr/>
        </p:nvSpPr>
        <p:spPr>
          <a:xfrm>
            <a:off x="685800" y="3886200"/>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PBI-01d</a:t>
            </a:r>
            <a:endParaRPr lang="en-US" sz="1300" dirty="0"/>
          </a:p>
        </p:txBody>
      </p:sp>
      <p:sp>
        <p:nvSpPr>
          <p:cNvPr id="18" name="Text 16"/>
          <p:cNvSpPr txBox="1"/>
          <p:nvPr/>
        </p:nvSpPr>
        <p:spPr>
          <a:xfrm>
            <a:off x="1645920" y="3886200"/>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pengguna, saya ingin logout agar akun saya aman setelah dipakai.</a:t>
            </a:r>
            <a:endParaRPr lang="en-US" sz="1400" dirty="0"/>
          </a:p>
        </p:txBody>
      </p:sp>
      <p:sp>
        <p:nvSpPr>
          <p:cNvPr id="19" name="Baris PBI-01e"/>
          <p:cNvSpPr/>
          <p:nvPr/>
        </p:nvSpPr>
        <p:spPr>
          <a:xfrm>
            <a:off x="548640" y="4315968"/>
            <a:ext cx="11064240" cy="649224"/>
          </a:xfrm>
          <a:prstGeom prst="roundRect">
            <a:avLst>
              <a:gd name="adj" fmla="val 14085"/>
            </a:avLst>
          </a:prstGeom>
          <a:solidFill>
            <a:schemeClr val="bg1"/>
          </a:solidFill>
          <a:ln w="12700">
            <a:solidFill>
              <a:schemeClr val="tx1"/>
            </a:solidFill>
            <a:prstDash val="solid"/>
          </a:ln>
        </p:spPr>
      </p:sp>
      <p:sp>
        <p:nvSpPr>
          <p:cNvPr id="20" name="Text 18"/>
          <p:cNvSpPr txBox="1"/>
          <p:nvPr/>
        </p:nvSpPr>
        <p:spPr>
          <a:xfrm>
            <a:off x="685800" y="43159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PBI-01e</a:t>
            </a:r>
            <a:endParaRPr lang="en-US" sz="1300" dirty="0"/>
          </a:p>
        </p:txBody>
      </p:sp>
      <p:sp>
        <p:nvSpPr>
          <p:cNvPr id="21" name="Text 19"/>
          <p:cNvSpPr txBox="1"/>
          <p:nvPr/>
        </p:nvSpPr>
        <p:spPr>
          <a:xfrm>
            <a:off x="1645920" y="43159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pengguna, saya ingin sesi login berakhir otomatis jika lama tidak aktif agar akun tidak disalahgunakan.</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Rahman (2/4)</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1"/>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Abdurrahman Baasyir  |  102022580058</a:t>
            </a:r>
            <a:endParaRPr lang="en-US" sz="1300" dirty="0"/>
          </a:p>
        </p:txBody>
      </p:sp>
      <p:sp>
        <p:nvSpPr>
          <p:cNvPr id="5" name="Header PBI-02"/>
          <p:cNvSpPr/>
          <p:nvPr/>
        </p:nvSpPr>
        <p:spPr>
          <a:xfrm>
            <a:off x="548640" y="1371600"/>
            <a:ext cx="11064240" cy="384048"/>
          </a:xfrm>
          <a:prstGeom prst="roundRect">
            <a:avLst>
              <a:gd name="adj" fmla="val 23810"/>
            </a:avLst>
          </a:prstGeom>
          <a:solidFill>
            <a:schemeClr val="accent1"/>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PBI-02  Akun Pengguna   |   Sprint 1   |   6 sub-PBI</a:t>
            </a:r>
            <a:endParaRPr lang="en-US" sz="1400" dirty="0"/>
          </a:p>
        </p:txBody>
      </p:sp>
      <p:sp>
        <p:nvSpPr>
          <p:cNvPr id="7" name="Baris PBI-02a"/>
          <p:cNvSpPr/>
          <p:nvPr/>
        </p:nvSpPr>
        <p:spPr>
          <a:xfrm>
            <a:off x="548640" y="1801368"/>
            <a:ext cx="11064240" cy="384048"/>
          </a:xfrm>
          <a:prstGeom prst="roundRect">
            <a:avLst>
              <a:gd name="adj" fmla="val 23810"/>
            </a:avLst>
          </a:prstGeom>
          <a:solidFill>
            <a:schemeClr val="bg1"/>
          </a:solidFill>
          <a:ln w="12700">
            <a:solidFill>
              <a:schemeClr val="tx1"/>
            </a:solidFill>
            <a:prstDash val="solid"/>
          </a:ln>
        </p:spPr>
      </p:sp>
      <p:sp>
        <p:nvSpPr>
          <p:cNvPr id="8" name="Text 6"/>
          <p:cNvSpPr txBox="1"/>
          <p:nvPr/>
        </p:nvSpPr>
        <p:spPr>
          <a:xfrm>
            <a:off x="685800" y="1801368"/>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PBI-02a</a:t>
            </a:r>
            <a:endParaRPr lang="en-US" sz="1300" dirty="0"/>
          </a:p>
        </p:txBody>
      </p:sp>
      <p:sp>
        <p:nvSpPr>
          <p:cNvPr id="9" name="Text 7"/>
          <p:cNvSpPr txBox="1"/>
          <p:nvPr/>
        </p:nvSpPr>
        <p:spPr>
          <a:xfrm>
            <a:off x="1645920" y="1801368"/>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membuat akun Pengasuh dan Orang Tua agar mereka bisa masuk ke sistem.</a:t>
            </a:r>
            <a:endParaRPr lang="en-US" sz="1400" dirty="0"/>
          </a:p>
        </p:txBody>
      </p:sp>
      <p:sp>
        <p:nvSpPr>
          <p:cNvPr id="10" name="Baris PBI-02b"/>
          <p:cNvSpPr/>
          <p:nvPr/>
        </p:nvSpPr>
        <p:spPr>
          <a:xfrm>
            <a:off x="548640" y="2231136"/>
            <a:ext cx="11064240" cy="649224"/>
          </a:xfrm>
          <a:prstGeom prst="roundRect">
            <a:avLst>
              <a:gd name="adj" fmla="val 14085"/>
            </a:avLst>
          </a:prstGeom>
          <a:solidFill>
            <a:schemeClr val="bg1"/>
          </a:solidFill>
          <a:ln w="12700">
            <a:solidFill>
              <a:schemeClr val="tx1"/>
            </a:solidFill>
            <a:prstDash val="solid"/>
          </a:ln>
        </p:spPr>
      </p:sp>
      <p:sp>
        <p:nvSpPr>
          <p:cNvPr id="11" name="Text 9"/>
          <p:cNvSpPr txBox="1"/>
          <p:nvPr/>
        </p:nvSpPr>
        <p:spPr>
          <a:xfrm>
            <a:off x="685800" y="2231136"/>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PBI-02b</a:t>
            </a:r>
            <a:endParaRPr lang="en-US" sz="1300" dirty="0"/>
          </a:p>
        </p:txBody>
      </p:sp>
      <p:sp>
        <p:nvSpPr>
          <p:cNvPr id="12" name="Text 10"/>
          <p:cNvSpPr txBox="1"/>
          <p:nvPr/>
        </p:nvSpPr>
        <p:spPr>
          <a:xfrm>
            <a:off x="1645920" y="2231136"/>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melihat daftar akun lengkap dengan pencarian dan filter peran agar mudah menemukan akun tertentu.</a:t>
            </a:r>
            <a:endParaRPr lang="en-US" sz="1400" dirty="0"/>
          </a:p>
        </p:txBody>
      </p:sp>
      <p:sp>
        <p:nvSpPr>
          <p:cNvPr id="13" name="Baris PBI-02c"/>
          <p:cNvSpPr/>
          <p:nvPr/>
        </p:nvSpPr>
        <p:spPr>
          <a:xfrm>
            <a:off x="548640" y="2926080"/>
            <a:ext cx="11064240" cy="649224"/>
          </a:xfrm>
          <a:prstGeom prst="roundRect">
            <a:avLst>
              <a:gd name="adj" fmla="val 14085"/>
            </a:avLst>
          </a:prstGeom>
          <a:solidFill>
            <a:schemeClr val="bg1"/>
          </a:solidFill>
          <a:ln w="12700">
            <a:solidFill>
              <a:schemeClr val="tx1"/>
            </a:solidFill>
            <a:prstDash val="solid"/>
          </a:ln>
        </p:spPr>
      </p:sp>
      <p:sp>
        <p:nvSpPr>
          <p:cNvPr id="14" name="Text 12"/>
          <p:cNvSpPr txBox="1"/>
          <p:nvPr/>
        </p:nvSpPr>
        <p:spPr>
          <a:xfrm>
            <a:off x="685800" y="2926080"/>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PBI-02c</a:t>
            </a:r>
            <a:endParaRPr lang="en-US" sz="1300" dirty="0"/>
          </a:p>
        </p:txBody>
      </p:sp>
      <p:sp>
        <p:nvSpPr>
          <p:cNvPr id="15" name="Text 13"/>
          <p:cNvSpPr txBox="1"/>
          <p:nvPr/>
        </p:nvSpPr>
        <p:spPr>
          <a:xfrm>
            <a:off x="1645920" y="2926080"/>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mengubah akun (email, peran, status aktif atau nonaktif) agar akses pengguna tetap sesuai.</a:t>
            </a:r>
            <a:endParaRPr lang="en-US" sz="1400" dirty="0"/>
          </a:p>
        </p:txBody>
      </p:sp>
      <p:sp>
        <p:nvSpPr>
          <p:cNvPr id="16" name="Baris PBI-02d"/>
          <p:cNvSpPr/>
          <p:nvPr/>
        </p:nvSpPr>
        <p:spPr>
          <a:xfrm>
            <a:off x="548640" y="3621024"/>
            <a:ext cx="11064240" cy="384048"/>
          </a:xfrm>
          <a:prstGeom prst="roundRect">
            <a:avLst>
              <a:gd name="adj" fmla="val 23810"/>
            </a:avLst>
          </a:prstGeom>
          <a:solidFill>
            <a:schemeClr val="bg1"/>
          </a:solidFill>
          <a:ln w="12700">
            <a:solidFill>
              <a:schemeClr val="tx1"/>
            </a:solidFill>
            <a:prstDash val="solid"/>
          </a:ln>
        </p:spPr>
      </p:sp>
      <p:sp>
        <p:nvSpPr>
          <p:cNvPr id="17" name="Text 15"/>
          <p:cNvSpPr txBox="1"/>
          <p:nvPr/>
        </p:nvSpPr>
        <p:spPr>
          <a:xfrm>
            <a:off x="685800" y="3621024"/>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PBI-02d</a:t>
            </a:r>
            <a:endParaRPr lang="en-US" sz="1300" dirty="0"/>
          </a:p>
        </p:txBody>
      </p:sp>
      <p:sp>
        <p:nvSpPr>
          <p:cNvPr id="18" name="Text 16"/>
          <p:cNvSpPr txBox="1"/>
          <p:nvPr/>
        </p:nvSpPr>
        <p:spPr>
          <a:xfrm>
            <a:off x="1645920" y="3621024"/>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menghapus akun yang tidak dipakai agar data tetap rapi.</a:t>
            </a:r>
            <a:endParaRPr lang="en-US" sz="1400" dirty="0"/>
          </a:p>
        </p:txBody>
      </p:sp>
      <p:sp>
        <p:nvSpPr>
          <p:cNvPr id="19" name="Baris PBI-02e"/>
          <p:cNvSpPr/>
          <p:nvPr/>
        </p:nvSpPr>
        <p:spPr>
          <a:xfrm>
            <a:off x="548640" y="4050792"/>
            <a:ext cx="11064240" cy="649224"/>
          </a:xfrm>
          <a:prstGeom prst="roundRect">
            <a:avLst>
              <a:gd name="adj" fmla="val 14085"/>
            </a:avLst>
          </a:prstGeom>
          <a:solidFill>
            <a:schemeClr val="bg1"/>
          </a:solidFill>
          <a:ln w="12700">
            <a:solidFill>
              <a:schemeClr val="tx1"/>
            </a:solidFill>
            <a:prstDash val="solid"/>
          </a:ln>
        </p:spPr>
      </p:sp>
      <p:sp>
        <p:nvSpPr>
          <p:cNvPr id="20" name="Text 18"/>
          <p:cNvSpPr txBox="1"/>
          <p:nvPr/>
        </p:nvSpPr>
        <p:spPr>
          <a:xfrm>
            <a:off x="685800" y="4050792"/>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PBI-02e</a:t>
            </a:r>
            <a:endParaRPr lang="en-US" sz="1300" dirty="0"/>
          </a:p>
        </p:txBody>
      </p:sp>
      <p:sp>
        <p:nvSpPr>
          <p:cNvPr id="21" name="Text 19"/>
          <p:cNvSpPr txBox="1"/>
          <p:nvPr/>
        </p:nvSpPr>
        <p:spPr>
          <a:xfrm>
            <a:off x="1645920" y="4050792"/>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registrasi akun sendiri agar tidak perlu datang ke daycare hanya untuk dibuatkan akun.</a:t>
            </a:r>
            <a:endParaRPr lang="en-US" sz="1400" dirty="0"/>
          </a:p>
        </p:txBody>
      </p:sp>
      <p:sp>
        <p:nvSpPr>
          <p:cNvPr id="22" name="Baris PBI-02f"/>
          <p:cNvSpPr/>
          <p:nvPr/>
        </p:nvSpPr>
        <p:spPr>
          <a:xfrm>
            <a:off x="548640" y="4745736"/>
            <a:ext cx="11064240" cy="649224"/>
          </a:xfrm>
          <a:prstGeom prst="roundRect">
            <a:avLst>
              <a:gd name="adj" fmla="val 14085"/>
            </a:avLst>
          </a:prstGeom>
          <a:solidFill>
            <a:schemeClr val="bg1"/>
          </a:solidFill>
          <a:ln w="12700">
            <a:solidFill>
              <a:schemeClr val="tx1"/>
            </a:solidFill>
            <a:prstDash val="solid"/>
          </a:ln>
        </p:spPr>
      </p:sp>
      <p:sp>
        <p:nvSpPr>
          <p:cNvPr id="23" name="Text 21"/>
          <p:cNvSpPr txBox="1"/>
          <p:nvPr/>
        </p:nvSpPr>
        <p:spPr>
          <a:xfrm>
            <a:off x="685800" y="4745736"/>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PBI-02f</a:t>
            </a:r>
            <a:endParaRPr lang="en-US" sz="1300" dirty="0"/>
          </a:p>
        </p:txBody>
      </p:sp>
      <p:sp>
        <p:nvSpPr>
          <p:cNvPr id="24" name="Text 22"/>
          <p:cNvSpPr txBox="1"/>
          <p:nvPr/>
        </p:nvSpPr>
        <p:spPr>
          <a:xfrm>
            <a:off x="1645920" y="4745736"/>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melihat dan mengubah akun saya sendiri agar data login selalu terbaru.</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Rahman (3/4)</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1"/>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Abdurrahman Baasyir  |  102022580058</a:t>
            </a:r>
            <a:endParaRPr lang="en-US" sz="1300" dirty="0"/>
          </a:p>
        </p:txBody>
      </p:sp>
      <p:sp>
        <p:nvSpPr>
          <p:cNvPr id="5" name="Header PBI-03"/>
          <p:cNvSpPr/>
          <p:nvPr/>
        </p:nvSpPr>
        <p:spPr>
          <a:xfrm>
            <a:off x="548640" y="1371600"/>
            <a:ext cx="11064240" cy="384048"/>
          </a:xfrm>
          <a:prstGeom prst="roundRect">
            <a:avLst>
              <a:gd name="adj" fmla="val 23810"/>
            </a:avLst>
          </a:prstGeom>
          <a:solidFill>
            <a:schemeClr val="accent1"/>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PBI-03  Profil Pengasuh   |   Sprint 1   |   4 sub-PBI</a:t>
            </a:r>
            <a:endParaRPr lang="en-US" sz="1400" dirty="0"/>
          </a:p>
        </p:txBody>
      </p:sp>
      <p:sp>
        <p:nvSpPr>
          <p:cNvPr id="7" name="Baris PBI-03a"/>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PBI-03a</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menambahkan profil pengasuh (nama, no. HP, alamat, tanggal bergabung) agar data pengasuh tercatat.</a:t>
            </a:r>
            <a:endParaRPr lang="en-US" sz="1400" dirty="0"/>
          </a:p>
        </p:txBody>
      </p:sp>
      <p:sp>
        <p:nvSpPr>
          <p:cNvPr id="10" name="Baris PBI-03b"/>
          <p:cNvSpPr/>
          <p:nvPr/>
        </p:nvSpPr>
        <p:spPr>
          <a:xfrm>
            <a:off x="548640" y="2496312"/>
            <a:ext cx="11064240" cy="649224"/>
          </a:xfrm>
          <a:prstGeom prst="roundRect">
            <a:avLst>
              <a:gd name="adj" fmla="val 14085"/>
            </a:avLst>
          </a:prstGeom>
          <a:solidFill>
            <a:schemeClr val="bg1"/>
          </a:solidFill>
          <a:ln w="12700">
            <a:solidFill>
              <a:schemeClr val="tx1"/>
            </a:solidFill>
            <a:prstDash val="solid"/>
          </a:ln>
        </p:spPr>
      </p:sp>
      <p:sp>
        <p:nvSpPr>
          <p:cNvPr id="11" name="Text 9"/>
          <p:cNvSpPr txBox="1"/>
          <p:nvPr/>
        </p:nvSpPr>
        <p:spPr>
          <a:xfrm>
            <a:off x="685800" y="2496312"/>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PBI-03b</a:t>
            </a:r>
            <a:endParaRPr lang="en-US" sz="1300" dirty="0"/>
          </a:p>
        </p:txBody>
      </p:sp>
      <p:sp>
        <p:nvSpPr>
          <p:cNvPr id="12" name="Text 10"/>
          <p:cNvSpPr txBox="1"/>
          <p:nvPr/>
        </p:nvSpPr>
        <p:spPr>
          <a:xfrm>
            <a:off x="1645920" y="2496312"/>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melihat daftar profil pengasuh agar mudah memantau siapa saja yang aktif.</a:t>
            </a:r>
            <a:endParaRPr lang="en-US" sz="1400" dirty="0"/>
          </a:p>
        </p:txBody>
      </p:sp>
      <p:sp>
        <p:nvSpPr>
          <p:cNvPr id="13" name="Baris PBI-03c"/>
          <p:cNvSpPr/>
          <p:nvPr/>
        </p:nvSpPr>
        <p:spPr>
          <a:xfrm>
            <a:off x="548640" y="3191256"/>
            <a:ext cx="11064240" cy="384048"/>
          </a:xfrm>
          <a:prstGeom prst="roundRect">
            <a:avLst>
              <a:gd name="adj" fmla="val 23810"/>
            </a:avLst>
          </a:prstGeom>
          <a:solidFill>
            <a:schemeClr val="bg1"/>
          </a:solidFill>
          <a:ln w="12700">
            <a:solidFill>
              <a:schemeClr val="tx1"/>
            </a:solidFill>
            <a:prstDash val="solid"/>
          </a:ln>
        </p:spPr>
      </p:sp>
      <p:sp>
        <p:nvSpPr>
          <p:cNvPr id="14" name="Text 12"/>
          <p:cNvSpPr txBox="1"/>
          <p:nvPr/>
        </p:nvSpPr>
        <p:spPr>
          <a:xfrm>
            <a:off x="685800" y="3191256"/>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PBI-03c</a:t>
            </a:r>
            <a:endParaRPr lang="en-US" sz="1300" dirty="0"/>
          </a:p>
        </p:txBody>
      </p:sp>
      <p:sp>
        <p:nvSpPr>
          <p:cNvPr id="15" name="Text 13"/>
          <p:cNvSpPr txBox="1"/>
          <p:nvPr/>
        </p:nvSpPr>
        <p:spPr>
          <a:xfrm>
            <a:off x="1645920" y="3191256"/>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mengubah profil pengasuh jika ada perubahan data.</a:t>
            </a:r>
            <a:endParaRPr lang="en-US" sz="1400" dirty="0"/>
          </a:p>
        </p:txBody>
      </p:sp>
      <p:sp>
        <p:nvSpPr>
          <p:cNvPr id="16" name="Baris PBI-03d"/>
          <p:cNvSpPr/>
          <p:nvPr/>
        </p:nvSpPr>
        <p:spPr>
          <a:xfrm>
            <a:off x="548640" y="3621024"/>
            <a:ext cx="11064240" cy="384048"/>
          </a:xfrm>
          <a:prstGeom prst="roundRect">
            <a:avLst>
              <a:gd name="adj" fmla="val 23810"/>
            </a:avLst>
          </a:prstGeom>
          <a:solidFill>
            <a:schemeClr val="bg1"/>
          </a:solidFill>
          <a:ln w="12700">
            <a:solidFill>
              <a:schemeClr val="tx1"/>
            </a:solidFill>
            <a:prstDash val="solid"/>
          </a:ln>
        </p:spPr>
      </p:sp>
      <p:sp>
        <p:nvSpPr>
          <p:cNvPr id="17" name="Text 15"/>
          <p:cNvSpPr txBox="1"/>
          <p:nvPr/>
        </p:nvSpPr>
        <p:spPr>
          <a:xfrm>
            <a:off x="685800" y="3621024"/>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PBI-03d</a:t>
            </a:r>
            <a:endParaRPr lang="en-US" sz="1300" dirty="0"/>
          </a:p>
        </p:txBody>
      </p:sp>
      <p:sp>
        <p:nvSpPr>
          <p:cNvPr id="18" name="Text 16"/>
          <p:cNvSpPr txBox="1"/>
          <p:nvPr/>
        </p:nvSpPr>
        <p:spPr>
          <a:xfrm>
            <a:off x="1645920" y="3621024"/>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menghapus profil pengasuh yang sudah tidak bekerja.</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Rahman (4/4)</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1"/>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Abdurrahman Baasyir  |  102022580058</a:t>
            </a:r>
            <a:endParaRPr lang="en-US" sz="1300" dirty="0"/>
          </a:p>
        </p:txBody>
      </p:sp>
      <p:sp>
        <p:nvSpPr>
          <p:cNvPr id="5" name="Header PBI-04"/>
          <p:cNvSpPr/>
          <p:nvPr/>
        </p:nvSpPr>
        <p:spPr>
          <a:xfrm>
            <a:off x="548640" y="1371600"/>
            <a:ext cx="11064240" cy="384048"/>
          </a:xfrm>
          <a:prstGeom prst="roundRect">
            <a:avLst>
              <a:gd name="adj" fmla="val 23810"/>
            </a:avLst>
          </a:prstGeom>
          <a:solidFill>
            <a:schemeClr val="accent1"/>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PBI-04  Profil Orang Tua   |   Sprint 1   |   6 sub-PBI</a:t>
            </a:r>
            <a:endParaRPr lang="en-US" sz="1400" dirty="0"/>
          </a:p>
        </p:txBody>
      </p:sp>
      <p:sp>
        <p:nvSpPr>
          <p:cNvPr id="7" name="Baris PBI-04a"/>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PBI-04a</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mengisi profil saya (nama, no. HP, alamat, pekerjaan, kontak darurat) saat registrasi agar daycare bisa menghubungi saya.</a:t>
            </a:r>
            <a:endParaRPr lang="en-US" sz="1400" dirty="0"/>
          </a:p>
        </p:txBody>
      </p:sp>
      <p:sp>
        <p:nvSpPr>
          <p:cNvPr id="10" name="Baris PBI-04b"/>
          <p:cNvSpPr/>
          <p:nvPr/>
        </p:nvSpPr>
        <p:spPr>
          <a:xfrm>
            <a:off x="548640" y="2496312"/>
            <a:ext cx="11064240" cy="384048"/>
          </a:xfrm>
          <a:prstGeom prst="roundRect">
            <a:avLst>
              <a:gd name="adj" fmla="val 23810"/>
            </a:avLst>
          </a:prstGeom>
          <a:solidFill>
            <a:schemeClr val="bg1"/>
          </a:solidFill>
          <a:ln w="12700">
            <a:solidFill>
              <a:schemeClr val="tx1"/>
            </a:solidFill>
            <a:prstDash val="solid"/>
          </a:ln>
        </p:spPr>
      </p:sp>
      <p:sp>
        <p:nvSpPr>
          <p:cNvPr id="11" name="Text 9"/>
          <p:cNvSpPr txBox="1"/>
          <p:nvPr/>
        </p:nvSpPr>
        <p:spPr>
          <a:xfrm>
            <a:off x="685800" y="2496312"/>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PBI-04b</a:t>
            </a:r>
            <a:endParaRPr lang="en-US" sz="1300" dirty="0"/>
          </a:p>
        </p:txBody>
      </p:sp>
      <p:sp>
        <p:nvSpPr>
          <p:cNvPr id="12" name="Text 10"/>
          <p:cNvSpPr txBox="1"/>
          <p:nvPr/>
        </p:nvSpPr>
        <p:spPr>
          <a:xfrm>
            <a:off x="1645920" y="2496312"/>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melihat dan mengubah profil saya agar kontak darurat selalu benar.</a:t>
            </a:r>
            <a:endParaRPr lang="en-US" sz="1400" dirty="0"/>
          </a:p>
        </p:txBody>
      </p:sp>
      <p:sp>
        <p:nvSpPr>
          <p:cNvPr id="13" name="Baris PBI-04c"/>
          <p:cNvSpPr/>
          <p:nvPr/>
        </p:nvSpPr>
        <p:spPr>
          <a:xfrm>
            <a:off x="548640" y="2926080"/>
            <a:ext cx="11064240" cy="649224"/>
          </a:xfrm>
          <a:prstGeom prst="roundRect">
            <a:avLst>
              <a:gd name="adj" fmla="val 14085"/>
            </a:avLst>
          </a:prstGeom>
          <a:solidFill>
            <a:schemeClr val="bg1"/>
          </a:solidFill>
          <a:ln w="12700">
            <a:solidFill>
              <a:schemeClr val="tx1"/>
            </a:solidFill>
            <a:prstDash val="solid"/>
          </a:ln>
        </p:spPr>
      </p:sp>
      <p:sp>
        <p:nvSpPr>
          <p:cNvPr id="14" name="Text 12"/>
          <p:cNvSpPr txBox="1"/>
          <p:nvPr/>
        </p:nvSpPr>
        <p:spPr>
          <a:xfrm>
            <a:off x="685800" y="2926080"/>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PBI-04c</a:t>
            </a:r>
            <a:endParaRPr lang="en-US" sz="1300" dirty="0"/>
          </a:p>
        </p:txBody>
      </p:sp>
      <p:sp>
        <p:nvSpPr>
          <p:cNvPr id="15" name="Text 13"/>
          <p:cNvSpPr txBox="1"/>
          <p:nvPr/>
        </p:nvSpPr>
        <p:spPr>
          <a:xfrm>
            <a:off x="1645920" y="2926080"/>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membuatkan profil untuk orang tua yang mendaftar langsung di tempat agar mereka tetap terlayani.</a:t>
            </a:r>
            <a:endParaRPr lang="en-US" sz="1400" dirty="0"/>
          </a:p>
        </p:txBody>
      </p:sp>
      <p:sp>
        <p:nvSpPr>
          <p:cNvPr id="16" name="Baris PBI-04d"/>
          <p:cNvSpPr/>
          <p:nvPr/>
        </p:nvSpPr>
        <p:spPr>
          <a:xfrm>
            <a:off x="548640" y="3621024"/>
            <a:ext cx="11064240" cy="384048"/>
          </a:xfrm>
          <a:prstGeom prst="roundRect">
            <a:avLst>
              <a:gd name="adj" fmla="val 23810"/>
            </a:avLst>
          </a:prstGeom>
          <a:solidFill>
            <a:schemeClr val="bg1"/>
          </a:solidFill>
          <a:ln w="12700">
            <a:solidFill>
              <a:schemeClr val="tx1"/>
            </a:solidFill>
            <a:prstDash val="solid"/>
          </a:ln>
        </p:spPr>
      </p:sp>
      <p:sp>
        <p:nvSpPr>
          <p:cNvPr id="17" name="Text 15"/>
          <p:cNvSpPr txBox="1"/>
          <p:nvPr/>
        </p:nvSpPr>
        <p:spPr>
          <a:xfrm>
            <a:off x="685800" y="3621024"/>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PBI-04d</a:t>
            </a:r>
            <a:endParaRPr lang="en-US" sz="1300" dirty="0"/>
          </a:p>
        </p:txBody>
      </p:sp>
      <p:sp>
        <p:nvSpPr>
          <p:cNvPr id="18" name="Text 16"/>
          <p:cNvSpPr txBox="1"/>
          <p:nvPr/>
        </p:nvSpPr>
        <p:spPr>
          <a:xfrm>
            <a:off x="1645920" y="3621024"/>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melihat daftar profil orang tua agar mudah mencari data.</a:t>
            </a:r>
            <a:endParaRPr lang="en-US" sz="1400" dirty="0"/>
          </a:p>
        </p:txBody>
      </p:sp>
      <p:sp>
        <p:nvSpPr>
          <p:cNvPr id="19" name="Baris PBI-04e"/>
          <p:cNvSpPr/>
          <p:nvPr/>
        </p:nvSpPr>
        <p:spPr>
          <a:xfrm>
            <a:off x="548640" y="4050792"/>
            <a:ext cx="11064240" cy="384048"/>
          </a:xfrm>
          <a:prstGeom prst="roundRect">
            <a:avLst>
              <a:gd name="adj" fmla="val 23810"/>
            </a:avLst>
          </a:prstGeom>
          <a:solidFill>
            <a:schemeClr val="bg1"/>
          </a:solidFill>
          <a:ln w="12700">
            <a:solidFill>
              <a:schemeClr val="tx1"/>
            </a:solidFill>
            <a:prstDash val="solid"/>
          </a:ln>
        </p:spPr>
      </p:sp>
      <p:sp>
        <p:nvSpPr>
          <p:cNvPr id="20" name="Text 18"/>
          <p:cNvSpPr txBox="1"/>
          <p:nvPr/>
        </p:nvSpPr>
        <p:spPr>
          <a:xfrm>
            <a:off x="685800" y="4050792"/>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PBI-04e</a:t>
            </a:r>
            <a:endParaRPr lang="en-US" sz="1300" dirty="0"/>
          </a:p>
        </p:txBody>
      </p:sp>
      <p:sp>
        <p:nvSpPr>
          <p:cNvPr id="21" name="Text 19"/>
          <p:cNvSpPr txBox="1"/>
          <p:nvPr/>
        </p:nvSpPr>
        <p:spPr>
          <a:xfrm>
            <a:off x="1645920" y="4050792"/>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mengubah profil orang tua jika ada kesalahan input.</a:t>
            </a:r>
            <a:endParaRPr lang="en-US" sz="1400" dirty="0"/>
          </a:p>
        </p:txBody>
      </p:sp>
      <p:sp>
        <p:nvSpPr>
          <p:cNvPr id="22" name="Baris PBI-04f"/>
          <p:cNvSpPr/>
          <p:nvPr/>
        </p:nvSpPr>
        <p:spPr>
          <a:xfrm>
            <a:off x="548640" y="4480560"/>
            <a:ext cx="11064240" cy="384048"/>
          </a:xfrm>
          <a:prstGeom prst="roundRect">
            <a:avLst>
              <a:gd name="adj" fmla="val 23810"/>
            </a:avLst>
          </a:prstGeom>
          <a:solidFill>
            <a:schemeClr val="bg1"/>
          </a:solidFill>
          <a:ln w="12700">
            <a:solidFill>
              <a:schemeClr val="tx1"/>
            </a:solidFill>
            <a:prstDash val="solid"/>
          </a:ln>
        </p:spPr>
      </p:sp>
      <p:sp>
        <p:nvSpPr>
          <p:cNvPr id="23" name="Text 21"/>
          <p:cNvSpPr txBox="1"/>
          <p:nvPr/>
        </p:nvSpPr>
        <p:spPr>
          <a:xfrm>
            <a:off x="685800" y="4480560"/>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PBI-04f</a:t>
            </a:r>
            <a:endParaRPr lang="en-US" sz="1300" dirty="0"/>
          </a:p>
        </p:txBody>
      </p:sp>
      <p:sp>
        <p:nvSpPr>
          <p:cNvPr id="24" name="Text 22"/>
          <p:cNvSpPr txBox="1"/>
          <p:nvPr/>
        </p:nvSpPr>
        <p:spPr>
          <a:xfrm>
            <a:off x="1645920" y="4480560"/>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menghapus profil orang tua yang sudah tidak aktif.</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Delita (1/3)</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2"/>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Delita Noor Iftitah  |  102022580045</a:t>
            </a:r>
            <a:endParaRPr lang="en-US" sz="1300" dirty="0"/>
          </a:p>
        </p:txBody>
      </p:sp>
      <p:sp>
        <p:nvSpPr>
          <p:cNvPr id="5" name="Header PBI-05"/>
          <p:cNvSpPr/>
          <p:nvPr/>
        </p:nvSpPr>
        <p:spPr>
          <a:xfrm>
            <a:off x="548640" y="1371600"/>
            <a:ext cx="11064240" cy="384048"/>
          </a:xfrm>
          <a:prstGeom prst="roundRect">
            <a:avLst>
              <a:gd name="adj" fmla="val 23810"/>
            </a:avLst>
          </a:prstGeom>
          <a:solidFill>
            <a:schemeClr val="accent2"/>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PBI-05  Kelompok Usia   |   Sprint 1   |   4 sub-PBI</a:t>
            </a:r>
            <a:endParaRPr lang="en-US" sz="1400" dirty="0"/>
          </a:p>
        </p:txBody>
      </p:sp>
      <p:sp>
        <p:nvSpPr>
          <p:cNvPr id="7" name="Baris PBI-05a"/>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PBI-05a</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menambahkan kelompok usia baru (contoh: Batita, Balita, Prasekolah) agar bisa digunakan untuk pengelompokan anak.</a:t>
            </a:r>
            <a:endParaRPr lang="en-US" sz="1400" dirty="0"/>
          </a:p>
        </p:txBody>
      </p:sp>
      <p:sp>
        <p:nvSpPr>
          <p:cNvPr id="10" name="Baris PBI-05b"/>
          <p:cNvSpPr/>
          <p:nvPr/>
        </p:nvSpPr>
        <p:spPr>
          <a:xfrm>
            <a:off x="548640" y="2496312"/>
            <a:ext cx="11064240" cy="649224"/>
          </a:xfrm>
          <a:prstGeom prst="roundRect">
            <a:avLst>
              <a:gd name="adj" fmla="val 14085"/>
            </a:avLst>
          </a:prstGeom>
          <a:solidFill>
            <a:schemeClr val="bg1"/>
          </a:solidFill>
          <a:ln w="12700">
            <a:solidFill>
              <a:schemeClr val="tx1"/>
            </a:solidFill>
            <a:prstDash val="solid"/>
          </a:ln>
        </p:spPr>
      </p:sp>
      <p:sp>
        <p:nvSpPr>
          <p:cNvPr id="11" name="Text 9"/>
          <p:cNvSpPr txBox="1"/>
          <p:nvPr/>
        </p:nvSpPr>
        <p:spPr>
          <a:xfrm>
            <a:off x="685800" y="2496312"/>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PBI-05b</a:t>
            </a:r>
            <a:endParaRPr lang="en-US" sz="1300" dirty="0"/>
          </a:p>
        </p:txBody>
      </p:sp>
      <p:sp>
        <p:nvSpPr>
          <p:cNvPr id="12" name="Text 10"/>
          <p:cNvSpPr txBox="1"/>
          <p:nvPr/>
        </p:nvSpPr>
        <p:spPr>
          <a:xfrm>
            <a:off x="1645920" y="2496312"/>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melihat daftar kelompok usia dalam bentuk tabel agar mudah memantau data yang sudah ada.</a:t>
            </a:r>
            <a:endParaRPr lang="en-US" sz="1400" dirty="0"/>
          </a:p>
        </p:txBody>
      </p:sp>
      <p:sp>
        <p:nvSpPr>
          <p:cNvPr id="13" name="Baris PBI-05c"/>
          <p:cNvSpPr/>
          <p:nvPr/>
        </p:nvSpPr>
        <p:spPr>
          <a:xfrm>
            <a:off x="548640" y="3191256"/>
            <a:ext cx="11064240" cy="649224"/>
          </a:xfrm>
          <a:prstGeom prst="roundRect">
            <a:avLst>
              <a:gd name="adj" fmla="val 14085"/>
            </a:avLst>
          </a:prstGeom>
          <a:solidFill>
            <a:schemeClr val="bg1"/>
          </a:solidFill>
          <a:ln w="12700">
            <a:solidFill>
              <a:schemeClr val="tx1"/>
            </a:solidFill>
            <a:prstDash val="solid"/>
          </a:ln>
        </p:spPr>
      </p:sp>
      <p:sp>
        <p:nvSpPr>
          <p:cNvPr id="14" name="Text 12"/>
          <p:cNvSpPr txBox="1"/>
          <p:nvPr/>
        </p:nvSpPr>
        <p:spPr>
          <a:xfrm>
            <a:off x="685800" y="3191256"/>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PBI-05c</a:t>
            </a:r>
            <a:endParaRPr lang="en-US" sz="1300" dirty="0"/>
          </a:p>
        </p:txBody>
      </p:sp>
      <p:sp>
        <p:nvSpPr>
          <p:cNvPr id="15" name="Text 13"/>
          <p:cNvSpPr txBox="1"/>
          <p:nvPr/>
        </p:nvSpPr>
        <p:spPr>
          <a:xfrm>
            <a:off x="1645920" y="3191256"/>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mengubah data kelompok usia jika ada kesalahan input atau perubahan kategori.</a:t>
            </a:r>
            <a:endParaRPr lang="en-US" sz="1400" dirty="0"/>
          </a:p>
        </p:txBody>
      </p:sp>
      <p:sp>
        <p:nvSpPr>
          <p:cNvPr id="16" name="Baris PBI-05d"/>
          <p:cNvSpPr/>
          <p:nvPr/>
        </p:nvSpPr>
        <p:spPr>
          <a:xfrm>
            <a:off x="548640" y="3886200"/>
            <a:ext cx="11064240" cy="649224"/>
          </a:xfrm>
          <a:prstGeom prst="roundRect">
            <a:avLst>
              <a:gd name="adj" fmla="val 14085"/>
            </a:avLst>
          </a:prstGeom>
          <a:solidFill>
            <a:schemeClr val="bg1"/>
          </a:solidFill>
          <a:ln w="12700">
            <a:solidFill>
              <a:schemeClr val="tx1"/>
            </a:solidFill>
            <a:prstDash val="solid"/>
          </a:ln>
        </p:spPr>
      </p:sp>
      <p:sp>
        <p:nvSpPr>
          <p:cNvPr id="17" name="Text 15"/>
          <p:cNvSpPr txBox="1"/>
          <p:nvPr/>
        </p:nvSpPr>
        <p:spPr>
          <a:xfrm>
            <a:off x="685800" y="3886200"/>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PBI-05d</a:t>
            </a:r>
            <a:endParaRPr lang="en-US" sz="1300" dirty="0"/>
          </a:p>
        </p:txBody>
      </p:sp>
      <p:sp>
        <p:nvSpPr>
          <p:cNvPr id="18" name="Text 16"/>
          <p:cNvSpPr txBox="1"/>
          <p:nvPr/>
        </p:nvSpPr>
        <p:spPr>
          <a:xfrm>
            <a:off x="1645920" y="3886200"/>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menghapus kelompok usia yang sudah tidak digunakan agar data tetap bersih.</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Delita (2/3)</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2"/>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Delita Noor Iftitah  |  102022580045</a:t>
            </a:r>
            <a:endParaRPr lang="en-US" sz="1300" dirty="0"/>
          </a:p>
        </p:txBody>
      </p:sp>
      <p:sp>
        <p:nvSpPr>
          <p:cNvPr id="5" name="Header PBI-06"/>
          <p:cNvSpPr/>
          <p:nvPr/>
        </p:nvSpPr>
        <p:spPr>
          <a:xfrm>
            <a:off x="548640" y="1371600"/>
            <a:ext cx="11064240" cy="384048"/>
          </a:xfrm>
          <a:prstGeom prst="roundRect">
            <a:avLst>
              <a:gd name="adj" fmla="val 23810"/>
            </a:avLst>
          </a:prstGeom>
          <a:solidFill>
            <a:schemeClr val="accent2"/>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PBI-06  Menu Makan   |   Sprint 1   |   5 sub-PBI</a:t>
            </a:r>
            <a:endParaRPr lang="en-US" sz="1400" dirty="0"/>
          </a:p>
        </p:txBody>
      </p:sp>
      <p:sp>
        <p:nvSpPr>
          <p:cNvPr id="7" name="Baris PBI-06a"/>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PBI-06a</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menambahkan menu makan per tanggal agar pengasuh punya acuan makanan harian.</a:t>
            </a:r>
            <a:endParaRPr lang="en-US" sz="1400" dirty="0"/>
          </a:p>
        </p:txBody>
      </p:sp>
      <p:sp>
        <p:nvSpPr>
          <p:cNvPr id="10" name="Baris PBI-06b"/>
          <p:cNvSpPr/>
          <p:nvPr/>
        </p:nvSpPr>
        <p:spPr>
          <a:xfrm>
            <a:off x="548640" y="2496312"/>
            <a:ext cx="11064240" cy="649224"/>
          </a:xfrm>
          <a:prstGeom prst="roundRect">
            <a:avLst>
              <a:gd name="adj" fmla="val 14085"/>
            </a:avLst>
          </a:prstGeom>
          <a:solidFill>
            <a:schemeClr val="bg1"/>
          </a:solidFill>
          <a:ln w="12700">
            <a:solidFill>
              <a:schemeClr val="tx1"/>
            </a:solidFill>
            <a:prstDash val="solid"/>
          </a:ln>
        </p:spPr>
      </p:sp>
      <p:sp>
        <p:nvSpPr>
          <p:cNvPr id="11" name="Text 9"/>
          <p:cNvSpPr txBox="1"/>
          <p:nvPr/>
        </p:nvSpPr>
        <p:spPr>
          <a:xfrm>
            <a:off x="685800" y="2496312"/>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PBI-06b</a:t>
            </a:r>
            <a:endParaRPr lang="en-US" sz="1300" dirty="0"/>
          </a:p>
        </p:txBody>
      </p:sp>
      <p:sp>
        <p:nvSpPr>
          <p:cNvPr id="12" name="Text 10"/>
          <p:cNvSpPr txBox="1"/>
          <p:nvPr/>
        </p:nvSpPr>
        <p:spPr>
          <a:xfrm>
            <a:off x="1645920" y="2496312"/>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melihat daftar menu makan agar bisa memeriksa menu yang sudah dijadwalkan.</a:t>
            </a:r>
            <a:endParaRPr lang="en-US" sz="1400" dirty="0"/>
          </a:p>
        </p:txBody>
      </p:sp>
      <p:sp>
        <p:nvSpPr>
          <p:cNvPr id="13" name="Baris PBI-06c"/>
          <p:cNvSpPr/>
          <p:nvPr/>
        </p:nvSpPr>
        <p:spPr>
          <a:xfrm>
            <a:off x="548640" y="3191256"/>
            <a:ext cx="11064240" cy="384048"/>
          </a:xfrm>
          <a:prstGeom prst="roundRect">
            <a:avLst>
              <a:gd name="adj" fmla="val 23810"/>
            </a:avLst>
          </a:prstGeom>
          <a:solidFill>
            <a:schemeClr val="bg1"/>
          </a:solidFill>
          <a:ln w="12700">
            <a:solidFill>
              <a:schemeClr val="tx1"/>
            </a:solidFill>
            <a:prstDash val="solid"/>
          </a:ln>
        </p:spPr>
      </p:sp>
      <p:sp>
        <p:nvSpPr>
          <p:cNvPr id="14" name="Text 12"/>
          <p:cNvSpPr txBox="1"/>
          <p:nvPr/>
        </p:nvSpPr>
        <p:spPr>
          <a:xfrm>
            <a:off x="685800" y="3191256"/>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PBI-06c</a:t>
            </a:r>
            <a:endParaRPr lang="en-US" sz="1300" dirty="0"/>
          </a:p>
        </p:txBody>
      </p:sp>
      <p:sp>
        <p:nvSpPr>
          <p:cNvPr id="15" name="Text 13"/>
          <p:cNvSpPr txBox="1"/>
          <p:nvPr/>
        </p:nvSpPr>
        <p:spPr>
          <a:xfrm>
            <a:off x="1645920" y="3191256"/>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mengubah menu makan jika ada perubahan bahan atau jadwal.</a:t>
            </a:r>
            <a:endParaRPr lang="en-US" sz="1400" dirty="0"/>
          </a:p>
        </p:txBody>
      </p:sp>
      <p:sp>
        <p:nvSpPr>
          <p:cNvPr id="16" name="Baris PBI-06d"/>
          <p:cNvSpPr/>
          <p:nvPr/>
        </p:nvSpPr>
        <p:spPr>
          <a:xfrm>
            <a:off x="548640" y="3621024"/>
            <a:ext cx="11064240" cy="384048"/>
          </a:xfrm>
          <a:prstGeom prst="roundRect">
            <a:avLst>
              <a:gd name="adj" fmla="val 23810"/>
            </a:avLst>
          </a:prstGeom>
          <a:solidFill>
            <a:schemeClr val="bg1"/>
          </a:solidFill>
          <a:ln w="12700">
            <a:solidFill>
              <a:schemeClr val="tx1"/>
            </a:solidFill>
            <a:prstDash val="solid"/>
          </a:ln>
        </p:spPr>
      </p:sp>
      <p:sp>
        <p:nvSpPr>
          <p:cNvPr id="17" name="Text 15"/>
          <p:cNvSpPr txBox="1"/>
          <p:nvPr/>
        </p:nvSpPr>
        <p:spPr>
          <a:xfrm>
            <a:off x="685800" y="3621024"/>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PBI-06d</a:t>
            </a:r>
            <a:endParaRPr lang="en-US" sz="1300" dirty="0"/>
          </a:p>
        </p:txBody>
      </p:sp>
      <p:sp>
        <p:nvSpPr>
          <p:cNvPr id="18" name="Text 16"/>
          <p:cNvSpPr txBox="1"/>
          <p:nvPr/>
        </p:nvSpPr>
        <p:spPr>
          <a:xfrm>
            <a:off x="1645920" y="3621024"/>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menghapus menu makan yang tidak jadi dipakai.</a:t>
            </a:r>
            <a:endParaRPr lang="en-US" sz="1400" dirty="0"/>
          </a:p>
        </p:txBody>
      </p:sp>
      <p:sp>
        <p:nvSpPr>
          <p:cNvPr id="19" name="Baris PBI-06e"/>
          <p:cNvSpPr/>
          <p:nvPr/>
        </p:nvSpPr>
        <p:spPr>
          <a:xfrm>
            <a:off x="548640" y="4050792"/>
            <a:ext cx="11064240" cy="649224"/>
          </a:xfrm>
          <a:prstGeom prst="roundRect">
            <a:avLst>
              <a:gd name="adj" fmla="val 14085"/>
            </a:avLst>
          </a:prstGeom>
          <a:solidFill>
            <a:schemeClr val="bg1"/>
          </a:solidFill>
          <a:ln w="12700">
            <a:solidFill>
              <a:schemeClr val="tx1"/>
            </a:solidFill>
            <a:prstDash val="solid"/>
          </a:ln>
        </p:spPr>
      </p:sp>
      <p:sp>
        <p:nvSpPr>
          <p:cNvPr id="20" name="Text 18"/>
          <p:cNvSpPr txBox="1"/>
          <p:nvPr/>
        </p:nvSpPr>
        <p:spPr>
          <a:xfrm>
            <a:off x="685800" y="4050792"/>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PBI-06e</a:t>
            </a:r>
            <a:endParaRPr lang="en-US" sz="1300" dirty="0"/>
          </a:p>
        </p:txBody>
      </p:sp>
      <p:sp>
        <p:nvSpPr>
          <p:cNvPr id="21" name="Text 19"/>
          <p:cNvSpPr txBox="1"/>
          <p:nvPr/>
        </p:nvSpPr>
        <p:spPr>
          <a:xfrm>
            <a:off x="1645920" y="4050792"/>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melihat menu makan hari ini agar tahu makanan yang harus diberikan ke anak.</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Delita (3/3)</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2"/>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Delita Noor Iftitah  |  102022580045</a:t>
            </a:r>
            <a:endParaRPr lang="en-US" sz="1300" dirty="0"/>
          </a:p>
        </p:txBody>
      </p:sp>
      <p:sp>
        <p:nvSpPr>
          <p:cNvPr id="5" name="Header PBI-07"/>
          <p:cNvSpPr/>
          <p:nvPr/>
        </p:nvSpPr>
        <p:spPr>
          <a:xfrm>
            <a:off x="548640" y="1371600"/>
            <a:ext cx="11064240" cy="384048"/>
          </a:xfrm>
          <a:prstGeom prst="roundRect">
            <a:avLst>
              <a:gd name="adj" fmla="val 23810"/>
            </a:avLst>
          </a:prstGeom>
          <a:solidFill>
            <a:schemeClr val="accent2"/>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PBI-07  Pengumuman   |   Sprint 1   |   5 sub-PBI</a:t>
            </a:r>
            <a:endParaRPr lang="en-US" sz="1400" dirty="0"/>
          </a:p>
        </p:txBody>
      </p:sp>
      <p:sp>
        <p:nvSpPr>
          <p:cNvPr id="7" name="Baris PBI-07a"/>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PBI-07a</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membuat pengumuman (misal info pendaftaran atau libur) agar informasi sampai ke semua pihak.</a:t>
            </a:r>
            <a:endParaRPr lang="en-US" sz="1400" dirty="0"/>
          </a:p>
        </p:txBody>
      </p:sp>
      <p:sp>
        <p:nvSpPr>
          <p:cNvPr id="10" name="Baris PBI-07b"/>
          <p:cNvSpPr/>
          <p:nvPr/>
        </p:nvSpPr>
        <p:spPr>
          <a:xfrm>
            <a:off x="548640" y="2496312"/>
            <a:ext cx="11064240" cy="384048"/>
          </a:xfrm>
          <a:prstGeom prst="roundRect">
            <a:avLst>
              <a:gd name="adj" fmla="val 23810"/>
            </a:avLst>
          </a:prstGeom>
          <a:solidFill>
            <a:schemeClr val="bg1"/>
          </a:solidFill>
          <a:ln w="12700">
            <a:solidFill>
              <a:schemeClr val="tx1"/>
            </a:solidFill>
            <a:prstDash val="solid"/>
          </a:ln>
        </p:spPr>
      </p:sp>
      <p:sp>
        <p:nvSpPr>
          <p:cNvPr id="11" name="Text 9"/>
          <p:cNvSpPr txBox="1"/>
          <p:nvPr/>
        </p:nvSpPr>
        <p:spPr>
          <a:xfrm>
            <a:off x="685800" y="2496312"/>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PBI-07b</a:t>
            </a:r>
            <a:endParaRPr lang="en-US" sz="1300" dirty="0"/>
          </a:p>
        </p:txBody>
      </p:sp>
      <p:sp>
        <p:nvSpPr>
          <p:cNvPr id="12" name="Text 10"/>
          <p:cNvSpPr txBox="1"/>
          <p:nvPr/>
        </p:nvSpPr>
        <p:spPr>
          <a:xfrm>
            <a:off x="1645920" y="2496312"/>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melihat daftar pengumuman yang sudah diterbitkan.</a:t>
            </a:r>
            <a:endParaRPr lang="en-US" sz="1400" dirty="0"/>
          </a:p>
        </p:txBody>
      </p:sp>
      <p:sp>
        <p:nvSpPr>
          <p:cNvPr id="13" name="Baris PBI-07c"/>
          <p:cNvSpPr/>
          <p:nvPr/>
        </p:nvSpPr>
        <p:spPr>
          <a:xfrm>
            <a:off x="548640" y="2926080"/>
            <a:ext cx="11064240" cy="384048"/>
          </a:xfrm>
          <a:prstGeom prst="roundRect">
            <a:avLst>
              <a:gd name="adj" fmla="val 23810"/>
            </a:avLst>
          </a:prstGeom>
          <a:solidFill>
            <a:schemeClr val="bg1"/>
          </a:solidFill>
          <a:ln w="12700">
            <a:solidFill>
              <a:schemeClr val="tx1"/>
            </a:solidFill>
            <a:prstDash val="solid"/>
          </a:ln>
        </p:spPr>
      </p:sp>
      <p:sp>
        <p:nvSpPr>
          <p:cNvPr id="14" name="Text 12"/>
          <p:cNvSpPr txBox="1"/>
          <p:nvPr/>
        </p:nvSpPr>
        <p:spPr>
          <a:xfrm>
            <a:off x="685800" y="2926080"/>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PBI-07c</a:t>
            </a:r>
            <a:endParaRPr lang="en-US" sz="1300" dirty="0"/>
          </a:p>
        </p:txBody>
      </p:sp>
      <p:sp>
        <p:nvSpPr>
          <p:cNvPr id="15" name="Text 13"/>
          <p:cNvSpPr txBox="1"/>
          <p:nvPr/>
        </p:nvSpPr>
        <p:spPr>
          <a:xfrm>
            <a:off x="1645920" y="2926080"/>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mengubah isi pengumuman jika ada informasi yang berubah.</a:t>
            </a:r>
            <a:endParaRPr lang="en-US" sz="1400" dirty="0"/>
          </a:p>
        </p:txBody>
      </p:sp>
      <p:sp>
        <p:nvSpPr>
          <p:cNvPr id="16" name="Baris PBI-07d"/>
          <p:cNvSpPr/>
          <p:nvPr/>
        </p:nvSpPr>
        <p:spPr>
          <a:xfrm>
            <a:off x="548640" y="3355848"/>
            <a:ext cx="11064240" cy="384048"/>
          </a:xfrm>
          <a:prstGeom prst="roundRect">
            <a:avLst>
              <a:gd name="adj" fmla="val 23810"/>
            </a:avLst>
          </a:prstGeom>
          <a:solidFill>
            <a:schemeClr val="bg1"/>
          </a:solidFill>
          <a:ln w="12700">
            <a:solidFill>
              <a:schemeClr val="tx1"/>
            </a:solidFill>
            <a:prstDash val="solid"/>
          </a:ln>
        </p:spPr>
      </p:sp>
      <p:sp>
        <p:nvSpPr>
          <p:cNvPr id="17" name="Text 15"/>
          <p:cNvSpPr txBox="1"/>
          <p:nvPr/>
        </p:nvSpPr>
        <p:spPr>
          <a:xfrm>
            <a:off x="685800" y="3355848"/>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PBI-07d</a:t>
            </a:r>
            <a:endParaRPr lang="en-US" sz="1300" dirty="0"/>
          </a:p>
        </p:txBody>
      </p:sp>
      <p:sp>
        <p:nvSpPr>
          <p:cNvPr id="18" name="Text 16"/>
          <p:cNvSpPr txBox="1"/>
          <p:nvPr/>
        </p:nvSpPr>
        <p:spPr>
          <a:xfrm>
            <a:off x="1645920" y="3355848"/>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menghapus pengumuman yang sudah tidak berlaku.</a:t>
            </a:r>
            <a:endParaRPr lang="en-US" sz="1400" dirty="0"/>
          </a:p>
        </p:txBody>
      </p:sp>
      <p:sp>
        <p:nvSpPr>
          <p:cNvPr id="19" name="Baris PBI-07e"/>
          <p:cNvSpPr/>
          <p:nvPr/>
        </p:nvSpPr>
        <p:spPr>
          <a:xfrm>
            <a:off x="548640" y="3785616"/>
            <a:ext cx="11064240" cy="649224"/>
          </a:xfrm>
          <a:prstGeom prst="roundRect">
            <a:avLst>
              <a:gd name="adj" fmla="val 14085"/>
            </a:avLst>
          </a:prstGeom>
          <a:solidFill>
            <a:schemeClr val="bg1"/>
          </a:solidFill>
          <a:ln w="12700">
            <a:solidFill>
              <a:schemeClr val="tx1"/>
            </a:solidFill>
            <a:prstDash val="solid"/>
          </a:ln>
        </p:spPr>
      </p:sp>
      <p:sp>
        <p:nvSpPr>
          <p:cNvPr id="20" name="Text 18"/>
          <p:cNvSpPr txBox="1"/>
          <p:nvPr/>
        </p:nvSpPr>
        <p:spPr>
          <a:xfrm>
            <a:off x="685800" y="3785616"/>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PBI-07e</a:t>
            </a:r>
            <a:endParaRPr lang="en-US" sz="1300" dirty="0"/>
          </a:p>
        </p:txBody>
      </p:sp>
      <p:sp>
        <p:nvSpPr>
          <p:cNvPr id="21" name="Text 19"/>
          <p:cNvSpPr txBox="1"/>
          <p:nvPr/>
        </p:nvSpPr>
        <p:spPr>
          <a:xfrm>
            <a:off x="1645920" y="3785616"/>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Pengasuh dan Orang Tua, saya ingin membaca pengumuman terbaru agar tidak ketinggalan informasi daycare.</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Fadli (1/3)</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3"/>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Fadli Muhammad Arsyi  |  102022580036</a:t>
            </a:r>
            <a:endParaRPr lang="en-US" sz="1300" dirty="0"/>
          </a:p>
        </p:txBody>
      </p:sp>
      <p:sp>
        <p:nvSpPr>
          <p:cNvPr id="5" name="Header PBI-08"/>
          <p:cNvSpPr/>
          <p:nvPr/>
        </p:nvSpPr>
        <p:spPr>
          <a:xfrm>
            <a:off x="548640" y="1371600"/>
            <a:ext cx="11064240" cy="384048"/>
          </a:xfrm>
          <a:prstGeom prst="roundRect">
            <a:avLst>
              <a:gd name="adj" fmla="val 23810"/>
            </a:avLst>
          </a:prstGeom>
          <a:solidFill>
            <a:schemeClr val="accent3"/>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PBI-08  Paket Layanan   |   Sprint 1   |   5 sub-PBI</a:t>
            </a:r>
            <a:endParaRPr lang="en-US" sz="1400" dirty="0"/>
          </a:p>
        </p:txBody>
      </p:sp>
      <p:sp>
        <p:nvSpPr>
          <p:cNvPr id="7" name="Baris PBI-08a"/>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PBI-08a</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menambahkan paket layanan beserta deskripsi dan tarifnya agar orang tua punya pilihan paket.</a:t>
            </a:r>
            <a:endParaRPr lang="en-US" sz="1400" dirty="0"/>
          </a:p>
        </p:txBody>
      </p:sp>
      <p:sp>
        <p:nvSpPr>
          <p:cNvPr id="10" name="Baris PBI-08b"/>
          <p:cNvSpPr/>
          <p:nvPr/>
        </p:nvSpPr>
        <p:spPr>
          <a:xfrm>
            <a:off x="548640" y="2496312"/>
            <a:ext cx="11064240" cy="384048"/>
          </a:xfrm>
          <a:prstGeom prst="roundRect">
            <a:avLst>
              <a:gd name="adj" fmla="val 23810"/>
            </a:avLst>
          </a:prstGeom>
          <a:solidFill>
            <a:schemeClr val="bg1"/>
          </a:solidFill>
          <a:ln w="12700">
            <a:solidFill>
              <a:schemeClr val="tx1"/>
            </a:solidFill>
            <a:prstDash val="solid"/>
          </a:ln>
        </p:spPr>
      </p:sp>
      <p:sp>
        <p:nvSpPr>
          <p:cNvPr id="11" name="Text 9"/>
          <p:cNvSpPr txBox="1"/>
          <p:nvPr/>
        </p:nvSpPr>
        <p:spPr>
          <a:xfrm>
            <a:off x="685800" y="2496312"/>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PBI-08b</a:t>
            </a:r>
            <a:endParaRPr lang="en-US" sz="1300" dirty="0"/>
          </a:p>
        </p:txBody>
      </p:sp>
      <p:sp>
        <p:nvSpPr>
          <p:cNvPr id="12" name="Text 10"/>
          <p:cNvSpPr txBox="1"/>
          <p:nvPr/>
        </p:nvSpPr>
        <p:spPr>
          <a:xfrm>
            <a:off x="1645920" y="2496312"/>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melihat daftar paket layanan agar bisa memantau paket yang tersedia.</a:t>
            </a:r>
            <a:endParaRPr lang="en-US" sz="1400" dirty="0"/>
          </a:p>
        </p:txBody>
      </p:sp>
      <p:sp>
        <p:nvSpPr>
          <p:cNvPr id="13" name="Baris PBI-08c"/>
          <p:cNvSpPr/>
          <p:nvPr/>
        </p:nvSpPr>
        <p:spPr>
          <a:xfrm>
            <a:off x="548640" y="2926080"/>
            <a:ext cx="11064240" cy="649224"/>
          </a:xfrm>
          <a:prstGeom prst="roundRect">
            <a:avLst>
              <a:gd name="adj" fmla="val 14085"/>
            </a:avLst>
          </a:prstGeom>
          <a:solidFill>
            <a:schemeClr val="bg1"/>
          </a:solidFill>
          <a:ln w="12700">
            <a:solidFill>
              <a:schemeClr val="tx1"/>
            </a:solidFill>
            <a:prstDash val="solid"/>
          </a:ln>
        </p:spPr>
      </p:sp>
      <p:sp>
        <p:nvSpPr>
          <p:cNvPr id="14" name="Text 12"/>
          <p:cNvSpPr txBox="1"/>
          <p:nvPr/>
        </p:nvSpPr>
        <p:spPr>
          <a:xfrm>
            <a:off x="685800" y="2926080"/>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PBI-08c</a:t>
            </a:r>
            <a:endParaRPr lang="en-US" sz="1300" dirty="0"/>
          </a:p>
        </p:txBody>
      </p:sp>
      <p:sp>
        <p:nvSpPr>
          <p:cNvPr id="15" name="Text 13"/>
          <p:cNvSpPr txBox="1"/>
          <p:nvPr/>
        </p:nvSpPr>
        <p:spPr>
          <a:xfrm>
            <a:off x="1645920" y="2926080"/>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mengubah paket layanan (tarif, deskripsi, status aktif) jika ada penyesuaian.</a:t>
            </a:r>
            <a:endParaRPr lang="en-US" sz="1400" dirty="0"/>
          </a:p>
        </p:txBody>
      </p:sp>
      <p:sp>
        <p:nvSpPr>
          <p:cNvPr id="16" name="Baris PBI-08d"/>
          <p:cNvSpPr/>
          <p:nvPr/>
        </p:nvSpPr>
        <p:spPr>
          <a:xfrm>
            <a:off x="548640" y="3621024"/>
            <a:ext cx="11064240" cy="384048"/>
          </a:xfrm>
          <a:prstGeom prst="roundRect">
            <a:avLst>
              <a:gd name="adj" fmla="val 23810"/>
            </a:avLst>
          </a:prstGeom>
          <a:solidFill>
            <a:schemeClr val="bg1"/>
          </a:solidFill>
          <a:ln w="12700">
            <a:solidFill>
              <a:schemeClr val="tx1"/>
            </a:solidFill>
            <a:prstDash val="solid"/>
          </a:ln>
        </p:spPr>
      </p:sp>
      <p:sp>
        <p:nvSpPr>
          <p:cNvPr id="17" name="Text 15"/>
          <p:cNvSpPr txBox="1"/>
          <p:nvPr/>
        </p:nvSpPr>
        <p:spPr>
          <a:xfrm>
            <a:off x="685800" y="3621024"/>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PBI-08d</a:t>
            </a:r>
            <a:endParaRPr lang="en-US" sz="1300" dirty="0"/>
          </a:p>
        </p:txBody>
      </p:sp>
      <p:sp>
        <p:nvSpPr>
          <p:cNvPr id="18" name="Text 16"/>
          <p:cNvSpPr txBox="1"/>
          <p:nvPr/>
        </p:nvSpPr>
        <p:spPr>
          <a:xfrm>
            <a:off x="1645920" y="3621024"/>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menghapus paket layanan yang sudah tidak ditawarkan.</a:t>
            </a:r>
            <a:endParaRPr lang="en-US" sz="1400" dirty="0"/>
          </a:p>
        </p:txBody>
      </p:sp>
      <p:sp>
        <p:nvSpPr>
          <p:cNvPr id="19" name="Baris PBI-08e"/>
          <p:cNvSpPr/>
          <p:nvPr/>
        </p:nvSpPr>
        <p:spPr>
          <a:xfrm>
            <a:off x="548640" y="4050792"/>
            <a:ext cx="11064240" cy="649224"/>
          </a:xfrm>
          <a:prstGeom prst="roundRect">
            <a:avLst>
              <a:gd name="adj" fmla="val 14085"/>
            </a:avLst>
          </a:prstGeom>
          <a:solidFill>
            <a:schemeClr val="bg1"/>
          </a:solidFill>
          <a:ln w="12700">
            <a:solidFill>
              <a:schemeClr val="tx1"/>
            </a:solidFill>
            <a:prstDash val="solid"/>
          </a:ln>
        </p:spPr>
      </p:sp>
      <p:sp>
        <p:nvSpPr>
          <p:cNvPr id="20" name="Text 18"/>
          <p:cNvSpPr txBox="1"/>
          <p:nvPr/>
        </p:nvSpPr>
        <p:spPr>
          <a:xfrm>
            <a:off x="685800" y="4050792"/>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PBI-08e</a:t>
            </a:r>
            <a:endParaRPr lang="en-US" sz="1300" dirty="0"/>
          </a:p>
        </p:txBody>
      </p:sp>
      <p:sp>
        <p:nvSpPr>
          <p:cNvPr id="21" name="Text 19"/>
          <p:cNvSpPr txBox="1"/>
          <p:nvPr/>
        </p:nvSpPr>
        <p:spPr>
          <a:xfrm>
            <a:off x="1645920" y="4050792"/>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melihat daftar paket dan harganya agar bisa memilih paket saat mendaftar.</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Fadli (2/3)</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3"/>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Fadli Muhammad Arsyi  |  102022580036</a:t>
            </a:r>
            <a:endParaRPr lang="en-US" sz="1300" dirty="0"/>
          </a:p>
        </p:txBody>
      </p:sp>
      <p:sp>
        <p:nvSpPr>
          <p:cNvPr id="5" name="Header PBI-09"/>
          <p:cNvSpPr/>
          <p:nvPr/>
        </p:nvSpPr>
        <p:spPr>
          <a:xfrm>
            <a:off x="548640" y="1371600"/>
            <a:ext cx="11064240" cy="384048"/>
          </a:xfrm>
          <a:prstGeom prst="roundRect">
            <a:avLst>
              <a:gd name="adj" fmla="val 23810"/>
            </a:avLst>
          </a:prstGeom>
          <a:solidFill>
            <a:schemeClr val="accent3"/>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PBI-09  Penjemput Terdaftar   |   Sprint 1   |   5 sub-PBI</a:t>
            </a:r>
            <a:endParaRPr lang="en-US" sz="1400" dirty="0"/>
          </a:p>
        </p:txBody>
      </p:sp>
      <p:sp>
        <p:nvSpPr>
          <p:cNvPr id="7" name="Baris PBI-09a"/>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PBI-09a</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menambahkan orang yang boleh menjemput anak (nama, hubungan, foto identitas, kontak) agar anak tidak dijemput orang sembarangan.</a:t>
            </a:r>
            <a:endParaRPr lang="en-US" sz="1400" dirty="0"/>
          </a:p>
        </p:txBody>
      </p:sp>
      <p:sp>
        <p:nvSpPr>
          <p:cNvPr id="10" name="Baris PBI-09b"/>
          <p:cNvSpPr/>
          <p:nvPr/>
        </p:nvSpPr>
        <p:spPr>
          <a:xfrm>
            <a:off x="548640" y="2496312"/>
            <a:ext cx="11064240" cy="384048"/>
          </a:xfrm>
          <a:prstGeom prst="roundRect">
            <a:avLst>
              <a:gd name="adj" fmla="val 23810"/>
            </a:avLst>
          </a:prstGeom>
          <a:solidFill>
            <a:schemeClr val="bg1"/>
          </a:solidFill>
          <a:ln w="12700">
            <a:solidFill>
              <a:schemeClr val="tx1"/>
            </a:solidFill>
            <a:prstDash val="solid"/>
          </a:ln>
        </p:spPr>
      </p:sp>
      <p:sp>
        <p:nvSpPr>
          <p:cNvPr id="11" name="Text 9"/>
          <p:cNvSpPr txBox="1"/>
          <p:nvPr/>
        </p:nvSpPr>
        <p:spPr>
          <a:xfrm>
            <a:off x="685800" y="2496312"/>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PBI-09b</a:t>
            </a:r>
            <a:endParaRPr lang="en-US" sz="1300" dirty="0"/>
          </a:p>
        </p:txBody>
      </p:sp>
      <p:sp>
        <p:nvSpPr>
          <p:cNvPr id="12" name="Text 10"/>
          <p:cNvSpPr txBox="1"/>
          <p:nvPr/>
        </p:nvSpPr>
        <p:spPr>
          <a:xfrm>
            <a:off x="1645920" y="2496312"/>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melihat daftar penjemput anak saya.</a:t>
            </a:r>
            <a:endParaRPr lang="en-US" sz="1400" dirty="0"/>
          </a:p>
        </p:txBody>
      </p:sp>
      <p:sp>
        <p:nvSpPr>
          <p:cNvPr id="13" name="Baris PBI-09c"/>
          <p:cNvSpPr/>
          <p:nvPr/>
        </p:nvSpPr>
        <p:spPr>
          <a:xfrm>
            <a:off x="548640" y="2926080"/>
            <a:ext cx="11064240" cy="384048"/>
          </a:xfrm>
          <a:prstGeom prst="roundRect">
            <a:avLst>
              <a:gd name="adj" fmla="val 23810"/>
            </a:avLst>
          </a:prstGeom>
          <a:solidFill>
            <a:schemeClr val="bg1"/>
          </a:solidFill>
          <a:ln w="12700">
            <a:solidFill>
              <a:schemeClr val="tx1"/>
            </a:solidFill>
            <a:prstDash val="solid"/>
          </a:ln>
        </p:spPr>
      </p:sp>
      <p:sp>
        <p:nvSpPr>
          <p:cNvPr id="14" name="Text 12"/>
          <p:cNvSpPr txBox="1"/>
          <p:nvPr/>
        </p:nvSpPr>
        <p:spPr>
          <a:xfrm>
            <a:off x="685800" y="2926080"/>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PBI-09c</a:t>
            </a:r>
            <a:endParaRPr lang="en-US" sz="1300" dirty="0"/>
          </a:p>
        </p:txBody>
      </p:sp>
      <p:sp>
        <p:nvSpPr>
          <p:cNvPr id="15" name="Text 13"/>
          <p:cNvSpPr txBox="1"/>
          <p:nvPr/>
        </p:nvSpPr>
        <p:spPr>
          <a:xfrm>
            <a:off x="1645920" y="2926080"/>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mengubah data penjemput jika ada perubahan.</a:t>
            </a:r>
            <a:endParaRPr lang="en-US" sz="1400" dirty="0"/>
          </a:p>
        </p:txBody>
      </p:sp>
      <p:sp>
        <p:nvSpPr>
          <p:cNvPr id="16" name="Baris PBI-09d"/>
          <p:cNvSpPr/>
          <p:nvPr/>
        </p:nvSpPr>
        <p:spPr>
          <a:xfrm>
            <a:off x="548640" y="3355848"/>
            <a:ext cx="11064240" cy="384048"/>
          </a:xfrm>
          <a:prstGeom prst="roundRect">
            <a:avLst>
              <a:gd name="adj" fmla="val 23810"/>
            </a:avLst>
          </a:prstGeom>
          <a:solidFill>
            <a:schemeClr val="bg1"/>
          </a:solidFill>
          <a:ln w="12700">
            <a:solidFill>
              <a:schemeClr val="tx1"/>
            </a:solidFill>
            <a:prstDash val="solid"/>
          </a:ln>
        </p:spPr>
      </p:sp>
      <p:sp>
        <p:nvSpPr>
          <p:cNvPr id="17" name="Text 15"/>
          <p:cNvSpPr txBox="1"/>
          <p:nvPr/>
        </p:nvSpPr>
        <p:spPr>
          <a:xfrm>
            <a:off x="685800" y="3355848"/>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PBI-09d</a:t>
            </a:r>
            <a:endParaRPr lang="en-US" sz="1300" dirty="0"/>
          </a:p>
        </p:txBody>
      </p:sp>
      <p:sp>
        <p:nvSpPr>
          <p:cNvPr id="18" name="Text 16"/>
          <p:cNvSpPr txBox="1"/>
          <p:nvPr/>
        </p:nvSpPr>
        <p:spPr>
          <a:xfrm>
            <a:off x="1645920" y="3355848"/>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menghapus penjemput yang sudah tidak berwenang.</a:t>
            </a:r>
            <a:endParaRPr lang="en-US" sz="1400" dirty="0"/>
          </a:p>
        </p:txBody>
      </p:sp>
      <p:sp>
        <p:nvSpPr>
          <p:cNvPr id="19" name="Baris PBI-09e"/>
          <p:cNvSpPr/>
          <p:nvPr/>
        </p:nvSpPr>
        <p:spPr>
          <a:xfrm>
            <a:off x="548640" y="3785616"/>
            <a:ext cx="11064240" cy="649224"/>
          </a:xfrm>
          <a:prstGeom prst="roundRect">
            <a:avLst>
              <a:gd name="adj" fmla="val 14085"/>
            </a:avLst>
          </a:prstGeom>
          <a:solidFill>
            <a:schemeClr val="bg1"/>
          </a:solidFill>
          <a:ln w="12700">
            <a:solidFill>
              <a:schemeClr val="tx1"/>
            </a:solidFill>
            <a:prstDash val="solid"/>
          </a:ln>
        </p:spPr>
      </p:sp>
      <p:sp>
        <p:nvSpPr>
          <p:cNvPr id="20" name="Text 18"/>
          <p:cNvSpPr txBox="1"/>
          <p:nvPr/>
        </p:nvSpPr>
        <p:spPr>
          <a:xfrm>
            <a:off x="685800" y="3785616"/>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PBI-09e</a:t>
            </a:r>
            <a:endParaRPr lang="en-US" sz="1300" dirty="0"/>
          </a:p>
        </p:txBody>
      </p:sp>
      <p:sp>
        <p:nvSpPr>
          <p:cNvPr id="21" name="Text 19"/>
          <p:cNvSpPr txBox="1"/>
          <p:nvPr/>
        </p:nvSpPr>
        <p:spPr>
          <a:xfrm>
            <a:off x="1645920" y="3785616"/>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melihat daftar penjemput terdaftar agar bisa mencocokkan penjemput saat anak pulang.</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Fadli (3/3)</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3"/>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Fadli Muhammad Arsyi  |  102022580036</a:t>
            </a:r>
            <a:endParaRPr lang="en-US" sz="1300" dirty="0"/>
          </a:p>
        </p:txBody>
      </p:sp>
      <p:sp>
        <p:nvSpPr>
          <p:cNvPr id="5" name="Header PBI-10"/>
          <p:cNvSpPr/>
          <p:nvPr/>
        </p:nvSpPr>
        <p:spPr>
          <a:xfrm>
            <a:off x="548640" y="1371600"/>
            <a:ext cx="11064240" cy="384048"/>
          </a:xfrm>
          <a:prstGeom prst="roundRect">
            <a:avLst>
              <a:gd name="adj" fmla="val 23810"/>
            </a:avLst>
          </a:prstGeom>
          <a:solidFill>
            <a:schemeClr val="accent3"/>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PBI-10  Tagihan dan Pembayaran   |   Sprint 1   |   9 sub-PBI</a:t>
            </a:r>
            <a:endParaRPr lang="en-US" sz="1400" dirty="0"/>
          </a:p>
        </p:txBody>
      </p:sp>
      <p:sp>
        <p:nvSpPr>
          <p:cNvPr id="7" name="Baris PBI-10a"/>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PBI-10a</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menerbitkan tagihan dari pendaftaran yang disetujui sesuai tarif paket agar orang tua tahu biaya yang harus dibayar.</a:t>
            </a:r>
            <a:endParaRPr lang="en-US" sz="1400" dirty="0"/>
          </a:p>
        </p:txBody>
      </p:sp>
      <p:sp>
        <p:nvSpPr>
          <p:cNvPr id="10" name="Baris PBI-10b"/>
          <p:cNvSpPr/>
          <p:nvPr/>
        </p:nvSpPr>
        <p:spPr>
          <a:xfrm>
            <a:off x="548640" y="2496312"/>
            <a:ext cx="11064240" cy="384048"/>
          </a:xfrm>
          <a:prstGeom prst="roundRect">
            <a:avLst>
              <a:gd name="adj" fmla="val 23810"/>
            </a:avLst>
          </a:prstGeom>
          <a:solidFill>
            <a:schemeClr val="bg1"/>
          </a:solidFill>
          <a:ln w="12700">
            <a:solidFill>
              <a:schemeClr val="tx1"/>
            </a:solidFill>
            <a:prstDash val="solid"/>
          </a:ln>
        </p:spPr>
      </p:sp>
      <p:sp>
        <p:nvSpPr>
          <p:cNvPr id="11" name="Text 9"/>
          <p:cNvSpPr txBox="1"/>
          <p:nvPr/>
        </p:nvSpPr>
        <p:spPr>
          <a:xfrm>
            <a:off x="685800" y="2496312"/>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PBI-10b</a:t>
            </a:r>
            <a:endParaRPr lang="en-US" sz="1300" dirty="0"/>
          </a:p>
        </p:txBody>
      </p:sp>
      <p:sp>
        <p:nvSpPr>
          <p:cNvPr id="12" name="Text 10"/>
          <p:cNvSpPr txBox="1"/>
          <p:nvPr/>
        </p:nvSpPr>
        <p:spPr>
          <a:xfrm>
            <a:off x="1645920" y="2496312"/>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melihat daftar tagihan beserta statusnya (Belum Lunas, Lunas).</a:t>
            </a:r>
            <a:endParaRPr lang="en-US" sz="1400" dirty="0"/>
          </a:p>
        </p:txBody>
      </p:sp>
      <p:sp>
        <p:nvSpPr>
          <p:cNvPr id="13" name="Baris PBI-10c"/>
          <p:cNvSpPr/>
          <p:nvPr/>
        </p:nvSpPr>
        <p:spPr>
          <a:xfrm>
            <a:off x="548640" y="2926080"/>
            <a:ext cx="11064240" cy="384048"/>
          </a:xfrm>
          <a:prstGeom prst="roundRect">
            <a:avLst>
              <a:gd name="adj" fmla="val 23810"/>
            </a:avLst>
          </a:prstGeom>
          <a:solidFill>
            <a:schemeClr val="bg1"/>
          </a:solidFill>
          <a:ln w="12700">
            <a:solidFill>
              <a:schemeClr val="tx1"/>
            </a:solidFill>
            <a:prstDash val="solid"/>
          </a:ln>
        </p:spPr>
      </p:sp>
      <p:sp>
        <p:nvSpPr>
          <p:cNvPr id="14" name="Text 12"/>
          <p:cNvSpPr txBox="1"/>
          <p:nvPr/>
        </p:nvSpPr>
        <p:spPr>
          <a:xfrm>
            <a:off x="685800" y="2926080"/>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PBI-10c</a:t>
            </a:r>
            <a:endParaRPr lang="en-US" sz="1300" dirty="0"/>
          </a:p>
        </p:txBody>
      </p:sp>
      <p:sp>
        <p:nvSpPr>
          <p:cNvPr id="15" name="Text 13"/>
          <p:cNvSpPr txBox="1"/>
          <p:nvPr/>
        </p:nvSpPr>
        <p:spPr>
          <a:xfrm>
            <a:off x="1645920" y="2926080"/>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mengubah tagihan jika ada kesalahan nominal.</a:t>
            </a:r>
            <a:endParaRPr lang="en-US" sz="1400" dirty="0"/>
          </a:p>
        </p:txBody>
      </p:sp>
      <p:sp>
        <p:nvSpPr>
          <p:cNvPr id="16" name="Baris PBI-10d"/>
          <p:cNvSpPr/>
          <p:nvPr/>
        </p:nvSpPr>
        <p:spPr>
          <a:xfrm>
            <a:off x="548640" y="3355848"/>
            <a:ext cx="11064240" cy="384048"/>
          </a:xfrm>
          <a:prstGeom prst="roundRect">
            <a:avLst>
              <a:gd name="adj" fmla="val 23810"/>
            </a:avLst>
          </a:prstGeom>
          <a:solidFill>
            <a:schemeClr val="bg1"/>
          </a:solidFill>
          <a:ln w="12700">
            <a:solidFill>
              <a:schemeClr val="tx1"/>
            </a:solidFill>
            <a:prstDash val="solid"/>
          </a:ln>
        </p:spPr>
      </p:sp>
      <p:sp>
        <p:nvSpPr>
          <p:cNvPr id="17" name="Text 15"/>
          <p:cNvSpPr txBox="1"/>
          <p:nvPr/>
        </p:nvSpPr>
        <p:spPr>
          <a:xfrm>
            <a:off x="685800" y="3355848"/>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PBI-10d</a:t>
            </a:r>
            <a:endParaRPr lang="en-US" sz="1300" dirty="0"/>
          </a:p>
        </p:txBody>
      </p:sp>
      <p:sp>
        <p:nvSpPr>
          <p:cNvPr id="18" name="Text 16"/>
          <p:cNvSpPr txBox="1"/>
          <p:nvPr/>
        </p:nvSpPr>
        <p:spPr>
          <a:xfrm>
            <a:off x="1645920" y="3355848"/>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menghapus tagihan yang salah terbit.</a:t>
            </a:r>
            <a:endParaRPr lang="en-US" sz="1400" dirty="0"/>
          </a:p>
        </p:txBody>
      </p:sp>
      <p:sp>
        <p:nvSpPr>
          <p:cNvPr id="19" name="Baris PBI-10e"/>
          <p:cNvSpPr/>
          <p:nvPr/>
        </p:nvSpPr>
        <p:spPr>
          <a:xfrm>
            <a:off x="548640" y="3785616"/>
            <a:ext cx="11064240" cy="384048"/>
          </a:xfrm>
          <a:prstGeom prst="roundRect">
            <a:avLst>
              <a:gd name="adj" fmla="val 23810"/>
            </a:avLst>
          </a:prstGeom>
          <a:solidFill>
            <a:schemeClr val="bg1"/>
          </a:solidFill>
          <a:ln w="12700">
            <a:solidFill>
              <a:schemeClr val="tx1"/>
            </a:solidFill>
            <a:prstDash val="solid"/>
          </a:ln>
        </p:spPr>
      </p:sp>
      <p:sp>
        <p:nvSpPr>
          <p:cNvPr id="20" name="Text 18"/>
          <p:cNvSpPr txBox="1"/>
          <p:nvPr/>
        </p:nvSpPr>
        <p:spPr>
          <a:xfrm>
            <a:off x="685800" y="3785616"/>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PBI-10e</a:t>
            </a:r>
            <a:endParaRPr lang="en-US" sz="1300" dirty="0"/>
          </a:p>
        </p:txBody>
      </p:sp>
      <p:sp>
        <p:nvSpPr>
          <p:cNvPr id="21" name="Text 19"/>
          <p:cNvSpPr txBox="1"/>
          <p:nvPr/>
        </p:nvSpPr>
        <p:spPr>
          <a:xfrm>
            <a:off x="1645920" y="3785616"/>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melihat rincian dan status tagihan saya.</a:t>
            </a:r>
            <a:endParaRPr lang="en-US" sz="1400" dirty="0"/>
          </a:p>
        </p:txBody>
      </p:sp>
      <p:sp>
        <p:nvSpPr>
          <p:cNvPr id="22" name="Baris PBI-10f"/>
          <p:cNvSpPr/>
          <p:nvPr/>
        </p:nvSpPr>
        <p:spPr>
          <a:xfrm>
            <a:off x="548640" y="4215384"/>
            <a:ext cx="11064240" cy="649224"/>
          </a:xfrm>
          <a:prstGeom prst="roundRect">
            <a:avLst>
              <a:gd name="adj" fmla="val 14085"/>
            </a:avLst>
          </a:prstGeom>
          <a:solidFill>
            <a:schemeClr val="bg1"/>
          </a:solidFill>
          <a:ln w="12700">
            <a:solidFill>
              <a:schemeClr val="tx1"/>
            </a:solidFill>
            <a:prstDash val="solid"/>
          </a:ln>
        </p:spPr>
      </p:sp>
      <p:sp>
        <p:nvSpPr>
          <p:cNvPr id="23" name="Text 21"/>
          <p:cNvSpPr txBox="1"/>
          <p:nvPr/>
        </p:nvSpPr>
        <p:spPr>
          <a:xfrm>
            <a:off x="685800" y="4215384"/>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PBI-10f</a:t>
            </a:r>
            <a:endParaRPr lang="en-US" sz="1300" dirty="0"/>
          </a:p>
        </p:txBody>
      </p:sp>
      <p:sp>
        <p:nvSpPr>
          <p:cNvPr id="24" name="Text 22"/>
          <p:cNvSpPr txBox="1"/>
          <p:nvPr/>
        </p:nvSpPr>
        <p:spPr>
          <a:xfrm>
            <a:off x="1645920" y="4215384"/>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mengunggah bukti pembayaran (jpg, png, pdf) agar tidak perlu kirim bukti lewat chat.</a:t>
            </a:r>
            <a:endParaRPr lang="en-US" sz="1400" dirty="0"/>
          </a:p>
        </p:txBody>
      </p:sp>
      <p:sp>
        <p:nvSpPr>
          <p:cNvPr id="25" name="Baris PBI-10g"/>
          <p:cNvSpPr/>
          <p:nvPr/>
        </p:nvSpPr>
        <p:spPr>
          <a:xfrm>
            <a:off x="548640" y="4910328"/>
            <a:ext cx="11064240" cy="384048"/>
          </a:xfrm>
          <a:prstGeom prst="roundRect">
            <a:avLst>
              <a:gd name="adj" fmla="val 23810"/>
            </a:avLst>
          </a:prstGeom>
          <a:solidFill>
            <a:schemeClr val="bg1"/>
          </a:solidFill>
          <a:ln w="12700">
            <a:solidFill>
              <a:schemeClr val="tx1"/>
            </a:solidFill>
            <a:prstDash val="solid"/>
          </a:ln>
        </p:spPr>
      </p:sp>
      <p:sp>
        <p:nvSpPr>
          <p:cNvPr id="26" name="Text 24"/>
          <p:cNvSpPr txBox="1"/>
          <p:nvPr/>
        </p:nvSpPr>
        <p:spPr>
          <a:xfrm>
            <a:off x="685800" y="4910328"/>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PBI-10g</a:t>
            </a:r>
            <a:endParaRPr lang="en-US" sz="1300" dirty="0"/>
          </a:p>
        </p:txBody>
      </p:sp>
      <p:sp>
        <p:nvSpPr>
          <p:cNvPr id="27" name="Text 25"/>
          <p:cNvSpPr txBox="1"/>
          <p:nvPr/>
        </p:nvSpPr>
        <p:spPr>
          <a:xfrm>
            <a:off x="1645920" y="4910328"/>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menghapus bukti pembayaran yang salah unggah sebelum diverifikasi.</a:t>
            </a:r>
            <a:endParaRPr lang="en-US" sz="1400" dirty="0"/>
          </a:p>
        </p:txBody>
      </p:sp>
      <p:sp>
        <p:nvSpPr>
          <p:cNvPr id="28" name="Baris PBI-10h"/>
          <p:cNvSpPr/>
          <p:nvPr/>
        </p:nvSpPr>
        <p:spPr>
          <a:xfrm>
            <a:off x="548640" y="5340096"/>
            <a:ext cx="11064240" cy="384048"/>
          </a:xfrm>
          <a:prstGeom prst="roundRect">
            <a:avLst>
              <a:gd name="adj" fmla="val 23810"/>
            </a:avLst>
          </a:prstGeom>
          <a:solidFill>
            <a:schemeClr val="bg1"/>
          </a:solidFill>
          <a:ln w="12700">
            <a:solidFill>
              <a:schemeClr val="tx1"/>
            </a:solidFill>
            <a:prstDash val="solid"/>
          </a:ln>
        </p:spPr>
      </p:sp>
      <p:sp>
        <p:nvSpPr>
          <p:cNvPr id="29" name="Text 27"/>
          <p:cNvSpPr txBox="1"/>
          <p:nvPr/>
        </p:nvSpPr>
        <p:spPr>
          <a:xfrm>
            <a:off x="685800" y="5340096"/>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PBI-10h</a:t>
            </a:r>
            <a:endParaRPr lang="en-US" sz="1300" dirty="0"/>
          </a:p>
        </p:txBody>
      </p:sp>
      <p:sp>
        <p:nvSpPr>
          <p:cNvPr id="30" name="Text 28"/>
          <p:cNvSpPr txBox="1"/>
          <p:nvPr/>
        </p:nvSpPr>
        <p:spPr>
          <a:xfrm>
            <a:off x="1645920" y="5340096"/>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melihat bukti pembayaran yang masuk agar bisa mencocokkannya.</a:t>
            </a:r>
            <a:endParaRPr lang="en-US" sz="1400" dirty="0"/>
          </a:p>
        </p:txBody>
      </p:sp>
      <p:sp>
        <p:nvSpPr>
          <p:cNvPr id="31" name="Baris PBI-10i"/>
          <p:cNvSpPr/>
          <p:nvPr/>
        </p:nvSpPr>
        <p:spPr>
          <a:xfrm>
            <a:off x="548640" y="5769864"/>
            <a:ext cx="11064240" cy="384048"/>
          </a:xfrm>
          <a:prstGeom prst="roundRect">
            <a:avLst>
              <a:gd name="adj" fmla="val 23810"/>
            </a:avLst>
          </a:prstGeom>
          <a:solidFill>
            <a:schemeClr val="bg1"/>
          </a:solidFill>
          <a:ln w="12700">
            <a:solidFill>
              <a:schemeClr val="tx1"/>
            </a:solidFill>
            <a:prstDash val="solid"/>
          </a:ln>
        </p:spPr>
      </p:sp>
      <p:sp>
        <p:nvSpPr>
          <p:cNvPr id="32" name="Text 30"/>
          <p:cNvSpPr txBox="1"/>
          <p:nvPr/>
        </p:nvSpPr>
        <p:spPr>
          <a:xfrm>
            <a:off x="685800" y="5769864"/>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PBI-10i</a:t>
            </a:r>
            <a:endParaRPr lang="en-US" sz="1300" dirty="0"/>
          </a:p>
        </p:txBody>
      </p:sp>
      <p:sp>
        <p:nvSpPr>
          <p:cNvPr id="33" name="Text 31"/>
          <p:cNvSpPr txBox="1"/>
          <p:nvPr/>
        </p:nvSpPr>
        <p:spPr>
          <a:xfrm>
            <a:off x="1645920" y="5769864"/>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memverifikasi pembayaran sehingga status tagihan otomatis menjadi Lunas.</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Faris (1/3)</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4"/>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Faris Dwi Ramadhan  |  102022580054</a:t>
            </a:r>
            <a:endParaRPr lang="en-US" sz="1300" dirty="0"/>
          </a:p>
        </p:txBody>
      </p:sp>
      <p:sp>
        <p:nvSpPr>
          <p:cNvPr id="5" name="Header PBI-11"/>
          <p:cNvSpPr/>
          <p:nvPr/>
        </p:nvSpPr>
        <p:spPr>
          <a:xfrm>
            <a:off x="548640" y="1371600"/>
            <a:ext cx="11064240" cy="384048"/>
          </a:xfrm>
          <a:prstGeom prst="roundRect">
            <a:avLst>
              <a:gd name="adj" fmla="val 23810"/>
            </a:avLst>
          </a:prstGeom>
          <a:solidFill>
            <a:schemeClr val="accent4"/>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PBI-11  Alur Pendaftaran dan Verifikasi   |   Sprint 1   |   6 sub-PBI</a:t>
            </a:r>
            <a:endParaRPr lang="en-US" sz="1400" dirty="0"/>
          </a:p>
        </p:txBody>
      </p:sp>
      <p:sp>
        <p:nvSpPr>
          <p:cNvPr id="7" name="Baris PBI-11a"/>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PBI-11a</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membuat pendaftaran dan memilih paket layanan (status awal Draft) agar proses daftar bisa dimulai dari rumah.</a:t>
            </a:r>
            <a:endParaRPr lang="en-US" sz="1400" dirty="0"/>
          </a:p>
        </p:txBody>
      </p:sp>
      <p:sp>
        <p:nvSpPr>
          <p:cNvPr id="10" name="Baris PBI-11b"/>
          <p:cNvSpPr/>
          <p:nvPr/>
        </p:nvSpPr>
        <p:spPr>
          <a:xfrm>
            <a:off x="548640" y="2496312"/>
            <a:ext cx="11064240" cy="649224"/>
          </a:xfrm>
          <a:prstGeom prst="roundRect">
            <a:avLst>
              <a:gd name="adj" fmla="val 14085"/>
            </a:avLst>
          </a:prstGeom>
          <a:solidFill>
            <a:schemeClr val="bg1"/>
          </a:solidFill>
          <a:ln w="12700">
            <a:solidFill>
              <a:schemeClr val="tx1"/>
            </a:solidFill>
            <a:prstDash val="solid"/>
          </a:ln>
        </p:spPr>
      </p:sp>
      <p:sp>
        <p:nvSpPr>
          <p:cNvPr id="11" name="Text 9"/>
          <p:cNvSpPr txBox="1"/>
          <p:nvPr/>
        </p:nvSpPr>
        <p:spPr>
          <a:xfrm>
            <a:off x="685800" y="2496312"/>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PBI-11b</a:t>
            </a:r>
            <a:endParaRPr lang="en-US" sz="1300" dirty="0"/>
          </a:p>
        </p:txBody>
      </p:sp>
      <p:sp>
        <p:nvSpPr>
          <p:cNvPr id="12" name="Text 10"/>
          <p:cNvSpPr txBox="1"/>
          <p:nvPr/>
        </p:nvSpPr>
        <p:spPr>
          <a:xfrm>
            <a:off x="1645920" y="2496312"/>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melihat status pendaftaran saya (Draft, Menunggu Verifikasi, Disetujui) agar tahu sudah sampai tahap mana.</a:t>
            </a:r>
            <a:endParaRPr lang="en-US" sz="1400" dirty="0"/>
          </a:p>
        </p:txBody>
      </p:sp>
      <p:sp>
        <p:nvSpPr>
          <p:cNvPr id="13" name="Baris PBI-11c"/>
          <p:cNvSpPr/>
          <p:nvPr/>
        </p:nvSpPr>
        <p:spPr>
          <a:xfrm>
            <a:off x="548640" y="3191256"/>
            <a:ext cx="11064240" cy="384048"/>
          </a:xfrm>
          <a:prstGeom prst="roundRect">
            <a:avLst>
              <a:gd name="adj" fmla="val 23810"/>
            </a:avLst>
          </a:prstGeom>
          <a:solidFill>
            <a:schemeClr val="bg1"/>
          </a:solidFill>
          <a:ln w="12700">
            <a:solidFill>
              <a:schemeClr val="tx1"/>
            </a:solidFill>
            <a:prstDash val="solid"/>
          </a:ln>
        </p:spPr>
      </p:sp>
      <p:sp>
        <p:nvSpPr>
          <p:cNvPr id="14" name="Text 12"/>
          <p:cNvSpPr txBox="1"/>
          <p:nvPr/>
        </p:nvSpPr>
        <p:spPr>
          <a:xfrm>
            <a:off x="685800" y="3191256"/>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PBI-11c</a:t>
            </a:r>
            <a:endParaRPr lang="en-US" sz="1300" dirty="0"/>
          </a:p>
        </p:txBody>
      </p:sp>
      <p:sp>
        <p:nvSpPr>
          <p:cNvPr id="15" name="Text 13"/>
          <p:cNvSpPr txBox="1"/>
          <p:nvPr/>
        </p:nvSpPr>
        <p:spPr>
          <a:xfrm>
            <a:off x="1645920" y="3191256"/>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menghapus pendaftaran yang masih Draft jika saya batal mendaftar.</a:t>
            </a:r>
            <a:endParaRPr lang="en-US" sz="1400" dirty="0"/>
          </a:p>
        </p:txBody>
      </p:sp>
      <p:sp>
        <p:nvSpPr>
          <p:cNvPr id="16" name="Baris PBI-11d"/>
          <p:cNvSpPr/>
          <p:nvPr/>
        </p:nvSpPr>
        <p:spPr>
          <a:xfrm>
            <a:off x="548640" y="3621024"/>
            <a:ext cx="11064240" cy="649224"/>
          </a:xfrm>
          <a:prstGeom prst="roundRect">
            <a:avLst>
              <a:gd name="adj" fmla="val 14085"/>
            </a:avLst>
          </a:prstGeom>
          <a:solidFill>
            <a:schemeClr val="bg1"/>
          </a:solidFill>
          <a:ln w="12700">
            <a:solidFill>
              <a:schemeClr val="tx1"/>
            </a:solidFill>
            <a:prstDash val="solid"/>
          </a:ln>
        </p:spPr>
      </p:sp>
      <p:sp>
        <p:nvSpPr>
          <p:cNvPr id="17" name="Text 15"/>
          <p:cNvSpPr txBox="1"/>
          <p:nvPr/>
        </p:nvSpPr>
        <p:spPr>
          <a:xfrm>
            <a:off x="685800" y="3621024"/>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PBI-11d</a:t>
            </a:r>
            <a:endParaRPr lang="en-US" sz="1300" dirty="0"/>
          </a:p>
        </p:txBody>
      </p:sp>
      <p:sp>
        <p:nvSpPr>
          <p:cNvPr id="18" name="Text 16"/>
          <p:cNvSpPr txBox="1"/>
          <p:nvPr/>
        </p:nvSpPr>
        <p:spPr>
          <a:xfrm>
            <a:off x="1645920" y="3621024"/>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status pendaftaran berubah jadi Menunggu Verifikasi saat data anak, kesehatan, dan penjemput sudah lengkap agar Admin bisa memprosesnya.</a:t>
            </a:r>
            <a:endParaRPr lang="en-US" sz="1400" dirty="0"/>
          </a:p>
        </p:txBody>
      </p:sp>
      <p:sp>
        <p:nvSpPr>
          <p:cNvPr id="19" name="Baris PBI-11e"/>
          <p:cNvSpPr/>
          <p:nvPr/>
        </p:nvSpPr>
        <p:spPr>
          <a:xfrm>
            <a:off x="548640" y="4315968"/>
            <a:ext cx="11064240" cy="649224"/>
          </a:xfrm>
          <a:prstGeom prst="roundRect">
            <a:avLst>
              <a:gd name="adj" fmla="val 14085"/>
            </a:avLst>
          </a:prstGeom>
          <a:solidFill>
            <a:schemeClr val="bg1"/>
          </a:solidFill>
          <a:ln w="12700">
            <a:solidFill>
              <a:schemeClr val="tx1"/>
            </a:solidFill>
            <a:prstDash val="solid"/>
          </a:ln>
        </p:spPr>
      </p:sp>
      <p:sp>
        <p:nvSpPr>
          <p:cNvPr id="20" name="Text 18"/>
          <p:cNvSpPr txBox="1"/>
          <p:nvPr/>
        </p:nvSpPr>
        <p:spPr>
          <a:xfrm>
            <a:off x="685800" y="43159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PBI-11e</a:t>
            </a:r>
            <a:endParaRPr lang="en-US" sz="1300" dirty="0"/>
          </a:p>
        </p:txBody>
      </p:sp>
      <p:sp>
        <p:nvSpPr>
          <p:cNvPr id="21" name="Text 19"/>
          <p:cNvSpPr txBox="1"/>
          <p:nvPr/>
        </p:nvSpPr>
        <p:spPr>
          <a:xfrm>
            <a:off x="1645920" y="43159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melihat daftar pendaftaran yang masuk agar bisa memeriksanya satu per satu.</a:t>
            </a:r>
            <a:endParaRPr lang="en-US" sz="1400" dirty="0"/>
          </a:p>
        </p:txBody>
      </p:sp>
      <p:sp>
        <p:nvSpPr>
          <p:cNvPr id="22" name="Baris PBI-11f"/>
          <p:cNvSpPr/>
          <p:nvPr/>
        </p:nvSpPr>
        <p:spPr>
          <a:xfrm>
            <a:off x="548640" y="5010912"/>
            <a:ext cx="11064240" cy="649224"/>
          </a:xfrm>
          <a:prstGeom prst="roundRect">
            <a:avLst>
              <a:gd name="adj" fmla="val 14085"/>
            </a:avLst>
          </a:prstGeom>
          <a:solidFill>
            <a:schemeClr val="bg1"/>
          </a:solidFill>
          <a:ln w="12700">
            <a:solidFill>
              <a:schemeClr val="tx1"/>
            </a:solidFill>
            <a:prstDash val="solid"/>
          </a:ln>
        </p:spPr>
      </p:sp>
      <p:sp>
        <p:nvSpPr>
          <p:cNvPr id="23" name="Text 21"/>
          <p:cNvSpPr txBox="1"/>
          <p:nvPr/>
        </p:nvSpPr>
        <p:spPr>
          <a:xfrm>
            <a:off x="685800" y="5010912"/>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PBI-11f</a:t>
            </a:r>
            <a:endParaRPr lang="en-US" sz="1300" dirty="0"/>
          </a:p>
        </p:txBody>
      </p:sp>
      <p:sp>
        <p:nvSpPr>
          <p:cNvPr id="24" name="Text 22"/>
          <p:cNvSpPr txBox="1"/>
          <p:nvPr/>
        </p:nvSpPr>
        <p:spPr>
          <a:xfrm>
            <a:off x="1645920" y="5010912"/>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menyetujui pendaftaran dan menetapkan kelompok usia anak agar anak berstatus aktif.</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Faris (2/3)</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4"/>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Faris Dwi Ramadhan  |  102022580054</a:t>
            </a:r>
            <a:endParaRPr lang="en-US" sz="1300" dirty="0"/>
          </a:p>
        </p:txBody>
      </p:sp>
      <p:sp>
        <p:nvSpPr>
          <p:cNvPr id="5" name="Header PBI-12"/>
          <p:cNvSpPr/>
          <p:nvPr/>
        </p:nvSpPr>
        <p:spPr>
          <a:xfrm>
            <a:off x="548640" y="1371600"/>
            <a:ext cx="11064240" cy="384048"/>
          </a:xfrm>
          <a:prstGeom prst="roundRect">
            <a:avLst>
              <a:gd name="adj" fmla="val 23810"/>
            </a:avLst>
          </a:prstGeom>
          <a:solidFill>
            <a:schemeClr val="accent4"/>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PBI-12  Data Anak   |   Sprint 1   |   5 sub-PBI</a:t>
            </a:r>
            <a:endParaRPr lang="en-US" sz="1400" dirty="0"/>
          </a:p>
        </p:txBody>
      </p:sp>
      <p:sp>
        <p:nvSpPr>
          <p:cNvPr id="7" name="Baris PBI-12a"/>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PBI-12a</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menambahkan data anak (nama, tanggal lahir, jenis kelamin) pada pendaftaran agar identitas anak tercatat.</a:t>
            </a:r>
            <a:endParaRPr lang="en-US" sz="1400" dirty="0"/>
          </a:p>
        </p:txBody>
      </p:sp>
      <p:sp>
        <p:nvSpPr>
          <p:cNvPr id="10" name="Baris PBI-12b"/>
          <p:cNvSpPr/>
          <p:nvPr/>
        </p:nvSpPr>
        <p:spPr>
          <a:xfrm>
            <a:off x="548640" y="2496312"/>
            <a:ext cx="11064240" cy="384048"/>
          </a:xfrm>
          <a:prstGeom prst="roundRect">
            <a:avLst>
              <a:gd name="adj" fmla="val 23810"/>
            </a:avLst>
          </a:prstGeom>
          <a:solidFill>
            <a:schemeClr val="bg1"/>
          </a:solidFill>
          <a:ln w="12700">
            <a:solidFill>
              <a:schemeClr val="tx1"/>
            </a:solidFill>
            <a:prstDash val="solid"/>
          </a:ln>
        </p:spPr>
      </p:sp>
      <p:sp>
        <p:nvSpPr>
          <p:cNvPr id="11" name="Text 9"/>
          <p:cNvSpPr txBox="1"/>
          <p:nvPr/>
        </p:nvSpPr>
        <p:spPr>
          <a:xfrm>
            <a:off x="685800" y="2496312"/>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PBI-12b</a:t>
            </a:r>
            <a:endParaRPr lang="en-US" sz="1300" dirty="0"/>
          </a:p>
        </p:txBody>
      </p:sp>
      <p:sp>
        <p:nvSpPr>
          <p:cNvPr id="12" name="Text 10"/>
          <p:cNvSpPr txBox="1"/>
          <p:nvPr/>
        </p:nvSpPr>
        <p:spPr>
          <a:xfrm>
            <a:off x="1645920" y="2496312"/>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melihat data anak saya.</a:t>
            </a:r>
            <a:endParaRPr lang="en-US" sz="1400" dirty="0"/>
          </a:p>
        </p:txBody>
      </p:sp>
      <p:sp>
        <p:nvSpPr>
          <p:cNvPr id="13" name="Baris PBI-12c"/>
          <p:cNvSpPr/>
          <p:nvPr/>
        </p:nvSpPr>
        <p:spPr>
          <a:xfrm>
            <a:off x="548640" y="2926080"/>
            <a:ext cx="11064240" cy="384048"/>
          </a:xfrm>
          <a:prstGeom prst="roundRect">
            <a:avLst>
              <a:gd name="adj" fmla="val 23810"/>
            </a:avLst>
          </a:prstGeom>
          <a:solidFill>
            <a:schemeClr val="bg1"/>
          </a:solidFill>
          <a:ln w="12700">
            <a:solidFill>
              <a:schemeClr val="tx1"/>
            </a:solidFill>
            <a:prstDash val="solid"/>
          </a:ln>
        </p:spPr>
      </p:sp>
      <p:sp>
        <p:nvSpPr>
          <p:cNvPr id="14" name="Text 12"/>
          <p:cNvSpPr txBox="1"/>
          <p:nvPr/>
        </p:nvSpPr>
        <p:spPr>
          <a:xfrm>
            <a:off x="685800" y="2926080"/>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PBI-12c</a:t>
            </a:r>
            <a:endParaRPr lang="en-US" sz="1300" dirty="0"/>
          </a:p>
        </p:txBody>
      </p:sp>
      <p:sp>
        <p:nvSpPr>
          <p:cNvPr id="15" name="Text 13"/>
          <p:cNvSpPr txBox="1"/>
          <p:nvPr/>
        </p:nvSpPr>
        <p:spPr>
          <a:xfrm>
            <a:off x="1645920" y="2926080"/>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melihat daftar seluruh anak agar mudah memantau anak yang terdaftar.</a:t>
            </a:r>
            <a:endParaRPr lang="en-US" sz="1400" dirty="0"/>
          </a:p>
        </p:txBody>
      </p:sp>
      <p:sp>
        <p:nvSpPr>
          <p:cNvPr id="16" name="Baris PBI-12d"/>
          <p:cNvSpPr/>
          <p:nvPr/>
        </p:nvSpPr>
        <p:spPr>
          <a:xfrm>
            <a:off x="548640" y="3355848"/>
            <a:ext cx="11064240" cy="384048"/>
          </a:xfrm>
          <a:prstGeom prst="roundRect">
            <a:avLst>
              <a:gd name="adj" fmla="val 23810"/>
            </a:avLst>
          </a:prstGeom>
          <a:solidFill>
            <a:schemeClr val="bg1"/>
          </a:solidFill>
          <a:ln w="12700">
            <a:solidFill>
              <a:schemeClr val="tx1"/>
            </a:solidFill>
            <a:prstDash val="solid"/>
          </a:ln>
        </p:spPr>
      </p:sp>
      <p:sp>
        <p:nvSpPr>
          <p:cNvPr id="17" name="Text 15"/>
          <p:cNvSpPr txBox="1"/>
          <p:nvPr/>
        </p:nvSpPr>
        <p:spPr>
          <a:xfrm>
            <a:off x="685800" y="3355848"/>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PBI-12d</a:t>
            </a:r>
            <a:endParaRPr lang="en-US" sz="1300" dirty="0"/>
          </a:p>
        </p:txBody>
      </p:sp>
      <p:sp>
        <p:nvSpPr>
          <p:cNvPr id="18" name="Text 16"/>
          <p:cNvSpPr txBox="1"/>
          <p:nvPr/>
        </p:nvSpPr>
        <p:spPr>
          <a:xfrm>
            <a:off x="1645920" y="3355848"/>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mengubah data anak, termasuk menetapkan kelompok usia, saat verifikasi.</a:t>
            </a:r>
            <a:endParaRPr lang="en-US" sz="1400" dirty="0"/>
          </a:p>
        </p:txBody>
      </p:sp>
      <p:sp>
        <p:nvSpPr>
          <p:cNvPr id="19" name="Baris PBI-12e"/>
          <p:cNvSpPr/>
          <p:nvPr/>
        </p:nvSpPr>
        <p:spPr>
          <a:xfrm>
            <a:off x="548640" y="3785616"/>
            <a:ext cx="11064240" cy="384048"/>
          </a:xfrm>
          <a:prstGeom prst="roundRect">
            <a:avLst>
              <a:gd name="adj" fmla="val 23810"/>
            </a:avLst>
          </a:prstGeom>
          <a:solidFill>
            <a:schemeClr val="bg1"/>
          </a:solidFill>
          <a:ln w="12700">
            <a:solidFill>
              <a:schemeClr val="tx1"/>
            </a:solidFill>
            <a:prstDash val="solid"/>
          </a:ln>
        </p:spPr>
      </p:sp>
      <p:sp>
        <p:nvSpPr>
          <p:cNvPr id="20" name="Text 18"/>
          <p:cNvSpPr txBox="1"/>
          <p:nvPr/>
        </p:nvSpPr>
        <p:spPr>
          <a:xfrm>
            <a:off x="685800" y="3785616"/>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PBI-12e</a:t>
            </a:r>
            <a:endParaRPr lang="en-US" sz="1300" dirty="0"/>
          </a:p>
        </p:txBody>
      </p:sp>
      <p:sp>
        <p:nvSpPr>
          <p:cNvPr id="21" name="Text 19"/>
          <p:cNvSpPr txBox="1"/>
          <p:nvPr/>
        </p:nvSpPr>
        <p:spPr>
          <a:xfrm>
            <a:off x="1645920" y="3785616"/>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menghapus data anak yang salah input atau tidak jadi mendaftar.</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Faris (3/3)</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4"/>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Faris Dwi Ramadhan  |  102022580054</a:t>
            </a:r>
            <a:endParaRPr lang="en-US" sz="1300" dirty="0"/>
          </a:p>
        </p:txBody>
      </p:sp>
      <p:sp>
        <p:nvSpPr>
          <p:cNvPr id="5" name="Header PBI-13"/>
          <p:cNvSpPr/>
          <p:nvPr/>
        </p:nvSpPr>
        <p:spPr>
          <a:xfrm>
            <a:off x="548640" y="1371600"/>
            <a:ext cx="11064240" cy="384048"/>
          </a:xfrm>
          <a:prstGeom prst="roundRect">
            <a:avLst>
              <a:gd name="adj" fmla="val 23810"/>
            </a:avLst>
          </a:prstGeom>
          <a:solidFill>
            <a:schemeClr val="accent4"/>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PBI-13  Catatan Kesehatan   |   Sprint 1   |   5 sub-PBI</a:t>
            </a:r>
            <a:endParaRPr lang="en-US" sz="1400" dirty="0"/>
          </a:p>
        </p:txBody>
      </p:sp>
      <p:sp>
        <p:nvSpPr>
          <p:cNvPr id="7" name="Baris PBI-13a"/>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PBI-13a</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mengisi catatan kesehatan anak (riwayat medis, alergi, pantangan) agar pendaftaran lengkap.</a:t>
            </a:r>
            <a:endParaRPr lang="en-US" sz="1400" dirty="0"/>
          </a:p>
        </p:txBody>
      </p:sp>
      <p:sp>
        <p:nvSpPr>
          <p:cNvPr id="10" name="Baris PBI-13b"/>
          <p:cNvSpPr/>
          <p:nvPr/>
        </p:nvSpPr>
        <p:spPr>
          <a:xfrm>
            <a:off x="548640" y="2496312"/>
            <a:ext cx="11064240" cy="384048"/>
          </a:xfrm>
          <a:prstGeom prst="roundRect">
            <a:avLst>
              <a:gd name="adj" fmla="val 23810"/>
            </a:avLst>
          </a:prstGeom>
          <a:solidFill>
            <a:schemeClr val="bg1"/>
          </a:solidFill>
          <a:ln w="12700">
            <a:solidFill>
              <a:schemeClr val="tx1"/>
            </a:solidFill>
            <a:prstDash val="solid"/>
          </a:ln>
        </p:spPr>
      </p:sp>
      <p:sp>
        <p:nvSpPr>
          <p:cNvPr id="11" name="Text 9"/>
          <p:cNvSpPr txBox="1"/>
          <p:nvPr/>
        </p:nvSpPr>
        <p:spPr>
          <a:xfrm>
            <a:off x="685800" y="2496312"/>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PBI-13b</a:t>
            </a:r>
            <a:endParaRPr lang="en-US" sz="1300" dirty="0"/>
          </a:p>
        </p:txBody>
      </p:sp>
      <p:sp>
        <p:nvSpPr>
          <p:cNvPr id="12" name="Text 10"/>
          <p:cNvSpPr txBox="1"/>
          <p:nvPr/>
        </p:nvSpPr>
        <p:spPr>
          <a:xfrm>
            <a:off x="1645920" y="2496312"/>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melihat catatan kesehatan anak saya.</a:t>
            </a:r>
            <a:endParaRPr lang="en-US" sz="1400" dirty="0"/>
          </a:p>
        </p:txBody>
      </p:sp>
      <p:sp>
        <p:nvSpPr>
          <p:cNvPr id="13" name="Baris PBI-13c"/>
          <p:cNvSpPr/>
          <p:nvPr/>
        </p:nvSpPr>
        <p:spPr>
          <a:xfrm>
            <a:off x="548640" y="2926080"/>
            <a:ext cx="11064240" cy="649224"/>
          </a:xfrm>
          <a:prstGeom prst="roundRect">
            <a:avLst>
              <a:gd name="adj" fmla="val 14085"/>
            </a:avLst>
          </a:prstGeom>
          <a:solidFill>
            <a:schemeClr val="bg1"/>
          </a:solidFill>
          <a:ln w="12700">
            <a:solidFill>
              <a:schemeClr val="tx1"/>
            </a:solidFill>
            <a:prstDash val="solid"/>
          </a:ln>
        </p:spPr>
      </p:sp>
      <p:sp>
        <p:nvSpPr>
          <p:cNvPr id="14" name="Text 12"/>
          <p:cNvSpPr txBox="1"/>
          <p:nvPr/>
        </p:nvSpPr>
        <p:spPr>
          <a:xfrm>
            <a:off x="685800" y="2926080"/>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PBI-13c</a:t>
            </a:r>
            <a:endParaRPr lang="en-US" sz="1300" dirty="0"/>
          </a:p>
        </p:txBody>
      </p:sp>
      <p:sp>
        <p:nvSpPr>
          <p:cNvPr id="15" name="Text 13"/>
          <p:cNvSpPr txBox="1"/>
          <p:nvPr/>
        </p:nvSpPr>
        <p:spPr>
          <a:xfrm>
            <a:off x="1645920" y="2926080"/>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memperbarui catatan kesehatan kapan saja agar pengasuh selalu punya info terbaru.</a:t>
            </a:r>
            <a:endParaRPr lang="en-US" sz="1400" dirty="0"/>
          </a:p>
        </p:txBody>
      </p:sp>
      <p:sp>
        <p:nvSpPr>
          <p:cNvPr id="16" name="Baris PBI-13d"/>
          <p:cNvSpPr/>
          <p:nvPr/>
        </p:nvSpPr>
        <p:spPr>
          <a:xfrm>
            <a:off x="548640" y="3621024"/>
            <a:ext cx="11064240" cy="384048"/>
          </a:xfrm>
          <a:prstGeom prst="roundRect">
            <a:avLst>
              <a:gd name="adj" fmla="val 23810"/>
            </a:avLst>
          </a:prstGeom>
          <a:solidFill>
            <a:schemeClr val="bg1"/>
          </a:solidFill>
          <a:ln w="12700">
            <a:solidFill>
              <a:schemeClr val="tx1"/>
            </a:solidFill>
            <a:prstDash val="solid"/>
          </a:ln>
        </p:spPr>
      </p:sp>
      <p:sp>
        <p:nvSpPr>
          <p:cNvPr id="17" name="Text 15"/>
          <p:cNvSpPr txBox="1"/>
          <p:nvPr/>
        </p:nvSpPr>
        <p:spPr>
          <a:xfrm>
            <a:off x="685800" y="3621024"/>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PBI-13d</a:t>
            </a:r>
            <a:endParaRPr lang="en-US" sz="1300" dirty="0"/>
          </a:p>
        </p:txBody>
      </p:sp>
      <p:sp>
        <p:nvSpPr>
          <p:cNvPr id="18" name="Text 16"/>
          <p:cNvSpPr txBox="1"/>
          <p:nvPr/>
        </p:nvSpPr>
        <p:spPr>
          <a:xfrm>
            <a:off x="1645920" y="3621024"/>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menghapus catatan kesehatan yang salah.</a:t>
            </a:r>
            <a:endParaRPr lang="en-US" sz="1400" dirty="0"/>
          </a:p>
        </p:txBody>
      </p:sp>
      <p:sp>
        <p:nvSpPr>
          <p:cNvPr id="19" name="Baris PBI-13e"/>
          <p:cNvSpPr/>
          <p:nvPr/>
        </p:nvSpPr>
        <p:spPr>
          <a:xfrm>
            <a:off x="548640" y="4050792"/>
            <a:ext cx="11064240" cy="649224"/>
          </a:xfrm>
          <a:prstGeom prst="roundRect">
            <a:avLst>
              <a:gd name="adj" fmla="val 14085"/>
            </a:avLst>
          </a:prstGeom>
          <a:solidFill>
            <a:schemeClr val="bg1"/>
          </a:solidFill>
          <a:ln w="12700">
            <a:solidFill>
              <a:schemeClr val="tx1"/>
            </a:solidFill>
            <a:prstDash val="solid"/>
          </a:ln>
        </p:spPr>
      </p:sp>
      <p:sp>
        <p:nvSpPr>
          <p:cNvPr id="20" name="Text 18"/>
          <p:cNvSpPr txBox="1"/>
          <p:nvPr/>
        </p:nvSpPr>
        <p:spPr>
          <a:xfrm>
            <a:off x="685800" y="4050792"/>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PBI-13e</a:t>
            </a:r>
            <a:endParaRPr lang="en-US" sz="1300" dirty="0"/>
          </a:p>
        </p:txBody>
      </p:sp>
      <p:sp>
        <p:nvSpPr>
          <p:cNvPr id="21" name="Text 19"/>
          <p:cNvSpPr txBox="1"/>
          <p:nvPr/>
        </p:nvSpPr>
        <p:spPr>
          <a:xfrm>
            <a:off x="1645920" y="4050792"/>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melihat catatan kesehatan anak agar bisa merawat anak dengan aman (misal menghindari alergi).</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Raihan (1/3)</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5"/>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Raihan Muhamad Syawal  |  102022580011</a:t>
            </a:r>
            <a:endParaRPr lang="en-US" sz="1300" dirty="0"/>
          </a:p>
        </p:txBody>
      </p:sp>
      <p:sp>
        <p:nvSpPr>
          <p:cNvPr id="5" name="Header PBI-14"/>
          <p:cNvSpPr/>
          <p:nvPr/>
        </p:nvSpPr>
        <p:spPr>
          <a:xfrm>
            <a:off x="548640" y="1371600"/>
            <a:ext cx="11064240" cy="384048"/>
          </a:xfrm>
          <a:prstGeom prst="roundRect">
            <a:avLst>
              <a:gd name="adj" fmla="val 23810"/>
            </a:avLst>
          </a:prstGeom>
          <a:solidFill>
            <a:schemeClr val="accent5"/>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PBI-14  Jadwal Shift Pengasuh   |   Sprint 2   |   5 sub-PBI</a:t>
            </a:r>
            <a:endParaRPr lang="en-US" sz="1400" dirty="0"/>
          </a:p>
        </p:txBody>
      </p:sp>
      <p:sp>
        <p:nvSpPr>
          <p:cNvPr id="7" name="Baris PBI-14a"/>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PBI-14a</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membuat jadwal shift yang menghubungkan pengasuh dengan kelompok usia agar pembagian tugas jelas.</a:t>
            </a:r>
            <a:endParaRPr lang="en-US" sz="1400" dirty="0"/>
          </a:p>
        </p:txBody>
      </p:sp>
      <p:sp>
        <p:nvSpPr>
          <p:cNvPr id="10" name="Baris PBI-14b"/>
          <p:cNvSpPr/>
          <p:nvPr/>
        </p:nvSpPr>
        <p:spPr>
          <a:xfrm>
            <a:off x="548640" y="2496312"/>
            <a:ext cx="11064240" cy="384048"/>
          </a:xfrm>
          <a:prstGeom prst="roundRect">
            <a:avLst>
              <a:gd name="adj" fmla="val 23810"/>
            </a:avLst>
          </a:prstGeom>
          <a:solidFill>
            <a:schemeClr val="bg1"/>
          </a:solidFill>
          <a:ln w="12700">
            <a:solidFill>
              <a:schemeClr val="tx1"/>
            </a:solidFill>
            <a:prstDash val="solid"/>
          </a:ln>
        </p:spPr>
      </p:sp>
      <p:sp>
        <p:nvSpPr>
          <p:cNvPr id="11" name="Text 9"/>
          <p:cNvSpPr txBox="1"/>
          <p:nvPr/>
        </p:nvSpPr>
        <p:spPr>
          <a:xfrm>
            <a:off x="685800" y="2496312"/>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PBI-14b</a:t>
            </a:r>
            <a:endParaRPr lang="en-US" sz="1300" dirty="0"/>
          </a:p>
        </p:txBody>
      </p:sp>
      <p:sp>
        <p:nvSpPr>
          <p:cNvPr id="12" name="Text 10"/>
          <p:cNvSpPr txBox="1"/>
          <p:nvPr/>
        </p:nvSpPr>
        <p:spPr>
          <a:xfrm>
            <a:off x="1645920" y="2496312"/>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melihat seluruh jadwal shift agar bisa memantau penugasan.</a:t>
            </a:r>
            <a:endParaRPr lang="en-US" sz="1400" dirty="0"/>
          </a:p>
        </p:txBody>
      </p:sp>
      <p:sp>
        <p:nvSpPr>
          <p:cNvPr id="13" name="Baris PBI-14c"/>
          <p:cNvSpPr/>
          <p:nvPr/>
        </p:nvSpPr>
        <p:spPr>
          <a:xfrm>
            <a:off x="548640" y="2926080"/>
            <a:ext cx="11064240" cy="384048"/>
          </a:xfrm>
          <a:prstGeom prst="roundRect">
            <a:avLst>
              <a:gd name="adj" fmla="val 23810"/>
            </a:avLst>
          </a:prstGeom>
          <a:solidFill>
            <a:schemeClr val="bg1"/>
          </a:solidFill>
          <a:ln w="12700">
            <a:solidFill>
              <a:schemeClr val="tx1"/>
            </a:solidFill>
            <a:prstDash val="solid"/>
          </a:ln>
        </p:spPr>
      </p:sp>
      <p:sp>
        <p:nvSpPr>
          <p:cNvPr id="14" name="Text 12"/>
          <p:cNvSpPr txBox="1"/>
          <p:nvPr/>
        </p:nvSpPr>
        <p:spPr>
          <a:xfrm>
            <a:off x="685800" y="2926080"/>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PBI-14c</a:t>
            </a:r>
            <a:endParaRPr lang="en-US" sz="1300" dirty="0"/>
          </a:p>
        </p:txBody>
      </p:sp>
      <p:sp>
        <p:nvSpPr>
          <p:cNvPr id="15" name="Text 13"/>
          <p:cNvSpPr txBox="1"/>
          <p:nvPr/>
        </p:nvSpPr>
        <p:spPr>
          <a:xfrm>
            <a:off x="1645920" y="2926080"/>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mengubah jadwal shift jika ada pergantian pengasuh.</a:t>
            </a:r>
            <a:endParaRPr lang="en-US" sz="1400" dirty="0"/>
          </a:p>
        </p:txBody>
      </p:sp>
      <p:sp>
        <p:nvSpPr>
          <p:cNvPr id="16" name="Baris PBI-14d"/>
          <p:cNvSpPr/>
          <p:nvPr/>
        </p:nvSpPr>
        <p:spPr>
          <a:xfrm>
            <a:off x="548640" y="3355848"/>
            <a:ext cx="11064240" cy="384048"/>
          </a:xfrm>
          <a:prstGeom prst="roundRect">
            <a:avLst>
              <a:gd name="adj" fmla="val 23810"/>
            </a:avLst>
          </a:prstGeom>
          <a:solidFill>
            <a:schemeClr val="bg1"/>
          </a:solidFill>
          <a:ln w="12700">
            <a:solidFill>
              <a:schemeClr val="tx1"/>
            </a:solidFill>
            <a:prstDash val="solid"/>
          </a:ln>
        </p:spPr>
      </p:sp>
      <p:sp>
        <p:nvSpPr>
          <p:cNvPr id="17" name="Text 15"/>
          <p:cNvSpPr txBox="1"/>
          <p:nvPr/>
        </p:nvSpPr>
        <p:spPr>
          <a:xfrm>
            <a:off x="685800" y="3355848"/>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PBI-14d</a:t>
            </a:r>
            <a:endParaRPr lang="en-US" sz="1300" dirty="0"/>
          </a:p>
        </p:txBody>
      </p:sp>
      <p:sp>
        <p:nvSpPr>
          <p:cNvPr id="18" name="Text 16"/>
          <p:cNvSpPr txBox="1"/>
          <p:nvPr/>
        </p:nvSpPr>
        <p:spPr>
          <a:xfrm>
            <a:off x="1645920" y="3355848"/>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menghapus jadwal shift yang tidak berlaku.</a:t>
            </a:r>
            <a:endParaRPr lang="en-US" sz="1400" dirty="0"/>
          </a:p>
        </p:txBody>
      </p:sp>
      <p:sp>
        <p:nvSpPr>
          <p:cNvPr id="19" name="Baris PBI-14e"/>
          <p:cNvSpPr/>
          <p:nvPr/>
        </p:nvSpPr>
        <p:spPr>
          <a:xfrm>
            <a:off x="548640" y="3785616"/>
            <a:ext cx="11064240" cy="649224"/>
          </a:xfrm>
          <a:prstGeom prst="roundRect">
            <a:avLst>
              <a:gd name="adj" fmla="val 14085"/>
            </a:avLst>
          </a:prstGeom>
          <a:solidFill>
            <a:schemeClr val="bg1"/>
          </a:solidFill>
          <a:ln w="12700">
            <a:solidFill>
              <a:schemeClr val="tx1"/>
            </a:solidFill>
            <a:prstDash val="solid"/>
          </a:ln>
        </p:spPr>
      </p:sp>
      <p:sp>
        <p:nvSpPr>
          <p:cNvPr id="20" name="Text 18"/>
          <p:cNvSpPr txBox="1"/>
          <p:nvPr/>
        </p:nvSpPr>
        <p:spPr>
          <a:xfrm>
            <a:off x="685800" y="3785616"/>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PBI-14e</a:t>
            </a:r>
            <a:endParaRPr lang="en-US" sz="1300" dirty="0"/>
          </a:p>
        </p:txBody>
      </p:sp>
      <p:sp>
        <p:nvSpPr>
          <p:cNvPr id="21" name="Text 19"/>
          <p:cNvSpPr txBox="1"/>
          <p:nvPr/>
        </p:nvSpPr>
        <p:spPr>
          <a:xfrm>
            <a:off x="1645920" y="3785616"/>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melihat jadwal shift saya agar tahu kelompok usia dan anak yang menjadi tanggung jawab saya hari ini.</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Raihan (2/3)</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5"/>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Raihan Muhamad Syawal  |  102022580011</a:t>
            </a:r>
            <a:endParaRPr lang="en-US" sz="1300" dirty="0"/>
          </a:p>
        </p:txBody>
      </p:sp>
      <p:sp>
        <p:nvSpPr>
          <p:cNvPr id="5" name="Header PBI-15"/>
          <p:cNvSpPr/>
          <p:nvPr/>
        </p:nvSpPr>
        <p:spPr>
          <a:xfrm>
            <a:off x="548640" y="1371600"/>
            <a:ext cx="11064240" cy="384048"/>
          </a:xfrm>
          <a:prstGeom prst="roundRect">
            <a:avLst>
              <a:gd name="adj" fmla="val 23810"/>
            </a:avLst>
          </a:prstGeom>
          <a:solidFill>
            <a:schemeClr val="accent5"/>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PBI-15  Jadwal Kegiatan   |   Sprint 2   |   5 sub-PBI</a:t>
            </a:r>
            <a:endParaRPr lang="en-US" sz="1400" dirty="0"/>
          </a:p>
        </p:txBody>
      </p:sp>
      <p:sp>
        <p:nvSpPr>
          <p:cNvPr id="7" name="Baris PBI-15a"/>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PBI-15a</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membuat jadwal kegiatan per kelompok usia (sarapan, bermain, tidur siang) agar rutinitas harian terarah.</a:t>
            </a:r>
            <a:endParaRPr lang="en-US" sz="1400" dirty="0"/>
          </a:p>
        </p:txBody>
      </p:sp>
      <p:sp>
        <p:nvSpPr>
          <p:cNvPr id="10" name="Baris PBI-15b"/>
          <p:cNvSpPr/>
          <p:nvPr/>
        </p:nvSpPr>
        <p:spPr>
          <a:xfrm>
            <a:off x="548640" y="2496312"/>
            <a:ext cx="11064240" cy="384048"/>
          </a:xfrm>
          <a:prstGeom prst="roundRect">
            <a:avLst>
              <a:gd name="adj" fmla="val 23810"/>
            </a:avLst>
          </a:prstGeom>
          <a:solidFill>
            <a:schemeClr val="bg1"/>
          </a:solidFill>
          <a:ln w="12700">
            <a:solidFill>
              <a:schemeClr val="tx1"/>
            </a:solidFill>
            <a:prstDash val="solid"/>
          </a:ln>
        </p:spPr>
      </p:sp>
      <p:sp>
        <p:nvSpPr>
          <p:cNvPr id="11" name="Text 9"/>
          <p:cNvSpPr txBox="1"/>
          <p:nvPr/>
        </p:nvSpPr>
        <p:spPr>
          <a:xfrm>
            <a:off x="685800" y="2496312"/>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PBI-15b</a:t>
            </a:r>
            <a:endParaRPr lang="en-US" sz="1300" dirty="0"/>
          </a:p>
        </p:txBody>
      </p:sp>
      <p:sp>
        <p:nvSpPr>
          <p:cNvPr id="12" name="Text 10"/>
          <p:cNvSpPr txBox="1"/>
          <p:nvPr/>
        </p:nvSpPr>
        <p:spPr>
          <a:xfrm>
            <a:off x="1645920" y="2496312"/>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melihat jadwal kegiatan setiap kelompok usia.</a:t>
            </a:r>
            <a:endParaRPr lang="en-US" sz="1400" dirty="0"/>
          </a:p>
        </p:txBody>
      </p:sp>
      <p:sp>
        <p:nvSpPr>
          <p:cNvPr id="13" name="Baris PBI-15c"/>
          <p:cNvSpPr/>
          <p:nvPr/>
        </p:nvSpPr>
        <p:spPr>
          <a:xfrm>
            <a:off x="548640" y="2926080"/>
            <a:ext cx="11064240" cy="384048"/>
          </a:xfrm>
          <a:prstGeom prst="roundRect">
            <a:avLst>
              <a:gd name="adj" fmla="val 23810"/>
            </a:avLst>
          </a:prstGeom>
          <a:solidFill>
            <a:schemeClr val="bg1"/>
          </a:solidFill>
          <a:ln w="12700">
            <a:solidFill>
              <a:schemeClr val="tx1"/>
            </a:solidFill>
            <a:prstDash val="solid"/>
          </a:ln>
        </p:spPr>
      </p:sp>
      <p:sp>
        <p:nvSpPr>
          <p:cNvPr id="14" name="Text 12"/>
          <p:cNvSpPr txBox="1"/>
          <p:nvPr/>
        </p:nvSpPr>
        <p:spPr>
          <a:xfrm>
            <a:off x="685800" y="2926080"/>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PBI-15c</a:t>
            </a:r>
            <a:endParaRPr lang="en-US" sz="1300" dirty="0"/>
          </a:p>
        </p:txBody>
      </p:sp>
      <p:sp>
        <p:nvSpPr>
          <p:cNvPr id="15" name="Text 13"/>
          <p:cNvSpPr txBox="1"/>
          <p:nvPr/>
        </p:nvSpPr>
        <p:spPr>
          <a:xfrm>
            <a:off x="1645920" y="2926080"/>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mengubah jadwal kegiatan jika rutinitas berubah.</a:t>
            </a:r>
            <a:endParaRPr lang="en-US" sz="1400" dirty="0"/>
          </a:p>
        </p:txBody>
      </p:sp>
      <p:sp>
        <p:nvSpPr>
          <p:cNvPr id="16" name="Baris PBI-15d"/>
          <p:cNvSpPr/>
          <p:nvPr/>
        </p:nvSpPr>
        <p:spPr>
          <a:xfrm>
            <a:off x="548640" y="3355848"/>
            <a:ext cx="11064240" cy="384048"/>
          </a:xfrm>
          <a:prstGeom prst="roundRect">
            <a:avLst>
              <a:gd name="adj" fmla="val 23810"/>
            </a:avLst>
          </a:prstGeom>
          <a:solidFill>
            <a:schemeClr val="bg1"/>
          </a:solidFill>
          <a:ln w="12700">
            <a:solidFill>
              <a:schemeClr val="tx1"/>
            </a:solidFill>
            <a:prstDash val="solid"/>
          </a:ln>
        </p:spPr>
      </p:sp>
      <p:sp>
        <p:nvSpPr>
          <p:cNvPr id="17" name="Text 15"/>
          <p:cNvSpPr txBox="1"/>
          <p:nvPr/>
        </p:nvSpPr>
        <p:spPr>
          <a:xfrm>
            <a:off x="685800" y="3355848"/>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PBI-15d</a:t>
            </a:r>
            <a:endParaRPr lang="en-US" sz="1300" dirty="0"/>
          </a:p>
        </p:txBody>
      </p:sp>
      <p:sp>
        <p:nvSpPr>
          <p:cNvPr id="18" name="Text 16"/>
          <p:cNvSpPr txBox="1"/>
          <p:nvPr/>
        </p:nvSpPr>
        <p:spPr>
          <a:xfrm>
            <a:off x="1645920" y="3355848"/>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menghapus kegiatan yang sudah tidak dilakukan.</a:t>
            </a:r>
            <a:endParaRPr lang="en-US" sz="1400" dirty="0"/>
          </a:p>
        </p:txBody>
      </p:sp>
      <p:sp>
        <p:nvSpPr>
          <p:cNvPr id="19" name="Baris PBI-15e"/>
          <p:cNvSpPr/>
          <p:nvPr/>
        </p:nvSpPr>
        <p:spPr>
          <a:xfrm>
            <a:off x="548640" y="3785616"/>
            <a:ext cx="11064240" cy="649224"/>
          </a:xfrm>
          <a:prstGeom prst="roundRect">
            <a:avLst>
              <a:gd name="adj" fmla="val 14085"/>
            </a:avLst>
          </a:prstGeom>
          <a:solidFill>
            <a:schemeClr val="bg1"/>
          </a:solidFill>
          <a:ln w="12700">
            <a:solidFill>
              <a:schemeClr val="tx1"/>
            </a:solidFill>
            <a:prstDash val="solid"/>
          </a:ln>
        </p:spPr>
      </p:sp>
      <p:sp>
        <p:nvSpPr>
          <p:cNvPr id="20" name="Text 18"/>
          <p:cNvSpPr txBox="1"/>
          <p:nvPr/>
        </p:nvSpPr>
        <p:spPr>
          <a:xfrm>
            <a:off x="685800" y="3785616"/>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PBI-15e</a:t>
            </a:r>
            <a:endParaRPr lang="en-US" sz="1300" dirty="0"/>
          </a:p>
        </p:txBody>
      </p:sp>
      <p:sp>
        <p:nvSpPr>
          <p:cNvPr id="21" name="Text 19"/>
          <p:cNvSpPr txBox="1"/>
          <p:nvPr/>
        </p:nvSpPr>
        <p:spPr>
          <a:xfrm>
            <a:off x="1645920" y="3785616"/>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melihat jadwal kegiatan harian sebagai panduan menjalankan rutinitas anak.</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Raihan (3/3)</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5"/>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Raihan Muhamad Syawal  |  102022580011</a:t>
            </a:r>
            <a:endParaRPr lang="en-US" sz="1300" dirty="0"/>
          </a:p>
        </p:txBody>
      </p:sp>
      <p:sp>
        <p:nvSpPr>
          <p:cNvPr id="5" name="Header PBI-16"/>
          <p:cNvSpPr/>
          <p:nvPr/>
        </p:nvSpPr>
        <p:spPr>
          <a:xfrm>
            <a:off x="548640" y="1371600"/>
            <a:ext cx="11064240" cy="384048"/>
          </a:xfrm>
          <a:prstGeom prst="roundRect">
            <a:avLst>
              <a:gd name="adj" fmla="val 23810"/>
            </a:avLst>
          </a:prstGeom>
          <a:solidFill>
            <a:schemeClr val="accent5"/>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PBI-16  Presensi (Check-in dan Check-out)   |   Sprint 2   |   7 sub-PBI</a:t>
            </a:r>
            <a:endParaRPr lang="en-US" sz="1400" dirty="0"/>
          </a:p>
        </p:txBody>
      </p:sp>
      <p:sp>
        <p:nvSpPr>
          <p:cNvPr id="7" name="Baris PBI-16a"/>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PBI-16a</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mencatat check-in anak (jam datang dan kondisi) agar kehadiran tercatat dan aktivitas lain bisa dimulai.</a:t>
            </a:r>
            <a:endParaRPr lang="en-US" sz="1400" dirty="0"/>
          </a:p>
        </p:txBody>
      </p:sp>
      <p:sp>
        <p:nvSpPr>
          <p:cNvPr id="10" name="Baris PBI-16b"/>
          <p:cNvSpPr/>
          <p:nvPr/>
        </p:nvSpPr>
        <p:spPr>
          <a:xfrm>
            <a:off x="548640" y="2496312"/>
            <a:ext cx="11064240" cy="649224"/>
          </a:xfrm>
          <a:prstGeom prst="roundRect">
            <a:avLst>
              <a:gd name="adj" fmla="val 14085"/>
            </a:avLst>
          </a:prstGeom>
          <a:solidFill>
            <a:schemeClr val="bg1"/>
          </a:solidFill>
          <a:ln w="12700">
            <a:solidFill>
              <a:schemeClr val="tx1"/>
            </a:solidFill>
            <a:prstDash val="solid"/>
          </a:ln>
        </p:spPr>
      </p:sp>
      <p:sp>
        <p:nvSpPr>
          <p:cNvPr id="11" name="Text 9"/>
          <p:cNvSpPr txBox="1"/>
          <p:nvPr/>
        </p:nvSpPr>
        <p:spPr>
          <a:xfrm>
            <a:off x="685800" y="2496312"/>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PBI-16b</a:t>
            </a:r>
            <a:endParaRPr lang="en-US" sz="1300" dirty="0"/>
          </a:p>
        </p:txBody>
      </p:sp>
      <p:sp>
        <p:nvSpPr>
          <p:cNvPr id="12" name="Text 10"/>
          <p:cNvSpPr txBox="1"/>
          <p:nvPr/>
        </p:nvSpPr>
        <p:spPr>
          <a:xfrm>
            <a:off x="1645920" y="2496312"/>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melihat daftar kehadiran anak hari ini agar tahu siapa yang sudah dan belum hadir.</a:t>
            </a:r>
            <a:endParaRPr lang="en-US" sz="1400" dirty="0"/>
          </a:p>
        </p:txBody>
      </p:sp>
      <p:sp>
        <p:nvSpPr>
          <p:cNvPr id="13" name="Baris PBI-16c"/>
          <p:cNvSpPr/>
          <p:nvPr/>
        </p:nvSpPr>
        <p:spPr>
          <a:xfrm>
            <a:off x="548640" y="3191256"/>
            <a:ext cx="11064240" cy="649224"/>
          </a:xfrm>
          <a:prstGeom prst="roundRect">
            <a:avLst>
              <a:gd name="adj" fmla="val 14085"/>
            </a:avLst>
          </a:prstGeom>
          <a:solidFill>
            <a:schemeClr val="bg1"/>
          </a:solidFill>
          <a:ln w="12700">
            <a:solidFill>
              <a:schemeClr val="tx1"/>
            </a:solidFill>
            <a:prstDash val="solid"/>
          </a:ln>
        </p:spPr>
      </p:sp>
      <p:sp>
        <p:nvSpPr>
          <p:cNvPr id="14" name="Text 12"/>
          <p:cNvSpPr txBox="1"/>
          <p:nvPr/>
        </p:nvSpPr>
        <p:spPr>
          <a:xfrm>
            <a:off x="685800" y="3191256"/>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PBI-16c</a:t>
            </a:r>
            <a:endParaRPr lang="en-US" sz="1300" dirty="0"/>
          </a:p>
        </p:txBody>
      </p:sp>
      <p:sp>
        <p:nvSpPr>
          <p:cNvPr id="15" name="Text 13"/>
          <p:cNvSpPr txBox="1"/>
          <p:nvPr/>
        </p:nvSpPr>
        <p:spPr>
          <a:xfrm>
            <a:off x="1645920" y="3191256"/>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sistem mencegah check-in ganda pada hari yang sama agar data tidak dobel.</a:t>
            </a:r>
            <a:endParaRPr lang="en-US" sz="1400" dirty="0"/>
          </a:p>
        </p:txBody>
      </p:sp>
      <p:sp>
        <p:nvSpPr>
          <p:cNvPr id="16" name="Baris PBI-16d"/>
          <p:cNvSpPr/>
          <p:nvPr/>
        </p:nvSpPr>
        <p:spPr>
          <a:xfrm>
            <a:off x="548640" y="3886200"/>
            <a:ext cx="11064240" cy="649224"/>
          </a:xfrm>
          <a:prstGeom prst="roundRect">
            <a:avLst>
              <a:gd name="adj" fmla="val 14085"/>
            </a:avLst>
          </a:prstGeom>
          <a:solidFill>
            <a:schemeClr val="bg1"/>
          </a:solidFill>
          <a:ln w="12700">
            <a:solidFill>
              <a:schemeClr val="tx1"/>
            </a:solidFill>
            <a:prstDash val="solid"/>
          </a:ln>
        </p:spPr>
      </p:sp>
      <p:sp>
        <p:nvSpPr>
          <p:cNvPr id="17" name="Text 15"/>
          <p:cNvSpPr txBox="1"/>
          <p:nvPr/>
        </p:nvSpPr>
        <p:spPr>
          <a:xfrm>
            <a:off x="685800" y="3886200"/>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PBI-16d</a:t>
            </a:r>
            <a:endParaRPr lang="en-US" sz="1300" dirty="0"/>
          </a:p>
        </p:txBody>
      </p:sp>
      <p:sp>
        <p:nvSpPr>
          <p:cNvPr id="18" name="Text 16"/>
          <p:cNvSpPr txBox="1"/>
          <p:nvPr/>
        </p:nvSpPr>
        <p:spPr>
          <a:xfrm>
            <a:off x="1645920" y="3886200"/>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melakukan check-out dengan mencocokkan penjemput ke Penjemput Terdaftar agar anak hanya diserahkan ke orang yang berhak.</a:t>
            </a:r>
            <a:endParaRPr lang="en-US" sz="1400" dirty="0"/>
          </a:p>
        </p:txBody>
      </p:sp>
      <p:sp>
        <p:nvSpPr>
          <p:cNvPr id="19" name="Baris PBI-16e"/>
          <p:cNvSpPr/>
          <p:nvPr/>
        </p:nvSpPr>
        <p:spPr>
          <a:xfrm>
            <a:off x="548640" y="4581144"/>
            <a:ext cx="11064240" cy="649224"/>
          </a:xfrm>
          <a:prstGeom prst="roundRect">
            <a:avLst>
              <a:gd name="adj" fmla="val 14085"/>
            </a:avLst>
          </a:prstGeom>
          <a:solidFill>
            <a:schemeClr val="bg1"/>
          </a:solidFill>
          <a:ln w="12700">
            <a:solidFill>
              <a:schemeClr val="tx1"/>
            </a:solidFill>
            <a:prstDash val="solid"/>
          </a:ln>
        </p:spPr>
      </p:sp>
      <p:sp>
        <p:nvSpPr>
          <p:cNvPr id="20" name="Text 18"/>
          <p:cNvSpPr txBox="1"/>
          <p:nvPr/>
        </p:nvSpPr>
        <p:spPr>
          <a:xfrm>
            <a:off x="685800" y="4581144"/>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PBI-16e</a:t>
            </a:r>
            <a:endParaRPr lang="en-US" sz="1300" dirty="0"/>
          </a:p>
        </p:txBody>
      </p:sp>
      <p:sp>
        <p:nvSpPr>
          <p:cNvPr id="21" name="Text 19"/>
          <p:cNvSpPr txBox="1"/>
          <p:nvPr/>
        </p:nvSpPr>
        <p:spPr>
          <a:xfrm>
            <a:off x="1645920" y="4581144"/>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check-out bisa memakai Izin Penjemputan yang sudah disetujui jika penjemput bukan orang yang biasa.</a:t>
            </a:r>
            <a:endParaRPr lang="en-US" sz="1400" dirty="0"/>
          </a:p>
        </p:txBody>
      </p:sp>
      <p:sp>
        <p:nvSpPr>
          <p:cNvPr id="22" name="Baris PBI-16f"/>
          <p:cNvSpPr/>
          <p:nvPr/>
        </p:nvSpPr>
        <p:spPr>
          <a:xfrm>
            <a:off x="548640" y="5276088"/>
            <a:ext cx="11064240" cy="384048"/>
          </a:xfrm>
          <a:prstGeom prst="roundRect">
            <a:avLst>
              <a:gd name="adj" fmla="val 23810"/>
            </a:avLst>
          </a:prstGeom>
          <a:solidFill>
            <a:schemeClr val="bg1"/>
          </a:solidFill>
          <a:ln w="12700">
            <a:solidFill>
              <a:schemeClr val="tx1"/>
            </a:solidFill>
            <a:prstDash val="solid"/>
          </a:ln>
        </p:spPr>
      </p:sp>
      <p:sp>
        <p:nvSpPr>
          <p:cNvPr id="23" name="Text 21"/>
          <p:cNvSpPr txBox="1"/>
          <p:nvPr/>
        </p:nvSpPr>
        <p:spPr>
          <a:xfrm>
            <a:off x="685800" y="5276088"/>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PBI-16f</a:t>
            </a:r>
            <a:endParaRPr lang="en-US" sz="1300" dirty="0"/>
          </a:p>
        </p:txBody>
      </p:sp>
      <p:sp>
        <p:nvSpPr>
          <p:cNvPr id="24" name="Text 22"/>
          <p:cNvSpPr txBox="1"/>
          <p:nvPr/>
        </p:nvSpPr>
        <p:spPr>
          <a:xfrm>
            <a:off x="1645920" y="5276088"/>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melihat rekap kehadiran anak agar bisa memantau operasional.</a:t>
            </a:r>
            <a:endParaRPr lang="en-US" sz="1400" dirty="0"/>
          </a:p>
        </p:txBody>
      </p:sp>
      <p:sp>
        <p:nvSpPr>
          <p:cNvPr id="25" name="Baris PBI-16g"/>
          <p:cNvSpPr/>
          <p:nvPr/>
        </p:nvSpPr>
        <p:spPr>
          <a:xfrm>
            <a:off x="548640" y="5705856"/>
            <a:ext cx="11064240" cy="384048"/>
          </a:xfrm>
          <a:prstGeom prst="roundRect">
            <a:avLst>
              <a:gd name="adj" fmla="val 23810"/>
            </a:avLst>
          </a:prstGeom>
          <a:solidFill>
            <a:schemeClr val="bg1"/>
          </a:solidFill>
          <a:ln w="12700">
            <a:solidFill>
              <a:schemeClr val="tx1"/>
            </a:solidFill>
            <a:prstDash val="solid"/>
          </a:ln>
        </p:spPr>
      </p:sp>
      <p:sp>
        <p:nvSpPr>
          <p:cNvPr id="26" name="Text 24"/>
          <p:cNvSpPr txBox="1"/>
          <p:nvPr/>
        </p:nvSpPr>
        <p:spPr>
          <a:xfrm>
            <a:off x="685800" y="5705856"/>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PBI-16g</a:t>
            </a:r>
            <a:endParaRPr lang="en-US" sz="1300" dirty="0"/>
          </a:p>
        </p:txBody>
      </p:sp>
      <p:sp>
        <p:nvSpPr>
          <p:cNvPr id="27" name="Text 25"/>
          <p:cNvSpPr txBox="1"/>
          <p:nvPr/>
        </p:nvSpPr>
        <p:spPr>
          <a:xfrm>
            <a:off x="1645920" y="5705856"/>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menghapus data kehadiran yang salah input.</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Stephan (1/4)</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1"/>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Stephan Yofandhika Prasetyo  |  102022680024</a:t>
            </a:r>
            <a:endParaRPr lang="en-US" sz="1300" dirty="0"/>
          </a:p>
        </p:txBody>
      </p:sp>
      <p:sp>
        <p:nvSpPr>
          <p:cNvPr id="5" name="Header PBI-17"/>
          <p:cNvSpPr/>
          <p:nvPr/>
        </p:nvSpPr>
        <p:spPr>
          <a:xfrm>
            <a:off x="548640" y="1371600"/>
            <a:ext cx="11064240" cy="384048"/>
          </a:xfrm>
          <a:prstGeom prst="roundRect">
            <a:avLst>
              <a:gd name="adj" fmla="val 23810"/>
            </a:avLst>
          </a:prstGeom>
          <a:solidFill>
            <a:schemeClr val="accent1"/>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PBI-17  Izin Penjemputan Khusus   |   Sprint 2   |   5 sub-PBI</a:t>
            </a:r>
            <a:endParaRPr lang="en-US" sz="1400" dirty="0"/>
          </a:p>
        </p:txBody>
      </p:sp>
      <p:sp>
        <p:nvSpPr>
          <p:cNvPr id="7" name="Baris PBI-17a"/>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PBI-17a</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mengajukan izin penjemputan (nama penjemput, foto KTP, alasan) jika anak dijemput orang di luar daftar.</a:t>
            </a:r>
            <a:endParaRPr lang="en-US" sz="1400" dirty="0"/>
          </a:p>
        </p:txBody>
      </p:sp>
      <p:sp>
        <p:nvSpPr>
          <p:cNvPr id="10" name="Baris PBI-17b"/>
          <p:cNvSpPr/>
          <p:nvPr/>
        </p:nvSpPr>
        <p:spPr>
          <a:xfrm>
            <a:off x="548640" y="2496312"/>
            <a:ext cx="11064240" cy="384048"/>
          </a:xfrm>
          <a:prstGeom prst="roundRect">
            <a:avLst>
              <a:gd name="adj" fmla="val 23810"/>
            </a:avLst>
          </a:prstGeom>
          <a:solidFill>
            <a:schemeClr val="bg1"/>
          </a:solidFill>
          <a:ln w="12700">
            <a:solidFill>
              <a:schemeClr val="tx1"/>
            </a:solidFill>
            <a:prstDash val="solid"/>
          </a:ln>
        </p:spPr>
      </p:sp>
      <p:sp>
        <p:nvSpPr>
          <p:cNvPr id="11" name="Text 9"/>
          <p:cNvSpPr txBox="1"/>
          <p:nvPr/>
        </p:nvSpPr>
        <p:spPr>
          <a:xfrm>
            <a:off x="685800" y="2496312"/>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PBI-17b</a:t>
            </a:r>
            <a:endParaRPr lang="en-US" sz="1300" dirty="0"/>
          </a:p>
        </p:txBody>
      </p:sp>
      <p:sp>
        <p:nvSpPr>
          <p:cNvPr id="12" name="Text 10"/>
          <p:cNvSpPr txBox="1"/>
          <p:nvPr/>
        </p:nvSpPr>
        <p:spPr>
          <a:xfrm>
            <a:off x="1645920" y="2496312"/>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melihat status izin yang saya ajukan.</a:t>
            </a:r>
            <a:endParaRPr lang="en-US" sz="1400" dirty="0"/>
          </a:p>
        </p:txBody>
      </p:sp>
      <p:sp>
        <p:nvSpPr>
          <p:cNvPr id="13" name="Baris PBI-17c"/>
          <p:cNvSpPr/>
          <p:nvPr/>
        </p:nvSpPr>
        <p:spPr>
          <a:xfrm>
            <a:off x="548640" y="2926080"/>
            <a:ext cx="11064240" cy="384048"/>
          </a:xfrm>
          <a:prstGeom prst="roundRect">
            <a:avLst>
              <a:gd name="adj" fmla="val 23810"/>
            </a:avLst>
          </a:prstGeom>
          <a:solidFill>
            <a:schemeClr val="bg1"/>
          </a:solidFill>
          <a:ln w="12700">
            <a:solidFill>
              <a:schemeClr val="tx1"/>
            </a:solidFill>
            <a:prstDash val="solid"/>
          </a:ln>
        </p:spPr>
      </p:sp>
      <p:sp>
        <p:nvSpPr>
          <p:cNvPr id="14" name="Text 12"/>
          <p:cNvSpPr txBox="1"/>
          <p:nvPr/>
        </p:nvSpPr>
        <p:spPr>
          <a:xfrm>
            <a:off x="685800" y="2926080"/>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PBI-17c</a:t>
            </a:r>
            <a:endParaRPr lang="en-US" sz="1300" dirty="0"/>
          </a:p>
        </p:txBody>
      </p:sp>
      <p:sp>
        <p:nvSpPr>
          <p:cNvPr id="15" name="Text 13"/>
          <p:cNvSpPr txBox="1"/>
          <p:nvPr/>
        </p:nvSpPr>
        <p:spPr>
          <a:xfrm>
            <a:off x="1645920" y="2926080"/>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membatalkan atau menghapus izin yang tidak jadi dipakai.</a:t>
            </a:r>
            <a:endParaRPr lang="en-US" sz="1400" dirty="0"/>
          </a:p>
        </p:txBody>
      </p:sp>
      <p:sp>
        <p:nvSpPr>
          <p:cNvPr id="16" name="Baris PBI-17d"/>
          <p:cNvSpPr/>
          <p:nvPr/>
        </p:nvSpPr>
        <p:spPr>
          <a:xfrm>
            <a:off x="548640" y="3355848"/>
            <a:ext cx="11064240" cy="384048"/>
          </a:xfrm>
          <a:prstGeom prst="roundRect">
            <a:avLst>
              <a:gd name="adj" fmla="val 23810"/>
            </a:avLst>
          </a:prstGeom>
          <a:solidFill>
            <a:schemeClr val="bg1"/>
          </a:solidFill>
          <a:ln w="12700">
            <a:solidFill>
              <a:schemeClr val="tx1"/>
            </a:solidFill>
            <a:prstDash val="solid"/>
          </a:ln>
        </p:spPr>
      </p:sp>
      <p:sp>
        <p:nvSpPr>
          <p:cNvPr id="17" name="Text 15"/>
          <p:cNvSpPr txBox="1"/>
          <p:nvPr/>
        </p:nvSpPr>
        <p:spPr>
          <a:xfrm>
            <a:off x="685800" y="3355848"/>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PBI-17d</a:t>
            </a:r>
            <a:endParaRPr lang="en-US" sz="1300" dirty="0"/>
          </a:p>
        </p:txBody>
      </p:sp>
      <p:sp>
        <p:nvSpPr>
          <p:cNvPr id="18" name="Text 16"/>
          <p:cNvSpPr txBox="1"/>
          <p:nvPr/>
        </p:nvSpPr>
        <p:spPr>
          <a:xfrm>
            <a:off x="1645920" y="3355848"/>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melihat izin penjemputan yang masuk agar siap saat anak dijemput.</a:t>
            </a:r>
            <a:endParaRPr lang="en-US" sz="1400" dirty="0"/>
          </a:p>
        </p:txBody>
      </p:sp>
      <p:sp>
        <p:nvSpPr>
          <p:cNvPr id="19" name="Baris PBI-17e"/>
          <p:cNvSpPr/>
          <p:nvPr/>
        </p:nvSpPr>
        <p:spPr>
          <a:xfrm>
            <a:off x="548640" y="3785616"/>
            <a:ext cx="11064240" cy="649224"/>
          </a:xfrm>
          <a:prstGeom prst="roundRect">
            <a:avLst>
              <a:gd name="adj" fmla="val 14085"/>
            </a:avLst>
          </a:prstGeom>
          <a:solidFill>
            <a:schemeClr val="bg1"/>
          </a:solidFill>
          <a:ln w="12700">
            <a:solidFill>
              <a:schemeClr val="tx1"/>
            </a:solidFill>
            <a:prstDash val="solid"/>
          </a:ln>
        </p:spPr>
      </p:sp>
      <p:sp>
        <p:nvSpPr>
          <p:cNvPr id="20" name="Text 18"/>
          <p:cNvSpPr txBox="1"/>
          <p:nvPr/>
        </p:nvSpPr>
        <p:spPr>
          <a:xfrm>
            <a:off x="685800" y="3785616"/>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PBI-17e</a:t>
            </a:r>
            <a:endParaRPr lang="en-US" sz="1300" dirty="0"/>
          </a:p>
        </p:txBody>
      </p:sp>
      <p:sp>
        <p:nvSpPr>
          <p:cNvPr id="21" name="Text 19"/>
          <p:cNvSpPr txBox="1"/>
          <p:nvPr/>
        </p:nvSpPr>
        <p:spPr>
          <a:xfrm>
            <a:off x="1645920" y="3785616"/>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memvalidasi izin penjemputan (setuju atau tolak) saat penyerahan anak.</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Stephan (2/4)</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1"/>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Stephan Yofandhika Prasetyo  |  102022680024</a:t>
            </a:r>
            <a:endParaRPr lang="en-US" sz="1300" dirty="0"/>
          </a:p>
        </p:txBody>
      </p:sp>
      <p:sp>
        <p:nvSpPr>
          <p:cNvPr id="5" name="Header PBI-18"/>
          <p:cNvSpPr/>
          <p:nvPr/>
        </p:nvSpPr>
        <p:spPr>
          <a:xfrm>
            <a:off x="548640" y="1371600"/>
            <a:ext cx="11064240" cy="384048"/>
          </a:xfrm>
          <a:prstGeom prst="roundRect">
            <a:avLst>
              <a:gd name="adj" fmla="val 23810"/>
            </a:avLst>
          </a:prstGeom>
          <a:solidFill>
            <a:schemeClr val="accent1"/>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PBI-18  Laporan Harian, Dokumentasi, dan Insiden (lanjutan)   |   Sprint 2   |   11 sub-PBI</a:t>
            </a:r>
            <a:endParaRPr lang="en-US" sz="1400" dirty="0"/>
          </a:p>
        </p:txBody>
      </p:sp>
      <p:sp>
        <p:nvSpPr>
          <p:cNvPr id="7" name="Baris PBI-18a"/>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PBI-18a</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membuat laporan harian anak (makan, tidur, BAB/BAK, aktivitas, kondisi) agar orang tua bisa memantau.</a:t>
            </a:r>
            <a:endParaRPr lang="en-US" sz="1400" dirty="0"/>
          </a:p>
        </p:txBody>
      </p:sp>
      <p:sp>
        <p:nvSpPr>
          <p:cNvPr id="10" name="Baris PBI-18b"/>
          <p:cNvSpPr/>
          <p:nvPr/>
        </p:nvSpPr>
        <p:spPr>
          <a:xfrm>
            <a:off x="548640" y="2496312"/>
            <a:ext cx="11064240" cy="649224"/>
          </a:xfrm>
          <a:prstGeom prst="roundRect">
            <a:avLst>
              <a:gd name="adj" fmla="val 14085"/>
            </a:avLst>
          </a:prstGeom>
          <a:solidFill>
            <a:schemeClr val="bg1"/>
          </a:solidFill>
          <a:ln w="12700">
            <a:solidFill>
              <a:schemeClr val="tx1"/>
            </a:solidFill>
            <a:prstDash val="solid"/>
          </a:ln>
        </p:spPr>
      </p:sp>
      <p:sp>
        <p:nvSpPr>
          <p:cNvPr id="11" name="Text 9"/>
          <p:cNvSpPr txBox="1"/>
          <p:nvPr/>
        </p:nvSpPr>
        <p:spPr>
          <a:xfrm>
            <a:off x="685800" y="2496312"/>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PBI-18b</a:t>
            </a:r>
            <a:endParaRPr lang="en-US" sz="1300" dirty="0"/>
          </a:p>
        </p:txBody>
      </p:sp>
      <p:sp>
        <p:nvSpPr>
          <p:cNvPr id="12" name="Text 10"/>
          <p:cNvSpPr txBox="1"/>
          <p:nvPr/>
        </p:nvSpPr>
        <p:spPr>
          <a:xfrm>
            <a:off x="1645920" y="2496312"/>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melihat dan mengubah laporan harian yang sudah dibuat jika ada yang kurang.</a:t>
            </a:r>
            <a:endParaRPr lang="en-US" sz="1400" dirty="0"/>
          </a:p>
        </p:txBody>
      </p:sp>
      <p:sp>
        <p:nvSpPr>
          <p:cNvPr id="13" name="Baris PBI-18c"/>
          <p:cNvSpPr/>
          <p:nvPr/>
        </p:nvSpPr>
        <p:spPr>
          <a:xfrm>
            <a:off x="548640" y="3191256"/>
            <a:ext cx="11064240" cy="384048"/>
          </a:xfrm>
          <a:prstGeom prst="roundRect">
            <a:avLst>
              <a:gd name="adj" fmla="val 23810"/>
            </a:avLst>
          </a:prstGeom>
          <a:solidFill>
            <a:schemeClr val="bg1"/>
          </a:solidFill>
          <a:ln w="12700">
            <a:solidFill>
              <a:schemeClr val="tx1"/>
            </a:solidFill>
            <a:prstDash val="solid"/>
          </a:ln>
        </p:spPr>
      </p:sp>
      <p:sp>
        <p:nvSpPr>
          <p:cNvPr id="14" name="Text 12"/>
          <p:cNvSpPr txBox="1"/>
          <p:nvPr/>
        </p:nvSpPr>
        <p:spPr>
          <a:xfrm>
            <a:off x="685800" y="3191256"/>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PBI-18c</a:t>
            </a:r>
            <a:endParaRPr lang="en-US" sz="1300" dirty="0"/>
          </a:p>
        </p:txBody>
      </p:sp>
      <p:sp>
        <p:nvSpPr>
          <p:cNvPr id="15" name="Text 13"/>
          <p:cNvSpPr txBox="1"/>
          <p:nvPr/>
        </p:nvSpPr>
        <p:spPr>
          <a:xfrm>
            <a:off x="1645920" y="3191256"/>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menghapus laporan harian yang salah.</a:t>
            </a:r>
            <a:endParaRPr lang="en-US" sz="1400" dirty="0"/>
          </a:p>
        </p:txBody>
      </p:sp>
      <p:sp>
        <p:nvSpPr>
          <p:cNvPr id="16" name="Baris PBI-18d"/>
          <p:cNvSpPr/>
          <p:nvPr/>
        </p:nvSpPr>
        <p:spPr>
          <a:xfrm>
            <a:off x="548640" y="3621024"/>
            <a:ext cx="11064240" cy="649224"/>
          </a:xfrm>
          <a:prstGeom prst="roundRect">
            <a:avLst>
              <a:gd name="adj" fmla="val 14085"/>
            </a:avLst>
          </a:prstGeom>
          <a:solidFill>
            <a:schemeClr val="bg1"/>
          </a:solidFill>
          <a:ln w="12700">
            <a:solidFill>
              <a:schemeClr val="tx1"/>
            </a:solidFill>
            <a:prstDash val="solid"/>
          </a:ln>
        </p:spPr>
      </p:sp>
      <p:sp>
        <p:nvSpPr>
          <p:cNvPr id="17" name="Text 15"/>
          <p:cNvSpPr txBox="1"/>
          <p:nvPr/>
        </p:nvSpPr>
        <p:spPr>
          <a:xfrm>
            <a:off x="685800" y="3621024"/>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PBI-18d</a:t>
            </a:r>
            <a:endParaRPr lang="en-US" sz="1300" dirty="0"/>
          </a:p>
        </p:txBody>
      </p:sp>
      <p:sp>
        <p:nvSpPr>
          <p:cNvPr id="18" name="Text 16"/>
          <p:cNvSpPr txBox="1"/>
          <p:nvPr/>
        </p:nvSpPr>
        <p:spPr>
          <a:xfrm>
            <a:off x="1645920" y="3621024"/>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membaca laporan harian anak saya di hari yang sama agar tidak perlu menunggu jam jemput.</a:t>
            </a:r>
            <a:endParaRPr lang="en-US" sz="1400" dirty="0"/>
          </a:p>
        </p:txBody>
      </p:sp>
      <p:sp>
        <p:nvSpPr>
          <p:cNvPr id="19" name="Baris PBI-18e"/>
          <p:cNvSpPr/>
          <p:nvPr/>
        </p:nvSpPr>
        <p:spPr>
          <a:xfrm>
            <a:off x="548640" y="4315968"/>
            <a:ext cx="11064240" cy="649224"/>
          </a:xfrm>
          <a:prstGeom prst="roundRect">
            <a:avLst>
              <a:gd name="adj" fmla="val 14085"/>
            </a:avLst>
          </a:prstGeom>
          <a:solidFill>
            <a:schemeClr val="bg1"/>
          </a:solidFill>
          <a:ln w="12700">
            <a:solidFill>
              <a:schemeClr val="tx1"/>
            </a:solidFill>
            <a:prstDash val="solid"/>
          </a:ln>
        </p:spPr>
      </p:sp>
      <p:sp>
        <p:nvSpPr>
          <p:cNvPr id="20" name="Text 18"/>
          <p:cNvSpPr txBox="1"/>
          <p:nvPr/>
        </p:nvSpPr>
        <p:spPr>
          <a:xfrm>
            <a:off x="685800" y="43159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PBI-18e</a:t>
            </a:r>
            <a:endParaRPr lang="en-US" sz="1300" dirty="0"/>
          </a:p>
        </p:txBody>
      </p:sp>
      <p:sp>
        <p:nvSpPr>
          <p:cNvPr id="21" name="Text 19"/>
          <p:cNvSpPr txBox="1"/>
          <p:nvPr/>
        </p:nvSpPr>
        <p:spPr>
          <a:xfrm>
            <a:off x="1645920" y="43159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mengunggah foto kegiatan pada laporan harian agar orang tua melihat bukti visual.</a:t>
            </a:r>
            <a:endParaRPr lang="en-US" sz="1400" dirty="0"/>
          </a:p>
        </p:txBody>
      </p:sp>
      <p:sp>
        <p:nvSpPr>
          <p:cNvPr id="22" name="Baris PBI-18f"/>
          <p:cNvSpPr/>
          <p:nvPr/>
        </p:nvSpPr>
        <p:spPr>
          <a:xfrm>
            <a:off x="548640" y="5010912"/>
            <a:ext cx="11064240" cy="384048"/>
          </a:xfrm>
          <a:prstGeom prst="roundRect">
            <a:avLst>
              <a:gd name="adj" fmla="val 23810"/>
            </a:avLst>
          </a:prstGeom>
          <a:solidFill>
            <a:schemeClr val="bg1"/>
          </a:solidFill>
          <a:ln w="12700">
            <a:solidFill>
              <a:schemeClr val="tx1"/>
            </a:solidFill>
            <a:prstDash val="solid"/>
          </a:ln>
        </p:spPr>
      </p:sp>
      <p:sp>
        <p:nvSpPr>
          <p:cNvPr id="23" name="Text 21"/>
          <p:cNvSpPr txBox="1"/>
          <p:nvPr/>
        </p:nvSpPr>
        <p:spPr>
          <a:xfrm>
            <a:off x="685800" y="5010912"/>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PBI-18f</a:t>
            </a:r>
            <a:endParaRPr lang="en-US" sz="1300" dirty="0"/>
          </a:p>
        </p:txBody>
      </p:sp>
      <p:sp>
        <p:nvSpPr>
          <p:cNvPr id="24" name="Text 22"/>
          <p:cNvSpPr txBox="1"/>
          <p:nvPr/>
        </p:nvSpPr>
        <p:spPr>
          <a:xfrm>
            <a:off x="1645920" y="5010912"/>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mengubah atau menghapus foto yang salah unggah.</a:t>
            </a:r>
            <a:endParaRPr lang="en-US" sz="1400" dirty="0"/>
          </a:p>
        </p:txBody>
      </p:sp>
      <p:sp>
        <p:nvSpPr>
          <p:cNvPr id="25" name="Baris PBI-18g"/>
          <p:cNvSpPr/>
          <p:nvPr/>
        </p:nvSpPr>
        <p:spPr>
          <a:xfrm>
            <a:off x="548640" y="5440680"/>
            <a:ext cx="11064240" cy="384048"/>
          </a:xfrm>
          <a:prstGeom prst="roundRect">
            <a:avLst>
              <a:gd name="adj" fmla="val 23810"/>
            </a:avLst>
          </a:prstGeom>
          <a:solidFill>
            <a:schemeClr val="bg1"/>
          </a:solidFill>
          <a:ln w="12700">
            <a:solidFill>
              <a:schemeClr val="tx1"/>
            </a:solidFill>
            <a:prstDash val="solid"/>
          </a:ln>
        </p:spPr>
      </p:sp>
      <p:sp>
        <p:nvSpPr>
          <p:cNvPr id="26" name="Text 24"/>
          <p:cNvSpPr txBox="1"/>
          <p:nvPr/>
        </p:nvSpPr>
        <p:spPr>
          <a:xfrm>
            <a:off x="685800" y="5440680"/>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PBI-18g</a:t>
            </a:r>
            <a:endParaRPr lang="en-US" sz="1300" dirty="0"/>
          </a:p>
        </p:txBody>
      </p:sp>
      <p:sp>
        <p:nvSpPr>
          <p:cNvPr id="27" name="Text 25"/>
          <p:cNvSpPr txBox="1"/>
          <p:nvPr/>
        </p:nvSpPr>
        <p:spPr>
          <a:xfrm>
            <a:off x="1645920" y="5440680"/>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melihat foto kegiatan anak saya.</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Stephan (3/4)</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1"/>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Stephan Yofandhika Prasetyo  |  102022680024</a:t>
            </a:r>
            <a:endParaRPr lang="en-US" sz="1300" dirty="0"/>
          </a:p>
        </p:txBody>
      </p:sp>
      <p:sp>
        <p:nvSpPr>
          <p:cNvPr id="5" name="Header PBI-18"/>
          <p:cNvSpPr/>
          <p:nvPr/>
        </p:nvSpPr>
        <p:spPr>
          <a:xfrm>
            <a:off x="548640" y="1371600"/>
            <a:ext cx="11064240" cy="384048"/>
          </a:xfrm>
          <a:prstGeom prst="roundRect">
            <a:avLst>
              <a:gd name="adj" fmla="val 23810"/>
            </a:avLst>
          </a:prstGeom>
          <a:solidFill>
            <a:schemeClr val="accent1"/>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PBI-18  Laporan Harian, Dokumentasi, dan Insiden (lanjutan)   |   Sprint 2   |   11 sub-PBI</a:t>
            </a:r>
            <a:endParaRPr lang="en-US" sz="1400" dirty="0"/>
          </a:p>
        </p:txBody>
      </p:sp>
      <p:sp>
        <p:nvSpPr>
          <p:cNvPr id="7" name="Baris PBI-18h"/>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PBI-18h</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mencatat laporan insiden (misal anak terjatuh) agar kejadian terdokumentasi.</a:t>
            </a:r>
            <a:endParaRPr lang="en-US" sz="1400" dirty="0"/>
          </a:p>
        </p:txBody>
      </p:sp>
      <p:sp>
        <p:nvSpPr>
          <p:cNvPr id="10" name="Baris PBI-18i"/>
          <p:cNvSpPr/>
          <p:nvPr/>
        </p:nvSpPr>
        <p:spPr>
          <a:xfrm>
            <a:off x="548640" y="2496312"/>
            <a:ext cx="11064240" cy="384048"/>
          </a:xfrm>
          <a:prstGeom prst="roundRect">
            <a:avLst>
              <a:gd name="adj" fmla="val 23810"/>
            </a:avLst>
          </a:prstGeom>
          <a:solidFill>
            <a:schemeClr val="bg1"/>
          </a:solidFill>
          <a:ln w="12700">
            <a:solidFill>
              <a:schemeClr val="tx1"/>
            </a:solidFill>
            <a:prstDash val="solid"/>
          </a:ln>
        </p:spPr>
      </p:sp>
      <p:sp>
        <p:nvSpPr>
          <p:cNvPr id="11" name="Text 9"/>
          <p:cNvSpPr txBox="1"/>
          <p:nvPr/>
        </p:nvSpPr>
        <p:spPr>
          <a:xfrm>
            <a:off x="685800" y="2496312"/>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PBI-18i</a:t>
            </a:r>
            <a:endParaRPr lang="en-US" sz="1300" dirty="0"/>
          </a:p>
        </p:txBody>
      </p:sp>
      <p:sp>
        <p:nvSpPr>
          <p:cNvPr id="12" name="Text 10"/>
          <p:cNvSpPr txBox="1"/>
          <p:nvPr/>
        </p:nvSpPr>
        <p:spPr>
          <a:xfrm>
            <a:off x="1645920" y="2496312"/>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mengubah laporan insiden jika ada informasi tambahan.</a:t>
            </a:r>
            <a:endParaRPr lang="en-US" sz="1400" dirty="0"/>
          </a:p>
        </p:txBody>
      </p:sp>
      <p:sp>
        <p:nvSpPr>
          <p:cNvPr id="13" name="Baris PBI-18j"/>
          <p:cNvSpPr/>
          <p:nvPr/>
        </p:nvSpPr>
        <p:spPr>
          <a:xfrm>
            <a:off x="548640" y="2926080"/>
            <a:ext cx="11064240" cy="649224"/>
          </a:xfrm>
          <a:prstGeom prst="roundRect">
            <a:avLst>
              <a:gd name="adj" fmla="val 14085"/>
            </a:avLst>
          </a:prstGeom>
          <a:solidFill>
            <a:schemeClr val="bg1"/>
          </a:solidFill>
          <a:ln w="12700">
            <a:solidFill>
              <a:schemeClr val="tx1"/>
            </a:solidFill>
            <a:prstDash val="solid"/>
          </a:ln>
        </p:spPr>
      </p:sp>
      <p:sp>
        <p:nvSpPr>
          <p:cNvPr id="14" name="Text 12"/>
          <p:cNvSpPr txBox="1"/>
          <p:nvPr/>
        </p:nvSpPr>
        <p:spPr>
          <a:xfrm>
            <a:off x="685800" y="2926080"/>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PBI-18j</a:t>
            </a:r>
            <a:endParaRPr lang="en-US" sz="1300" dirty="0"/>
          </a:p>
        </p:txBody>
      </p:sp>
      <p:sp>
        <p:nvSpPr>
          <p:cNvPr id="15" name="Text 13"/>
          <p:cNvSpPr txBox="1"/>
          <p:nvPr/>
        </p:nvSpPr>
        <p:spPr>
          <a:xfrm>
            <a:off x="1645920" y="2926080"/>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Orang Tua dan Admin, saya ingin membaca laporan insiden agar tahu kejadian yang menimpa anak.</a:t>
            </a:r>
            <a:endParaRPr lang="en-US" sz="1400" dirty="0"/>
          </a:p>
        </p:txBody>
      </p:sp>
      <p:sp>
        <p:nvSpPr>
          <p:cNvPr id="16" name="Baris PBI-18k"/>
          <p:cNvSpPr/>
          <p:nvPr/>
        </p:nvSpPr>
        <p:spPr>
          <a:xfrm>
            <a:off x="548640" y="3621024"/>
            <a:ext cx="11064240" cy="384048"/>
          </a:xfrm>
          <a:prstGeom prst="roundRect">
            <a:avLst>
              <a:gd name="adj" fmla="val 23810"/>
            </a:avLst>
          </a:prstGeom>
          <a:solidFill>
            <a:schemeClr val="bg1"/>
          </a:solidFill>
          <a:ln w="12700">
            <a:solidFill>
              <a:schemeClr val="tx1"/>
            </a:solidFill>
            <a:prstDash val="solid"/>
          </a:ln>
        </p:spPr>
      </p:sp>
      <p:sp>
        <p:nvSpPr>
          <p:cNvPr id="17" name="Text 15"/>
          <p:cNvSpPr txBox="1"/>
          <p:nvPr/>
        </p:nvSpPr>
        <p:spPr>
          <a:xfrm>
            <a:off x="685800" y="3621024"/>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PBI-18k</a:t>
            </a:r>
            <a:endParaRPr lang="en-US" sz="1300" dirty="0"/>
          </a:p>
        </p:txBody>
      </p:sp>
      <p:sp>
        <p:nvSpPr>
          <p:cNvPr id="18" name="Text 16"/>
          <p:cNvSpPr txBox="1"/>
          <p:nvPr/>
        </p:nvSpPr>
        <p:spPr>
          <a:xfrm>
            <a:off x="1645920" y="3621024"/>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menghapus laporan insiden yang duplikat atau salah.</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PIC Stephan (4/4)</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1"/>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Stephan Yofandhika Prasetyo  |  102022680024</a:t>
            </a:r>
            <a:endParaRPr lang="en-US" sz="1300" dirty="0"/>
          </a:p>
        </p:txBody>
      </p:sp>
      <p:sp>
        <p:nvSpPr>
          <p:cNvPr id="5" name="Header PBI-19"/>
          <p:cNvSpPr/>
          <p:nvPr/>
        </p:nvSpPr>
        <p:spPr>
          <a:xfrm>
            <a:off x="548640" y="1371600"/>
            <a:ext cx="11064240" cy="384048"/>
          </a:xfrm>
          <a:prstGeom prst="roundRect">
            <a:avLst>
              <a:gd name="adj" fmla="val 23810"/>
            </a:avLst>
          </a:prstGeom>
          <a:solidFill>
            <a:schemeClr val="accent1"/>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PBI-19  Perkembangan Anak (Penilaian Bulanan)   |   Sprint 2   |   5 sub-PBI</a:t>
            </a:r>
            <a:endParaRPr lang="en-US" sz="1400" dirty="0"/>
          </a:p>
        </p:txBody>
      </p:sp>
      <p:sp>
        <p:nvSpPr>
          <p:cNvPr id="7" name="Baris PBI-19a"/>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PBI-19a</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membuat penilaian perkembangan anak setiap bulan agar tumbuh kembang anak terpantau.</a:t>
            </a:r>
            <a:endParaRPr lang="en-US" sz="1400" dirty="0"/>
          </a:p>
        </p:txBody>
      </p:sp>
      <p:sp>
        <p:nvSpPr>
          <p:cNvPr id="10" name="Baris PBI-19b"/>
          <p:cNvSpPr/>
          <p:nvPr/>
        </p:nvSpPr>
        <p:spPr>
          <a:xfrm>
            <a:off x="548640" y="2496312"/>
            <a:ext cx="11064240" cy="384048"/>
          </a:xfrm>
          <a:prstGeom prst="roundRect">
            <a:avLst>
              <a:gd name="adj" fmla="val 23810"/>
            </a:avLst>
          </a:prstGeom>
          <a:solidFill>
            <a:schemeClr val="bg1"/>
          </a:solidFill>
          <a:ln w="12700">
            <a:solidFill>
              <a:schemeClr val="tx1"/>
            </a:solidFill>
            <a:prstDash val="solid"/>
          </a:ln>
        </p:spPr>
      </p:sp>
      <p:sp>
        <p:nvSpPr>
          <p:cNvPr id="11" name="Text 9"/>
          <p:cNvSpPr txBox="1"/>
          <p:nvPr/>
        </p:nvSpPr>
        <p:spPr>
          <a:xfrm>
            <a:off x="685800" y="2496312"/>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PBI-19b</a:t>
            </a:r>
            <a:endParaRPr lang="en-US" sz="1300" dirty="0"/>
          </a:p>
        </p:txBody>
      </p:sp>
      <p:sp>
        <p:nvSpPr>
          <p:cNvPr id="12" name="Text 10"/>
          <p:cNvSpPr txBox="1"/>
          <p:nvPr/>
        </p:nvSpPr>
        <p:spPr>
          <a:xfrm>
            <a:off x="1645920" y="2496312"/>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melihat dan mengubah penilaian yang sudah dibuat.</a:t>
            </a:r>
            <a:endParaRPr lang="en-US" sz="1400" dirty="0"/>
          </a:p>
        </p:txBody>
      </p:sp>
      <p:sp>
        <p:nvSpPr>
          <p:cNvPr id="13" name="Baris PBI-19c"/>
          <p:cNvSpPr/>
          <p:nvPr/>
        </p:nvSpPr>
        <p:spPr>
          <a:xfrm>
            <a:off x="548640" y="2926080"/>
            <a:ext cx="11064240" cy="384048"/>
          </a:xfrm>
          <a:prstGeom prst="roundRect">
            <a:avLst>
              <a:gd name="adj" fmla="val 23810"/>
            </a:avLst>
          </a:prstGeom>
          <a:solidFill>
            <a:schemeClr val="bg1"/>
          </a:solidFill>
          <a:ln w="12700">
            <a:solidFill>
              <a:schemeClr val="tx1"/>
            </a:solidFill>
            <a:prstDash val="solid"/>
          </a:ln>
        </p:spPr>
      </p:sp>
      <p:sp>
        <p:nvSpPr>
          <p:cNvPr id="14" name="Text 12"/>
          <p:cNvSpPr txBox="1"/>
          <p:nvPr/>
        </p:nvSpPr>
        <p:spPr>
          <a:xfrm>
            <a:off x="685800" y="2926080"/>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PBI-19c</a:t>
            </a:r>
            <a:endParaRPr lang="en-US" sz="1300" dirty="0"/>
          </a:p>
        </p:txBody>
      </p:sp>
      <p:sp>
        <p:nvSpPr>
          <p:cNvPr id="15" name="Text 13"/>
          <p:cNvSpPr txBox="1"/>
          <p:nvPr/>
        </p:nvSpPr>
        <p:spPr>
          <a:xfrm>
            <a:off x="1645920" y="2926080"/>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melihat (dan mengunduh) penilaian bulanan anak saya.</a:t>
            </a:r>
            <a:endParaRPr lang="en-US" sz="1400" dirty="0"/>
          </a:p>
        </p:txBody>
      </p:sp>
      <p:sp>
        <p:nvSpPr>
          <p:cNvPr id="16" name="Baris PBI-19d"/>
          <p:cNvSpPr/>
          <p:nvPr/>
        </p:nvSpPr>
        <p:spPr>
          <a:xfrm>
            <a:off x="548640" y="3355848"/>
            <a:ext cx="11064240" cy="649224"/>
          </a:xfrm>
          <a:prstGeom prst="roundRect">
            <a:avLst>
              <a:gd name="adj" fmla="val 14085"/>
            </a:avLst>
          </a:prstGeom>
          <a:solidFill>
            <a:schemeClr val="bg1"/>
          </a:solidFill>
          <a:ln w="12700">
            <a:solidFill>
              <a:schemeClr val="tx1"/>
            </a:solidFill>
            <a:prstDash val="solid"/>
          </a:ln>
        </p:spPr>
      </p:sp>
      <p:sp>
        <p:nvSpPr>
          <p:cNvPr id="17" name="Text 15"/>
          <p:cNvSpPr txBox="1"/>
          <p:nvPr/>
        </p:nvSpPr>
        <p:spPr>
          <a:xfrm>
            <a:off x="685800" y="335584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PBI-19d</a:t>
            </a:r>
            <a:endParaRPr lang="en-US" sz="1300" dirty="0"/>
          </a:p>
        </p:txBody>
      </p:sp>
      <p:sp>
        <p:nvSpPr>
          <p:cNvPr id="18" name="Text 16"/>
          <p:cNvSpPr txBox="1"/>
          <p:nvPr/>
        </p:nvSpPr>
        <p:spPr>
          <a:xfrm>
            <a:off x="1645920" y="335584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melihat seluruh penilaian perkembangan agar bisa mengawasi kualitas pelaporan.</a:t>
            </a:r>
            <a:endParaRPr lang="en-US" sz="1400" dirty="0"/>
          </a:p>
        </p:txBody>
      </p:sp>
      <p:sp>
        <p:nvSpPr>
          <p:cNvPr id="19" name="Baris PBI-19e"/>
          <p:cNvSpPr/>
          <p:nvPr/>
        </p:nvSpPr>
        <p:spPr>
          <a:xfrm>
            <a:off x="548640" y="4050792"/>
            <a:ext cx="11064240" cy="384048"/>
          </a:xfrm>
          <a:prstGeom prst="roundRect">
            <a:avLst>
              <a:gd name="adj" fmla="val 23810"/>
            </a:avLst>
          </a:prstGeom>
          <a:solidFill>
            <a:schemeClr val="bg1"/>
          </a:solidFill>
          <a:ln w="12700">
            <a:solidFill>
              <a:schemeClr val="tx1"/>
            </a:solidFill>
            <a:prstDash val="solid"/>
          </a:ln>
        </p:spPr>
      </p:sp>
      <p:sp>
        <p:nvSpPr>
          <p:cNvPr id="20" name="Text 18"/>
          <p:cNvSpPr txBox="1"/>
          <p:nvPr/>
        </p:nvSpPr>
        <p:spPr>
          <a:xfrm>
            <a:off x="685800" y="4050792"/>
            <a:ext cx="914400" cy="384048"/>
          </a:xfrm>
          <a:prstGeom prst="rect">
            <a:avLst/>
          </a:prstGeom>
          <a:noFill/>
          <a:ln/>
        </p:spPr>
        <p:txBody>
          <a:bodyPr wrap="square" lIns="0" tIns="0" rIns="0" bIns="0" rtlCol="0" anchor="ctr"/>
          <a:lstStyle/>
          <a:p>
            <a:pPr indent="0" marL="0">
              <a:buNone/>
            </a:pPr>
            <a:r>
              <a:rPr lang="en-US" sz="1300" b="1" dirty="0">
                <a:solidFill>
                  <a:schemeClr val="tx1"/>
                </a:solidFill>
              </a:rPr>
              <a:t>PBI-19e</a:t>
            </a:r>
            <a:endParaRPr lang="en-US" sz="1300" dirty="0"/>
          </a:p>
        </p:txBody>
      </p:sp>
      <p:sp>
        <p:nvSpPr>
          <p:cNvPr id="21" name="Text 19"/>
          <p:cNvSpPr txBox="1"/>
          <p:nvPr/>
        </p:nvSpPr>
        <p:spPr>
          <a:xfrm>
            <a:off x="1645920" y="4050792"/>
            <a:ext cx="9784080" cy="384048"/>
          </a:xfrm>
          <a:prstGeom prst="rect">
            <a:avLst/>
          </a:prstGeom>
          <a:noFill/>
          <a:ln/>
        </p:spPr>
        <p:txBody>
          <a:bodyPr wrap="square" lIns="0" tIns="0" rIns="0" bIns="0" rtlCol="0" anchor="ctr"/>
          <a:lstStyle/>
          <a:p>
            <a:pPr indent="0" marL="0">
              <a:buNone/>
            </a:pPr>
            <a:r>
              <a:rPr lang="en-US" sz="1400" dirty="0">
                <a:solidFill>
                  <a:schemeClr val="tx1"/>
                </a:solidFill>
              </a:rPr>
              <a:t>Sebagai Admin, saya ingin menghapus penilaian yang tidak valid.</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PBI-20 Dashboard</a:t>
            </a:r>
            <a:endParaRPr lang="en-US" sz="3600" dirty="0"/>
          </a:p>
        </p:txBody>
      </p:sp>
      <p:sp>
        <p:nvSpPr>
          <p:cNvPr id="3" name="Chip PIC"/>
          <p:cNvSpPr/>
          <p:nvPr/>
        </p:nvSpPr>
        <p:spPr>
          <a:xfrm>
            <a:off x="5943600" y="411480"/>
            <a:ext cx="5669280" cy="640080"/>
          </a:xfrm>
          <a:prstGeom prst="roundRect">
            <a:avLst>
              <a:gd name="adj" fmla="val 20000"/>
            </a:avLst>
          </a:prstGeom>
          <a:solidFill>
            <a:schemeClr val="accent2"/>
          </a:solidFill>
          <a:ln w="19050">
            <a:solidFill>
              <a:schemeClr val="tx1"/>
            </a:solidFill>
            <a:prstDash val="solid"/>
          </a:ln>
        </p:spPr>
      </p:sp>
      <p:sp>
        <p:nvSpPr>
          <p:cNvPr id="4" name="Text 2"/>
          <p:cNvSpPr txBox="1"/>
          <p:nvPr/>
        </p:nvSpPr>
        <p:spPr>
          <a:xfrm>
            <a:off x="6080760" y="411480"/>
            <a:ext cx="5394960" cy="640080"/>
          </a:xfrm>
          <a:prstGeom prst="rect">
            <a:avLst/>
          </a:prstGeom>
          <a:noFill/>
          <a:ln/>
        </p:spPr>
        <p:txBody>
          <a:bodyPr wrap="square" lIns="0" tIns="0" rIns="0" bIns="0" rtlCol="0" anchor="ctr"/>
          <a:lstStyle/>
          <a:p>
            <a:pPr algn="ctr" indent="0" marL="0">
              <a:buNone/>
            </a:pPr>
            <a:r>
              <a:rPr lang="en-US" sz="1300" b="1" dirty="0">
                <a:solidFill>
                  <a:schemeClr val="tx1"/>
                </a:solidFill>
              </a:rPr>
              <a:t>Dikerjakan bersama (belum ada PIC)</a:t>
            </a:r>
            <a:endParaRPr lang="en-US" sz="1300" dirty="0"/>
          </a:p>
        </p:txBody>
      </p:sp>
      <p:sp>
        <p:nvSpPr>
          <p:cNvPr id="5" name="Header PBI-20"/>
          <p:cNvSpPr/>
          <p:nvPr/>
        </p:nvSpPr>
        <p:spPr>
          <a:xfrm>
            <a:off x="548640" y="1371600"/>
            <a:ext cx="11064240" cy="384048"/>
          </a:xfrm>
          <a:prstGeom prst="roundRect">
            <a:avLst>
              <a:gd name="adj" fmla="val 23810"/>
            </a:avLst>
          </a:prstGeom>
          <a:solidFill>
            <a:schemeClr val="accent2"/>
          </a:solidFill>
          <a:ln w="12700">
            <a:solidFill>
              <a:schemeClr val="tx1"/>
            </a:solidFill>
            <a:prstDash val="solid"/>
          </a:ln>
        </p:spPr>
      </p:sp>
      <p:sp>
        <p:nvSpPr>
          <p:cNvPr id="6" name="Text 4"/>
          <p:cNvSpPr txBox="1"/>
          <p:nvPr/>
        </p:nvSpPr>
        <p:spPr>
          <a:xfrm>
            <a:off x="731520" y="1371600"/>
            <a:ext cx="10698480" cy="384048"/>
          </a:xfrm>
          <a:prstGeom prst="rect">
            <a:avLst/>
          </a:prstGeom>
          <a:noFill/>
          <a:ln/>
        </p:spPr>
        <p:txBody>
          <a:bodyPr wrap="square" lIns="0" tIns="0" rIns="0" bIns="0" rtlCol="0" anchor="ctr"/>
          <a:lstStyle/>
          <a:p>
            <a:pPr indent="0" marL="0">
              <a:buNone/>
            </a:pPr>
            <a:r>
              <a:rPr lang="en-US" sz="1400" b="1" dirty="0">
                <a:solidFill>
                  <a:schemeClr val="tx1"/>
                </a:solidFill>
              </a:rPr>
              <a:t>PBI-20  Dashboard per Role   |   Sprint 2   |   3 sub-PBI</a:t>
            </a:r>
            <a:endParaRPr lang="en-US" sz="1400" dirty="0"/>
          </a:p>
        </p:txBody>
      </p:sp>
      <p:sp>
        <p:nvSpPr>
          <p:cNvPr id="7" name="Baris PBI-20a"/>
          <p:cNvSpPr/>
          <p:nvPr/>
        </p:nvSpPr>
        <p:spPr>
          <a:xfrm>
            <a:off x="548640" y="1801368"/>
            <a:ext cx="11064240" cy="649224"/>
          </a:xfrm>
          <a:prstGeom prst="roundRect">
            <a:avLst>
              <a:gd name="adj" fmla="val 14085"/>
            </a:avLst>
          </a:prstGeom>
          <a:solidFill>
            <a:schemeClr val="bg1"/>
          </a:solidFill>
          <a:ln w="12700">
            <a:solidFill>
              <a:schemeClr val="tx1"/>
            </a:solidFill>
            <a:prstDash val="solid"/>
          </a:ln>
        </p:spPr>
      </p:sp>
      <p:sp>
        <p:nvSpPr>
          <p:cNvPr id="8" name="Text 6"/>
          <p:cNvSpPr txBox="1"/>
          <p:nvPr/>
        </p:nvSpPr>
        <p:spPr>
          <a:xfrm>
            <a:off x="685800" y="1801368"/>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PBI-20a</a:t>
            </a:r>
            <a:endParaRPr lang="en-US" sz="1300" dirty="0"/>
          </a:p>
        </p:txBody>
      </p:sp>
      <p:sp>
        <p:nvSpPr>
          <p:cNvPr id="9" name="Text 7"/>
          <p:cNvSpPr txBox="1"/>
          <p:nvPr/>
        </p:nvSpPr>
        <p:spPr>
          <a:xfrm>
            <a:off x="1645920" y="1801368"/>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Admin, saya ingin dashboard berisi jumlah anak aktif, pendaftaran menunggu verifikasi, status tagihan, dan rekap kehadiran agar bisa mengambil tindakan cepat.</a:t>
            </a:r>
            <a:endParaRPr lang="en-US" sz="1400" dirty="0"/>
          </a:p>
        </p:txBody>
      </p:sp>
      <p:sp>
        <p:nvSpPr>
          <p:cNvPr id="10" name="Baris PBI-20b"/>
          <p:cNvSpPr/>
          <p:nvPr/>
        </p:nvSpPr>
        <p:spPr>
          <a:xfrm>
            <a:off x="548640" y="2496312"/>
            <a:ext cx="11064240" cy="649224"/>
          </a:xfrm>
          <a:prstGeom prst="roundRect">
            <a:avLst>
              <a:gd name="adj" fmla="val 14085"/>
            </a:avLst>
          </a:prstGeom>
          <a:solidFill>
            <a:schemeClr val="bg1"/>
          </a:solidFill>
          <a:ln w="12700">
            <a:solidFill>
              <a:schemeClr val="tx1"/>
            </a:solidFill>
            <a:prstDash val="solid"/>
          </a:ln>
        </p:spPr>
      </p:sp>
      <p:sp>
        <p:nvSpPr>
          <p:cNvPr id="11" name="Text 9"/>
          <p:cNvSpPr txBox="1"/>
          <p:nvPr/>
        </p:nvSpPr>
        <p:spPr>
          <a:xfrm>
            <a:off x="685800" y="2496312"/>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PBI-20b</a:t>
            </a:r>
            <a:endParaRPr lang="en-US" sz="1300" dirty="0"/>
          </a:p>
        </p:txBody>
      </p:sp>
      <p:sp>
        <p:nvSpPr>
          <p:cNvPr id="12" name="Text 10"/>
          <p:cNvSpPr txBox="1"/>
          <p:nvPr/>
        </p:nvSpPr>
        <p:spPr>
          <a:xfrm>
            <a:off x="1645920" y="2496312"/>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Pengasuh, saya ingin dashboard berisi jadwal shift, daftar anak, status masuk dan keluar, serta pengumuman agar tahu tugas hari ini.</a:t>
            </a:r>
            <a:endParaRPr lang="en-US" sz="1400" dirty="0"/>
          </a:p>
        </p:txBody>
      </p:sp>
      <p:sp>
        <p:nvSpPr>
          <p:cNvPr id="13" name="Baris PBI-20c"/>
          <p:cNvSpPr/>
          <p:nvPr/>
        </p:nvSpPr>
        <p:spPr>
          <a:xfrm>
            <a:off x="548640" y="3191256"/>
            <a:ext cx="11064240" cy="649224"/>
          </a:xfrm>
          <a:prstGeom prst="roundRect">
            <a:avLst>
              <a:gd name="adj" fmla="val 14085"/>
            </a:avLst>
          </a:prstGeom>
          <a:solidFill>
            <a:schemeClr val="bg1"/>
          </a:solidFill>
          <a:ln w="12700">
            <a:solidFill>
              <a:schemeClr val="tx1"/>
            </a:solidFill>
            <a:prstDash val="solid"/>
          </a:ln>
        </p:spPr>
      </p:sp>
      <p:sp>
        <p:nvSpPr>
          <p:cNvPr id="14" name="Text 12"/>
          <p:cNvSpPr txBox="1"/>
          <p:nvPr/>
        </p:nvSpPr>
        <p:spPr>
          <a:xfrm>
            <a:off x="685800" y="3191256"/>
            <a:ext cx="914400" cy="649224"/>
          </a:xfrm>
          <a:prstGeom prst="rect">
            <a:avLst/>
          </a:prstGeom>
          <a:noFill/>
          <a:ln/>
        </p:spPr>
        <p:txBody>
          <a:bodyPr wrap="square" lIns="0" tIns="0" rIns="0" bIns="0" rtlCol="0" anchor="ctr"/>
          <a:lstStyle/>
          <a:p>
            <a:pPr indent="0" marL="0">
              <a:buNone/>
            </a:pPr>
            <a:r>
              <a:rPr lang="en-US" sz="1300" b="1" dirty="0">
                <a:solidFill>
                  <a:schemeClr val="tx1"/>
                </a:solidFill>
              </a:rPr>
              <a:t>PBI-20c</a:t>
            </a:r>
            <a:endParaRPr lang="en-US" sz="1300" dirty="0"/>
          </a:p>
        </p:txBody>
      </p:sp>
      <p:sp>
        <p:nvSpPr>
          <p:cNvPr id="15" name="Text 13"/>
          <p:cNvSpPr txBox="1"/>
          <p:nvPr/>
        </p:nvSpPr>
        <p:spPr>
          <a:xfrm>
            <a:off x="1645920" y="3191256"/>
            <a:ext cx="9784080" cy="649224"/>
          </a:xfrm>
          <a:prstGeom prst="rect">
            <a:avLst/>
          </a:prstGeom>
          <a:noFill/>
          <a:ln/>
        </p:spPr>
        <p:txBody>
          <a:bodyPr wrap="square" lIns="0" tIns="0" rIns="0" bIns="0" rtlCol="0" anchor="ctr"/>
          <a:lstStyle/>
          <a:p>
            <a:pPr indent="0" marL="0">
              <a:buNone/>
            </a:pPr>
            <a:r>
              <a:rPr lang="en-US" sz="1400" dirty="0">
                <a:solidFill>
                  <a:schemeClr val="tx1"/>
                </a:solidFill>
              </a:rPr>
              <a:t>Sebagai Orang Tua, saya ingin dashboard berisi status pendaftaran dan tagihan, laporan terbaru, foto terbaru, dan pengumuman agar semua info anak ada di satu layar.</a:t>
            </a:r>
            <a:endParaRPr lang="en-US" sz="14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p:nvPr>
            <p:ph idx="102"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rPr>
              <a:t>Penutup</a:t>
            </a:r>
            <a:endParaRPr lang="en-US" sz="3600" dirty="0"/>
          </a:p>
        </p:txBody>
      </p:sp>
      <p:sp>
        <p:nvSpPr>
          <p:cNvPr id="3" name="Statistik Platform"/>
          <p:cNvSpPr/>
          <p:nvPr/>
        </p:nvSpPr>
        <p:spPr>
          <a:xfrm>
            <a:off x="548640" y="1371600"/>
            <a:ext cx="3611880" cy="2103120"/>
          </a:xfrm>
          <a:prstGeom prst="roundRect">
            <a:avLst>
              <a:gd name="adj" fmla="val 6087"/>
            </a:avLst>
          </a:prstGeom>
          <a:solidFill>
            <a:schemeClr val="accent1"/>
          </a:solidFill>
          <a:ln w="19050">
            <a:solidFill>
              <a:schemeClr val="tx1"/>
            </a:solidFill>
            <a:prstDash val="solid"/>
          </a:ln>
        </p:spPr>
      </p:sp>
      <p:sp>
        <p:nvSpPr>
          <p:cNvPr id="4" name="Text 2"/>
          <p:cNvSpPr txBox="1"/>
          <p:nvPr/>
        </p:nvSpPr>
        <p:spPr>
          <a:xfrm>
            <a:off x="548640" y="1463040"/>
            <a:ext cx="3611880" cy="1280160"/>
          </a:xfrm>
          <a:prstGeom prst="rect">
            <a:avLst/>
          </a:prstGeom>
          <a:noFill/>
          <a:ln/>
        </p:spPr>
        <p:txBody>
          <a:bodyPr wrap="square" lIns="0" tIns="0" rIns="0" bIns="0" rtlCol="0" anchor="ctr"/>
          <a:lstStyle/>
          <a:p>
            <a:pPr algn="ctr" indent="0" marL="0">
              <a:buNone/>
            </a:pPr>
            <a:r>
              <a:rPr lang="en-US" sz="8000" b="1" dirty="0">
                <a:solidFill>
                  <a:schemeClr val="tx1"/>
                </a:solidFill>
              </a:rPr>
              <a:t>1</a:t>
            </a:r>
            <a:endParaRPr lang="en-US" sz="8000" dirty="0"/>
          </a:p>
        </p:txBody>
      </p:sp>
      <p:sp>
        <p:nvSpPr>
          <p:cNvPr id="5" name="Text 3"/>
          <p:cNvSpPr txBox="1"/>
          <p:nvPr/>
        </p:nvSpPr>
        <p:spPr>
          <a:xfrm>
            <a:off x="548640" y="2743200"/>
            <a:ext cx="3611880" cy="548640"/>
          </a:xfrm>
          <a:prstGeom prst="rect">
            <a:avLst/>
          </a:prstGeom>
          <a:noFill/>
          <a:ln/>
        </p:spPr>
        <p:txBody>
          <a:bodyPr wrap="square" lIns="0" tIns="0" rIns="0" bIns="0" rtlCol="0" anchor="ctr"/>
          <a:lstStyle/>
          <a:p>
            <a:pPr algn="ctr" indent="0" marL="0">
              <a:buNone/>
            </a:pPr>
            <a:r>
              <a:rPr lang="en-US" sz="2400" b="1" dirty="0">
                <a:solidFill>
                  <a:schemeClr val="tx1"/>
                </a:solidFill>
              </a:rPr>
              <a:t>Platform</a:t>
            </a:r>
            <a:endParaRPr lang="en-US" sz="2400" dirty="0"/>
          </a:p>
        </p:txBody>
      </p:sp>
      <p:sp>
        <p:nvSpPr>
          <p:cNvPr id="6" name="Statistik Aktor"/>
          <p:cNvSpPr/>
          <p:nvPr/>
        </p:nvSpPr>
        <p:spPr>
          <a:xfrm>
            <a:off x="4334256" y="1371600"/>
            <a:ext cx="3611880" cy="2103120"/>
          </a:xfrm>
          <a:prstGeom prst="roundRect">
            <a:avLst>
              <a:gd name="adj" fmla="val 6087"/>
            </a:avLst>
          </a:prstGeom>
          <a:solidFill>
            <a:schemeClr val="accent2"/>
          </a:solidFill>
          <a:ln w="19050">
            <a:solidFill>
              <a:schemeClr val="tx1"/>
            </a:solidFill>
            <a:prstDash val="solid"/>
          </a:ln>
        </p:spPr>
      </p:sp>
      <p:sp>
        <p:nvSpPr>
          <p:cNvPr id="7" name="Text 5"/>
          <p:cNvSpPr txBox="1"/>
          <p:nvPr/>
        </p:nvSpPr>
        <p:spPr>
          <a:xfrm>
            <a:off x="4334256" y="1463040"/>
            <a:ext cx="3611880" cy="1280160"/>
          </a:xfrm>
          <a:prstGeom prst="rect">
            <a:avLst/>
          </a:prstGeom>
          <a:noFill/>
          <a:ln/>
        </p:spPr>
        <p:txBody>
          <a:bodyPr wrap="square" lIns="0" tIns="0" rIns="0" bIns="0" rtlCol="0" anchor="ctr"/>
          <a:lstStyle/>
          <a:p>
            <a:pPr algn="ctr" indent="0" marL="0">
              <a:buNone/>
            </a:pPr>
            <a:r>
              <a:rPr lang="en-US" sz="8000" b="1" dirty="0">
                <a:solidFill>
                  <a:schemeClr val="tx1"/>
                </a:solidFill>
              </a:rPr>
              <a:t>3</a:t>
            </a:r>
            <a:endParaRPr lang="en-US" sz="8000" dirty="0"/>
          </a:p>
        </p:txBody>
      </p:sp>
      <p:sp>
        <p:nvSpPr>
          <p:cNvPr id="8" name="Text 6"/>
          <p:cNvSpPr txBox="1"/>
          <p:nvPr/>
        </p:nvSpPr>
        <p:spPr>
          <a:xfrm>
            <a:off x="4334256" y="2743200"/>
            <a:ext cx="3611880" cy="548640"/>
          </a:xfrm>
          <a:prstGeom prst="rect">
            <a:avLst/>
          </a:prstGeom>
          <a:noFill/>
          <a:ln/>
        </p:spPr>
        <p:txBody>
          <a:bodyPr wrap="square" lIns="0" tIns="0" rIns="0" bIns="0" rtlCol="0" anchor="ctr"/>
          <a:lstStyle/>
          <a:p>
            <a:pPr algn="ctr" indent="0" marL="0">
              <a:buNone/>
            </a:pPr>
            <a:r>
              <a:rPr lang="en-US" sz="2400" b="1" dirty="0">
                <a:solidFill>
                  <a:schemeClr val="tx1"/>
                </a:solidFill>
              </a:rPr>
              <a:t>Aktor</a:t>
            </a:r>
            <a:endParaRPr lang="en-US" sz="2400" dirty="0"/>
          </a:p>
        </p:txBody>
      </p:sp>
      <p:sp>
        <p:nvSpPr>
          <p:cNvPr id="9" name="Statistik Sprint"/>
          <p:cNvSpPr/>
          <p:nvPr/>
        </p:nvSpPr>
        <p:spPr>
          <a:xfrm>
            <a:off x="8119872" y="1371600"/>
            <a:ext cx="3611880" cy="2103120"/>
          </a:xfrm>
          <a:prstGeom prst="roundRect">
            <a:avLst>
              <a:gd name="adj" fmla="val 6087"/>
            </a:avLst>
          </a:prstGeom>
          <a:solidFill>
            <a:schemeClr val="accent3"/>
          </a:solidFill>
          <a:ln w="19050">
            <a:solidFill>
              <a:schemeClr val="tx1"/>
            </a:solidFill>
            <a:prstDash val="solid"/>
          </a:ln>
        </p:spPr>
      </p:sp>
      <p:sp>
        <p:nvSpPr>
          <p:cNvPr id="10" name="Text 8"/>
          <p:cNvSpPr txBox="1"/>
          <p:nvPr/>
        </p:nvSpPr>
        <p:spPr>
          <a:xfrm>
            <a:off x="8119872" y="1463040"/>
            <a:ext cx="3611880" cy="1280160"/>
          </a:xfrm>
          <a:prstGeom prst="rect">
            <a:avLst/>
          </a:prstGeom>
          <a:noFill/>
          <a:ln/>
        </p:spPr>
        <p:txBody>
          <a:bodyPr wrap="square" lIns="0" tIns="0" rIns="0" bIns="0" rtlCol="0" anchor="ctr"/>
          <a:lstStyle/>
          <a:p>
            <a:pPr algn="ctr" indent="0" marL="0">
              <a:buNone/>
            </a:pPr>
            <a:r>
              <a:rPr lang="en-US" sz="8000" b="1" dirty="0">
                <a:solidFill>
                  <a:schemeClr val="tx1"/>
                </a:solidFill>
              </a:rPr>
              <a:t>2</a:t>
            </a:r>
            <a:endParaRPr lang="en-US" sz="8000" dirty="0"/>
          </a:p>
        </p:txBody>
      </p:sp>
      <p:sp>
        <p:nvSpPr>
          <p:cNvPr id="11" name="Text 9"/>
          <p:cNvSpPr txBox="1"/>
          <p:nvPr/>
        </p:nvSpPr>
        <p:spPr>
          <a:xfrm>
            <a:off x="8119872" y="2743200"/>
            <a:ext cx="3611880" cy="548640"/>
          </a:xfrm>
          <a:prstGeom prst="rect">
            <a:avLst/>
          </a:prstGeom>
          <a:noFill/>
          <a:ln/>
        </p:spPr>
        <p:txBody>
          <a:bodyPr wrap="square" lIns="0" tIns="0" rIns="0" bIns="0" rtlCol="0" anchor="ctr"/>
          <a:lstStyle/>
          <a:p>
            <a:pPr algn="ctr" indent="0" marL="0">
              <a:buNone/>
            </a:pPr>
            <a:r>
              <a:rPr lang="en-US" sz="2400" b="1" dirty="0">
                <a:solidFill>
                  <a:schemeClr val="tx1"/>
                </a:solidFill>
              </a:rPr>
              <a:t>Sprint</a:t>
            </a:r>
            <a:endParaRPr lang="en-US" sz="2400" dirty="0"/>
          </a:p>
        </p:txBody>
      </p:sp>
      <p:sp>
        <p:nvSpPr>
          <p:cNvPr id="12" name="Text 10"/>
          <p:cNvSpPr txBox="1"/>
          <p:nvPr/>
        </p:nvSpPr>
        <p:spPr>
          <a:xfrm>
            <a:off x="548640" y="3840480"/>
            <a:ext cx="5486400" cy="411480"/>
          </a:xfrm>
          <a:prstGeom prst="rect">
            <a:avLst/>
          </a:prstGeom>
          <a:noFill/>
          <a:ln/>
        </p:spPr>
        <p:txBody>
          <a:bodyPr wrap="square" lIns="0" tIns="0" rIns="0" bIns="0" rtlCol="0" anchor="ctr"/>
          <a:lstStyle/>
          <a:p>
            <a:pPr indent="0" marL="0">
              <a:buNone/>
            </a:pPr>
            <a:r>
              <a:rPr lang="en-US" sz="1800" b="1" dirty="0">
                <a:solidFill>
                  <a:schemeClr val="accent1"/>
                </a:solidFill>
              </a:rPr>
              <a:t>Harapan kami</a:t>
            </a:r>
            <a:endParaRPr lang="en-US" sz="1800" dirty="0"/>
          </a:p>
        </p:txBody>
      </p:sp>
      <p:sp>
        <p:nvSpPr>
          <p:cNvPr id="13" name="Harapan 1"/>
          <p:cNvSpPr/>
          <p:nvPr/>
        </p:nvSpPr>
        <p:spPr>
          <a:xfrm>
            <a:off x="548640" y="4343400"/>
            <a:ext cx="3611880" cy="822960"/>
          </a:xfrm>
          <a:prstGeom prst="roundRect">
            <a:avLst>
              <a:gd name="adj" fmla="val 15556"/>
            </a:avLst>
          </a:prstGeom>
          <a:solidFill>
            <a:schemeClr val="bg1"/>
          </a:solidFill>
          <a:ln w="19050">
            <a:solidFill>
              <a:schemeClr val="accent1"/>
            </a:solidFill>
            <a:prstDash val="solid"/>
          </a:ln>
        </p:spPr>
      </p:sp>
      <p:pic>
        <p:nvPicPr>
          <p:cNvPr id="14" name="Image 0" descr="Ikon FcRating">    </p:cNvPr>
          <p:cNvPicPr>
            <a:picLocks noChangeAspect="1"/>
          </p:cNvPicPr>
          <p:nvPr/>
        </p:nvPicPr>
        <p:blipFill>
          <a:blip r:embed="rId1"/>
          <a:stretch>
            <a:fillRect/>
          </a:stretch>
        </p:blipFill>
        <p:spPr>
          <a:xfrm>
            <a:off x="822960" y="4572000"/>
            <a:ext cx="365760" cy="365760"/>
          </a:xfrm>
          <a:prstGeom prst="rect">
            <a:avLst/>
          </a:prstGeom>
        </p:spPr>
      </p:pic>
      <p:sp>
        <p:nvSpPr>
          <p:cNvPr id="15" name="Text 12"/>
          <p:cNvSpPr txBox="1"/>
          <p:nvPr/>
        </p:nvSpPr>
        <p:spPr>
          <a:xfrm>
            <a:off x="1371600" y="4343400"/>
            <a:ext cx="2606040" cy="822960"/>
          </a:xfrm>
          <a:prstGeom prst="rect">
            <a:avLst/>
          </a:prstGeom>
          <a:noFill/>
          <a:ln/>
        </p:spPr>
        <p:txBody>
          <a:bodyPr wrap="square" lIns="0" tIns="0" rIns="0" bIns="0" rtlCol="0" anchor="ctr"/>
          <a:lstStyle/>
          <a:p>
            <a:pPr indent="0" marL="0">
              <a:buNone/>
            </a:pPr>
            <a:r>
              <a:rPr lang="en-US" sz="1800" b="1" dirty="0">
                <a:solidFill>
                  <a:schemeClr val="tx1"/>
                </a:solidFill>
              </a:rPr>
              <a:t>Orang tua lebih tenang</a:t>
            </a:r>
            <a:endParaRPr lang="en-US" sz="1800" dirty="0"/>
          </a:p>
        </p:txBody>
      </p:sp>
      <p:sp>
        <p:nvSpPr>
          <p:cNvPr id="16" name="Harapan 2"/>
          <p:cNvSpPr/>
          <p:nvPr/>
        </p:nvSpPr>
        <p:spPr>
          <a:xfrm>
            <a:off x="4334256" y="4343400"/>
            <a:ext cx="3611880" cy="822960"/>
          </a:xfrm>
          <a:prstGeom prst="roundRect">
            <a:avLst>
              <a:gd name="adj" fmla="val 15556"/>
            </a:avLst>
          </a:prstGeom>
          <a:solidFill>
            <a:schemeClr val="bg1"/>
          </a:solidFill>
          <a:ln w="19050">
            <a:solidFill>
              <a:schemeClr val="accent1"/>
            </a:solidFill>
            <a:prstDash val="solid"/>
          </a:ln>
        </p:spPr>
      </p:sp>
      <p:pic>
        <p:nvPicPr>
          <p:cNvPr id="17" name="Image 1" descr="Ikon FcTodoList">    </p:cNvPr>
          <p:cNvPicPr>
            <a:picLocks noChangeAspect="1"/>
          </p:cNvPicPr>
          <p:nvPr/>
        </p:nvPicPr>
        <p:blipFill>
          <a:blip r:embed="rId2"/>
          <a:stretch>
            <a:fillRect/>
          </a:stretch>
        </p:blipFill>
        <p:spPr>
          <a:xfrm>
            <a:off x="4608576" y="4572000"/>
            <a:ext cx="365760" cy="365760"/>
          </a:xfrm>
          <a:prstGeom prst="rect">
            <a:avLst/>
          </a:prstGeom>
        </p:spPr>
      </p:pic>
      <p:sp>
        <p:nvSpPr>
          <p:cNvPr id="18" name="Text 14"/>
          <p:cNvSpPr txBox="1"/>
          <p:nvPr/>
        </p:nvSpPr>
        <p:spPr>
          <a:xfrm>
            <a:off x="5157216" y="4343400"/>
            <a:ext cx="2606040" cy="822960"/>
          </a:xfrm>
          <a:prstGeom prst="rect">
            <a:avLst/>
          </a:prstGeom>
          <a:noFill/>
          <a:ln/>
        </p:spPr>
        <p:txBody>
          <a:bodyPr wrap="square" lIns="0" tIns="0" rIns="0" bIns="0" rtlCol="0" anchor="ctr"/>
          <a:lstStyle/>
          <a:p>
            <a:pPr indent="0" marL="0">
              <a:buNone/>
            </a:pPr>
            <a:r>
              <a:rPr lang="en-US" sz="1800" b="1" dirty="0">
                <a:solidFill>
                  <a:schemeClr val="tx1"/>
                </a:solidFill>
              </a:rPr>
              <a:t>Daycare lebih tertata</a:t>
            </a:r>
            <a:endParaRPr lang="en-US" sz="1800" dirty="0"/>
          </a:p>
        </p:txBody>
      </p:sp>
      <p:sp>
        <p:nvSpPr>
          <p:cNvPr id="19" name="Harapan 3"/>
          <p:cNvSpPr/>
          <p:nvPr/>
        </p:nvSpPr>
        <p:spPr>
          <a:xfrm>
            <a:off x="8119872" y="4343400"/>
            <a:ext cx="3611880" cy="822960"/>
          </a:xfrm>
          <a:prstGeom prst="roundRect">
            <a:avLst>
              <a:gd name="adj" fmla="val 15556"/>
            </a:avLst>
          </a:prstGeom>
          <a:solidFill>
            <a:schemeClr val="bg1"/>
          </a:solidFill>
          <a:ln w="19050">
            <a:solidFill>
              <a:schemeClr val="accent1"/>
            </a:solidFill>
            <a:prstDash val="solid"/>
          </a:ln>
        </p:spPr>
      </p:sp>
      <p:pic>
        <p:nvPicPr>
          <p:cNvPr id="20" name="Image 2" descr="Ikon FcGlobe">    </p:cNvPr>
          <p:cNvPicPr>
            <a:picLocks noChangeAspect="1"/>
          </p:cNvPicPr>
          <p:nvPr/>
        </p:nvPicPr>
        <p:blipFill>
          <a:blip r:embed="rId3"/>
          <a:stretch>
            <a:fillRect/>
          </a:stretch>
        </p:blipFill>
        <p:spPr>
          <a:xfrm>
            <a:off x="8394192" y="4572000"/>
            <a:ext cx="365760" cy="365760"/>
          </a:xfrm>
          <a:prstGeom prst="rect">
            <a:avLst/>
          </a:prstGeom>
        </p:spPr>
      </p:pic>
      <p:sp>
        <p:nvSpPr>
          <p:cNvPr id="21" name="Text 16"/>
          <p:cNvSpPr txBox="1"/>
          <p:nvPr/>
        </p:nvSpPr>
        <p:spPr>
          <a:xfrm>
            <a:off x="8942832" y="4343400"/>
            <a:ext cx="2606040" cy="822960"/>
          </a:xfrm>
          <a:prstGeom prst="rect">
            <a:avLst/>
          </a:prstGeom>
          <a:noFill/>
          <a:ln/>
        </p:spPr>
        <p:txBody>
          <a:bodyPr wrap="square" lIns="0" tIns="0" rIns="0" bIns="0" rtlCol="0" anchor="ctr"/>
          <a:lstStyle/>
          <a:p>
            <a:pPr indent="0" marL="0">
              <a:buNone/>
            </a:pPr>
            <a:r>
              <a:rPr lang="en-US" sz="1800" b="1" dirty="0">
                <a:solidFill>
                  <a:schemeClr val="tx1"/>
                </a:solidFill>
              </a:rPr>
              <a:t>Mendukung SDG 5.4</a:t>
            </a:r>
            <a:endParaRPr lang="en-US" sz="1800" dirty="0"/>
          </a:p>
        </p:txBody>
      </p:sp>
      <p:sp>
        <p:nvSpPr>
          <p:cNvPr id="22" name="Text 17"/>
          <p:cNvSpPr txBox="1"/>
          <p:nvPr/>
        </p:nvSpPr>
        <p:spPr>
          <a:xfrm>
            <a:off x="548640" y="5440680"/>
            <a:ext cx="11064240" cy="822960"/>
          </a:xfrm>
          <a:prstGeom prst="rect">
            <a:avLst/>
          </a:prstGeom>
          <a:noFill/>
          <a:ln/>
        </p:spPr>
        <p:txBody>
          <a:bodyPr wrap="square" lIns="0" tIns="0" rIns="0" bIns="0" rtlCol="0" anchor="ctr"/>
          <a:lstStyle/>
          <a:p>
            <a:pPr indent="0" marL="0">
              <a:buNone/>
            </a:pPr>
            <a:r>
              <a:rPr lang="en-US" sz="4000" b="1" dirty="0">
                <a:solidFill>
                  <a:schemeClr val="accent1"/>
                </a:solidFill>
              </a:rPr>
              <a:t>Terima kasih</a:t>
            </a:r>
            <a:endParaRPr lang="en-US" sz="4000" dirty="0"/>
          </a:p>
        </p:txBody>
      </p:sp>
    </p:spTree>
  </p:cSld>
  <p:clrMapOvr>
    <a:masterClrMapping/>
  </p:clrMapOvr>
</p:sld>
</file>

<file path=ppt/theme/theme1.xml><?xml version="1.0" encoding="utf-8"?>
<a:theme xmlns:a="http://schemas.openxmlformats.org/drawingml/2006/main" name="TitipAnak">
  <a:themeElements>
    <a:clrScheme name="TitipAnak">
      <a:dk1>
        <a:srgbClr val="1B1B1B"/>
      </a:dk1>
      <a:lt1>
        <a:srgbClr val="FFFFFF"/>
      </a:lt1>
      <a:dk2>
        <a:srgbClr val="2B2B2B"/>
      </a:dk2>
      <a:lt2>
        <a:srgbClr val="FFF6D6"/>
      </a:lt2>
      <a:accent1>
        <a:srgbClr val="FFD43B"/>
      </a:accent1>
      <a:accent2>
        <a:srgbClr val="A8D4FF"/>
      </a:accent2>
      <a:accent3>
        <a:srgbClr val="A8E6CF"/>
      </a:accent3>
      <a:accent4>
        <a:srgbClr val="CDBDFF"/>
      </a:accent4>
      <a:accent5>
        <a:srgbClr val="FF9E80"/>
      </a:accent5>
      <a:accent6>
        <a:srgbClr val="6B6B6B"/>
      </a:accent6>
      <a:hlink>
        <a:srgbClr val="1B6FD1"/>
      </a:hlink>
      <a:folHlink>
        <a:srgbClr val="6B6B6B"/>
      </a:folHlink>
    </a:clrScheme>
    <a:fontScheme name="TitipAnak">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TitipAnak: Presentasi Global PBI</dc:title>
  <dc:subject>PptxGenJS Presentation</dc:subject>
  <dc:creator>Kelompok A SI48EXT</dc:creator>
  <cp:lastModifiedBy>Kelompok A SI48EXT</cp:lastModifiedBy>
  <cp:revision>1</cp:revision>
  <dcterms:created xsi:type="dcterms:W3CDTF">2026-10-25T04:55:00Z</dcterms:created>
  <dcterms:modified xsi:type="dcterms:W3CDTF">2026-10-25T04:55:00Z</dcterms:modified>
</cp:coreProperties>
</file>